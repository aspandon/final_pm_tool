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72" r:id="rId5"/>
  </p:sldMasterIdLst>
  <p:notesMasterIdLst>
    <p:notesMasterId r:id="rId16"/>
  </p:notesMasterIdLst>
  <p:sldIdLst>
    <p:sldId id="802" r:id="rId6"/>
    <p:sldId id="805" r:id="rId7"/>
    <p:sldId id="806" r:id="rId8"/>
    <p:sldId id="779" r:id="rId9"/>
    <p:sldId id="785" r:id="rId10"/>
    <p:sldId id="801" r:id="rId11"/>
    <p:sldId id="771" r:id="rId12"/>
    <p:sldId id="778" r:id="rId13"/>
    <p:sldId id="812" r:id="rId14"/>
    <p:sldId id="82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82E776F-B2E8-E5D4-CC7F-C17FFE8D4C18}" name="Konstantakopoulos Stavros" initials="KS" userId="S::s.konstantakopoulos@elpedison.gr::a5e528a9-a074-4cd9-bb52-7e9385d3b0f9" providerId="AD"/>
  <p188:author id="{4A5551A9-39EC-21A5-D35F-E205ED5E8C3C}" name="Papoutsi Stella" initials="SP" userId="S::s.papoutsi@elpedison.gr::425c7266-f24b-4cfd-8c16-a2c80a5ad1f4" providerId="AD"/>
  <p188:author id="{DF4697B2-71F3-2DE4-88A7-9D1D6EF84D19}" name="Spanou Anna Maria" initials="AS" userId="S::a.spanou@elpedison.gr::cf59166d-14c3-4171-89ac-cca5e83a6176" providerId="AD"/>
  <p188:author id="{F157FAF9-9D71-AF63-0664-400D8E5B4F53}" name="Koutsogiannakopoulos Giannis" initials="KG" userId="S::g.koutsogiannakopoulos@elpedison.gr::b9f86e07-719e-4b0d-8f58-e73e90085ea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EE7F00"/>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ABC530-EC7D-32A0-7383-188C6C40E36E}" v="3" dt="2025-07-08T12:43:15.173"/>
    <p1510:client id="{8CBE1B45-2403-27E3-B037-CB21040C18DD}" v="47" dt="2025-07-07T19:25:50.968"/>
    <p1510:client id="{8EF7FFDF-E63F-42E3-641D-5CB3F6493578}" v="156" dt="2025-07-08T12:55:59.144"/>
    <p1510:client id="{909BF666-520D-BEEA-0E2A-1AE5E3C1B2E6}" v="6" dt="2025-07-07T18:10:09.580"/>
    <p1510:client id="{CAE36E92-9070-7AD7-2A6A-46EF96EEAEC8}" v="25" dt="2025-07-09T07:14:41.2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1158"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31239B-725D-422D-89B4-97DE76B78170}" type="datetimeFigureOut">
              <a:rPr lang="el-GR" smtClean="0"/>
              <a:t>16/11/2025</a:t>
            </a:fld>
            <a:endParaRPr lang="el-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0284A1-A5DB-4864-91FC-97F7A35F4A63}" type="slidenum">
              <a:rPr lang="el-GR" smtClean="0"/>
              <a:t>‹#›</a:t>
            </a:fld>
            <a:endParaRPr lang="el-GR"/>
          </a:p>
        </p:txBody>
      </p:sp>
    </p:spTree>
    <p:extLst>
      <p:ext uri="{BB962C8B-B14F-4D97-AF65-F5344CB8AC3E}">
        <p14:creationId xmlns:p14="http://schemas.microsoft.com/office/powerpoint/2010/main" val="508182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0284A1-A5DB-4864-91FC-97F7A35F4A63}" type="slidenum">
              <a:rPr lang="el-GR" smtClean="0"/>
              <a:t>3</a:t>
            </a:fld>
            <a:endParaRPr lang="el-GR"/>
          </a:p>
        </p:txBody>
      </p:sp>
    </p:spTree>
    <p:extLst>
      <p:ext uri="{BB962C8B-B14F-4D97-AF65-F5344CB8AC3E}">
        <p14:creationId xmlns:p14="http://schemas.microsoft.com/office/powerpoint/2010/main" val="1392283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46EE88-16A9-45CE-BBF9-A52C3C4F30C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59446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546EE88-16A9-45CE-BBF9-A52C3C4F30CA}" type="slidenum">
              <a:rPr lang="en-US" smtClean="0"/>
              <a:t>5</a:t>
            </a:fld>
            <a:endParaRPr lang="en-US"/>
          </a:p>
        </p:txBody>
      </p:sp>
    </p:spTree>
    <p:extLst>
      <p:ext uri="{BB962C8B-B14F-4D97-AF65-F5344CB8AC3E}">
        <p14:creationId xmlns:p14="http://schemas.microsoft.com/office/powerpoint/2010/main" val="4031908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88873-0755-6AA9-D7DA-06DF64110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DCA594-2463-6C75-3357-02B7B9627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8AD8C-ECED-6191-0AAD-AC41C011264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32F649-02C1-73F1-045A-0D324CC75B16}"/>
              </a:ext>
            </a:extLst>
          </p:cNvPr>
          <p:cNvSpPr>
            <a:spLocks noGrp="1"/>
          </p:cNvSpPr>
          <p:nvPr>
            <p:ph type="sldNum" sz="quarter" idx="5"/>
          </p:nvPr>
        </p:nvSpPr>
        <p:spPr/>
        <p:txBody>
          <a:bodyPr/>
          <a:lstStyle/>
          <a:p>
            <a:fld id="{0546EE88-16A9-45CE-BBF9-A52C3C4F30CA}" type="slidenum">
              <a:rPr lang="en-US" smtClean="0"/>
              <a:t>6</a:t>
            </a:fld>
            <a:endParaRPr lang="en-US"/>
          </a:p>
        </p:txBody>
      </p:sp>
    </p:spTree>
    <p:extLst>
      <p:ext uri="{BB962C8B-B14F-4D97-AF65-F5344CB8AC3E}">
        <p14:creationId xmlns:p14="http://schemas.microsoft.com/office/powerpoint/2010/main" val="1248813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807F3F6-CB0B-AB6F-E81F-AE9FB07241C0}"/>
              </a:ext>
            </a:extLst>
          </p:cNvPr>
          <p:cNvPicPr>
            <a:picLocks noChangeAspect="1"/>
          </p:cNvPicPr>
          <p:nvPr userDrawn="1"/>
        </p:nvPicPr>
        <p:blipFill>
          <a:blip r:embed="rId2"/>
          <a:stretch>
            <a:fillRect/>
          </a:stretch>
        </p:blipFill>
        <p:spPr>
          <a:xfrm>
            <a:off x="7758271" y="2415510"/>
            <a:ext cx="3883342" cy="1651787"/>
          </a:xfrm>
          <a:prstGeom prst="rect">
            <a:avLst/>
          </a:prstGeom>
        </p:spPr>
      </p:pic>
      <p:sp>
        <p:nvSpPr>
          <p:cNvPr id="8" name="Rectangle 7">
            <a:extLst>
              <a:ext uri="{FF2B5EF4-FFF2-40B4-BE49-F238E27FC236}">
                <a16:creationId xmlns:a16="http://schemas.microsoft.com/office/drawing/2014/main" id="{3F80D894-A98B-CAC3-8D2E-C8413E1A77A3}"/>
              </a:ext>
            </a:extLst>
          </p:cNvPr>
          <p:cNvSpPr/>
          <p:nvPr userDrawn="1"/>
        </p:nvSpPr>
        <p:spPr>
          <a:xfrm>
            <a:off x="1064410" y="3429000"/>
            <a:ext cx="1301929" cy="178559"/>
          </a:xfrm>
          <a:prstGeom prst="rect">
            <a:avLst/>
          </a:prstGeom>
          <a:solidFill>
            <a:srgbClr val="75B92A"/>
          </a:solidFill>
          <a:ln>
            <a:solidFill>
              <a:srgbClr val="75B9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006F5017-3DAF-F4DA-2EFE-A8BC8EB69093}"/>
              </a:ext>
            </a:extLst>
          </p:cNvPr>
          <p:cNvSpPr>
            <a:spLocks noGrp="1"/>
          </p:cNvSpPr>
          <p:nvPr>
            <p:ph type="body" sz="quarter" idx="10" hasCustomPrompt="1"/>
          </p:nvPr>
        </p:nvSpPr>
        <p:spPr>
          <a:xfrm>
            <a:off x="1014446" y="1917176"/>
            <a:ext cx="2274887" cy="301625"/>
          </a:xfrm>
        </p:spPr>
        <p:txBody>
          <a:bodyPr>
            <a:noAutofit/>
          </a:bodyPr>
          <a:lstStyle>
            <a:lvl1pPr marL="0" indent="0">
              <a:buNone/>
              <a:defRPr sz="4800" b="1">
                <a:solidFill>
                  <a:srgbClr val="2E5684"/>
                </a:solidFill>
              </a:defRPr>
            </a:lvl1pPr>
            <a:lvl2pPr>
              <a:defRPr b="1">
                <a:solidFill>
                  <a:srgbClr val="2E5684"/>
                </a:solidFill>
              </a:defRPr>
            </a:lvl2pPr>
            <a:lvl3pPr>
              <a:defRPr b="1">
                <a:solidFill>
                  <a:srgbClr val="2E5684"/>
                </a:solidFill>
              </a:defRPr>
            </a:lvl3pPr>
            <a:lvl4pPr>
              <a:defRPr b="1">
                <a:solidFill>
                  <a:srgbClr val="2E5684"/>
                </a:solidFill>
              </a:defRPr>
            </a:lvl4pPr>
            <a:lvl5pPr>
              <a:defRPr b="1">
                <a:solidFill>
                  <a:srgbClr val="2E5684"/>
                </a:solidFill>
              </a:defRPr>
            </a:lvl5pPr>
          </a:lstStyle>
          <a:p>
            <a:pPr lvl="0"/>
            <a:r>
              <a:rPr lang="en-US"/>
              <a:t>Title</a:t>
            </a:r>
            <a:endParaRPr lang="el-GR"/>
          </a:p>
        </p:txBody>
      </p:sp>
    </p:spTree>
    <p:extLst>
      <p:ext uri="{BB962C8B-B14F-4D97-AF65-F5344CB8AC3E}">
        <p14:creationId xmlns:p14="http://schemas.microsoft.com/office/powerpoint/2010/main" val="23509640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807F3F6-CB0B-AB6F-E81F-AE9FB07241C0}"/>
              </a:ext>
            </a:extLst>
          </p:cNvPr>
          <p:cNvPicPr>
            <a:picLocks noChangeAspect="1"/>
          </p:cNvPicPr>
          <p:nvPr userDrawn="1"/>
        </p:nvPicPr>
        <p:blipFill>
          <a:blip r:embed="rId2"/>
          <a:stretch>
            <a:fillRect/>
          </a:stretch>
        </p:blipFill>
        <p:spPr>
          <a:xfrm>
            <a:off x="7758271" y="2415510"/>
            <a:ext cx="3883342" cy="1651787"/>
          </a:xfrm>
          <a:prstGeom prst="rect">
            <a:avLst/>
          </a:prstGeom>
        </p:spPr>
      </p:pic>
      <p:sp>
        <p:nvSpPr>
          <p:cNvPr id="8" name="Rectangle 7">
            <a:extLst>
              <a:ext uri="{FF2B5EF4-FFF2-40B4-BE49-F238E27FC236}">
                <a16:creationId xmlns:a16="http://schemas.microsoft.com/office/drawing/2014/main" id="{3F80D894-A98B-CAC3-8D2E-C8413E1A77A3}"/>
              </a:ext>
            </a:extLst>
          </p:cNvPr>
          <p:cNvSpPr/>
          <p:nvPr userDrawn="1"/>
        </p:nvSpPr>
        <p:spPr>
          <a:xfrm>
            <a:off x="1064410" y="3429000"/>
            <a:ext cx="1301929" cy="178559"/>
          </a:xfrm>
          <a:prstGeom prst="rect">
            <a:avLst/>
          </a:prstGeom>
          <a:solidFill>
            <a:srgbClr val="75B92A"/>
          </a:solidFill>
          <a:ln>
            <a:solidFill>
              <a:srgbClr val="75B9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006F5017-3DAF-F4DA-2EFE-A8BC8EB69093}"/>
              </a:ext>
            </a:extLst>
          </p:cNvPr>
          <p:cNvSpPr>
            <a:spLocks noGrp="1"/>
          </p:cNvSpPr>
          <p:nvPr>
            <p:ph type="body" sz="quarter" idx="10" hasCustomPrompt="1"/>
          </p:nvPr>
        </p:nvSpPr>
        <p:spPr>
          <a:xfrm>
            <a:off x="1014446" y="1917176"/>
            <a:ext cx="2274887" cy="301625"/>
          </a:xfrm>
        </p:spPr>
        <p:txBody>
          <a:bodyPr>
            <a:noAutofit/>
          </a:bodyPr>
          <a:lstStyle>
            <a:lvl1pPr marL="0" indent="0">
              <a:buNone/>
              <a:defRPr sz="4800" b="1">
                <a:solidFill>
                  <a:srgbClr val="2E5684"/>
                </a:solidFill>
              </a:defRPr>
            </a:lvl1pPr>
            <a:lvl2pPr>
              <a:defRPr b="1">
                <a:solidFill>
                  <a:srgbClr val="2E5684"/>
                </a:solidFill>
              </a:defRPr>
            </a:lvl2pPr>
            <a:lvl3pPr>
              <a:defRPr b="1">
                <a:solidFill>
                  <a:srgbClr val="2E5684"/>
                </a:solidFill>
              </a:defRPr>
            </a:lvl3pPr>
            <a:lvl4pPr>
              <a:defRPr b="1">
                <a:solidFill>
                  <a:srgbClr val="2E5684"/>
                </a:solidFill>
              </a:defRPr>
            </a:lvl4pPr>
            <a:lvl5pPr>
              <a:defRPr b="1">
                <a:solidFill>
                  <a:srgbClr val="2E5684"/>
                </a:solidFill>
              </a:defRPr>
            </a:lvl5pPr>
          </a:lstStyle>
          <a:p>
            <a:pPr lvl="0"/>
            <a:r>
              <a:rPr lang="en-US"/>
              <a:t>Title</a:t>
            </a:r>
            <a:endParaRPr lang="el-GR"/>
          </a:p>
        </p:txBody>
      </p:sp>
    </p:spTree>
    <p:extLst>
      <p:ext uri="{BB962C8B-B14F-4D97-AF65-F5344CB8AC3E}">
        <p14:creationId xmlns:p14="http://schemas.microsoft.com/office/powerpoint/2010/main" val="75311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B05C34-BF7B-F31D-36C1-A07526A756C6}"/>
              </a:ext>
            </a:extLst>
          </p:cNvPr>
          <p:cNvSpPr/>
          <p:nvPr userDrawn="1"/>
        </p:nvSpPr>
        <p:spPr>
          <a:xfrm>
            <a:off x="6350" y="1051978"/>
            <a:ext cx="12185650" cy="5806022"/>
          </a:xfrm>
          <a:prstGeom prst="rect">
            <a:avLst/>
          </a:prstGeom>
          <a:solidFill>
            <a:srgbClr val="F1F6FA"/>
          </a:solidFill>
          <a:ln>
            <a:solidFill>
              <a:srgbClr val="F1F6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38" name="Text Placeholder 37">
            <a:extLst>
              <a:ext uri="{FF2B5EF4-FFF2-40B4-BE49-F238E27FC236}">
                <a16:creationId xmlns:a16="http://schemas.microsoft.com/office/drawing/2014/main" id="{5D3C16D6-3903-1684-68A7-EC900FDA8DA7}"/>
              </a:ext>
            </a:extLst>
          </p:cNvPr>
          <p:cNvSpPr>
            <a:spLocks noGrp="1"/>
          </p:cNvSpPr>
          <p:nvPr>
            <p:ph type="body" sz="quarter" idx="19" hasCustomPrompt="1"/>
          </p:nvPr>
        </p:nvSpPr>
        <p:spPr>
          <a:xfrm>
            <a:off x="970923" y="1534779"/>
            <a:ext cx="1747617" cy="1569763"/>
          </a:xfrm>
        </p:spPr>
        <p:txBody>
          <a:bodyPr/>
          <a:lstStyle>
            <a:lvl1pPr marL="0" indent="0">
              <a:buNone/>
              <a:defRPr sz="8800">
                <a:solidFill>
                  <a:srgbClr val="2E5684"/>
                </a:solidFill>
                <a:latin typeface="Calibri Light (Body)"/>
              </a:defRPr>
            </a:lvl1pPr>
          </a:lstStyle>
          <a:p>
            <a:pPr lvl="0"/>
            <a:r>
              <a:rPr lang="en-US"/>
              <a:t>01</a:t>
            </a:r>
            <a:endParaRPr lang="el-GR"/>
          </a:p>
          <a:p>
            <a:pPr lvl="0"/>
            <a:endParaRPr lang="el-GR"/>
          </a:p>
        </p:txBody>
      </p:sp>
      <p:sp>
        <p:nvSpPr>
          <p:cNvPr id="34" name="Text Placeholder 33">
            <a:extLst>
              <a:ext uri="{FF2B5EF4-FFF2-40B4-BE49-F238E27FC236}">
                <a16:creationId xmlns:a16="http://schemas.microsoft.com/office/drawing/2014/main" id="{C2A17ED8-BC2F-004C-88E2-51632993C37E}"/>
              </a:ext>
            </a:extLst>
          </p:cNvPr>
          <p:cNvSpPr>
            <a:spLocks noGrp="1"/>
          </p:cNvSpPr>
          <p:nvPr>
            <p:ph type="body" sz="quarter" idx="17" hasCustomPrompt="1"/>
          </p:nvPr>
        </p:nvSpPr>
        <p:spPr>
          <a:xfrm>
            <a:off x="5286230" y="153849"/>
            <a:ext cx="1619539" cy="388938"/>
          </a:xfrm>
        </p:spPr>
        <p:txBody>
          <a:bodyPr>
            <a:noAutofit/>
          </a:bodyPr>
          <a:lstStyle>
            <a:lvl1pPr marL="0" indent="0" algn="ctr">
              <a:buNone/>
              <a:defRPr sz="3200" b="1">
                <a:solidFill>
                  <a:schemeClr val="tx2"/>
                </a:solidFill>
              </a:defRPr>
            </a:lvl1pPr>
          </a:lstStyle>
          <a:p>
            <a:pPr lvl="0"/>
            <a:r>
              <a:rPr lang="en-US"/>
              <a:t>Title</a:t>
            </a:r>
            <a:endParaRPr lang="el-GR"/>
          </a:p>
        </p:txBody>
      </p:sp>
      <p:cxnSp>
        <p:nvCxnSpPr>
          <p:cNvPr id="13" name="Straight Connector 12">
            <a:extLst>
              <a:ext uri="{FF2B5EF4-FFF2-40B4-BE49-F238E27FC236}">
                <a16:creationId xmlns:a16="http://schemas.microsoft.com/office/drawing/2014/main" id="{7D33F62F-6A2D-6F18-51BB-69129F454BFD}"/>
              </a:ext>
            </a:extLst>
          </p:cNvPr>
          <p:cNvCxnSpPr>
            <a:cxnSpLocks/>
          </p:cNvCxnSpPr>
          <p:nvPr userDrawn="1"/>
        </p:nvCxnSpPr>
        <p:spPr>
          <a:xfrm>
            <a:off x="1101838" y="2637883"/>
            <a:ext cx="1995227" cy="0"/>
          </a:xfrm>
          <a:prstGeom prst="line">
            <a:avLst/>
          </a:prstGeom>
          <a:ln w="15875">
            <a:solidFill>
              <a:srgbClr val="97A9C8"/>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D14F572-8EB7-235E-5FCF-204A4A662C46}"/>
              </a:ext>
            </a:extLst>
          </p:cNvPr>
          <p:cNvCxnSpPr>
            <a:cxnSpLocks/>
          </p:cNvCxnSpPr>
          <p:nvPr userDrawn="1"/>
        </p:nvCxnSpPr>
        <p:spPr>
          <a:xfrm>
            <a:off x="3605634" y="2637883"/>
            <a:ext cx="1995227" cy="0"/>
          </a:xfrm>
          <a:prstGeom prst="line">
            <a:avLst/>
          </a:prstGeom>
          <a:ln w="15875">
            <a:solidFill>
              <a:srgbClr val="97A9C8"/>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C07560F-568C-51C3-BBE6-BFE1C1AD0BAE}"/>
              </a:ext>
            </a:extLst>
          </p:cNvPr>
          <p:cNvCxnSpPr>
            <a:cxnSpLocks/>
          </p:cNvCxnSpPr>
          <p:nvPr userDrawn="1"/>
        </p:nvCxnSpPr>
        <p:spPr>
          <a:xfrm>
            <a:off x="6165869" y="2637883"/>
            <a:ext cx="1995227" cy="0"/>
          </a:xfrm>
          <a:prstGeom prst="line">
            <a:avLst/>
          </a:prstGeom>
          <a:ln w="15875">
            <a:solidFill>
              <a:srgbClr val="97A9C8"/>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F4CCCA0-29D8-B000-263E-419FDABD65AB}"/>
              </a:ext>
            </a:extLst>
          </p:cNvPr>
          <p:cNvCxnSpPr>
            <a:cxnSpLocks/>
          </p:cNvCxnSpPr>
          <p:nvPr userDrawn="1"/>
        </p:nvCxnSpPr>
        <p:spPr>
          <a:xfrm>
            <a:off x="8693190" y="2637883"/>
            <a:ext cx="1995227" cy="0"/>
          </a:xfrm>
          <a:prstGeom prst="line">
            <a:avLst/>
          </a:prstGeom>
          <a:ln w="15875">
            <a:solidFill>
              <a:srgbClr val="97A9C8"/>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7015B8C-AE48-7ACD-D1F3-2668E0A77CE7}"/>
              </a:ext>
            </a:extLst>
          </p:cNvPr>
          <p:cNvCxnSpPr>
            <a:cxnSpLocks/>
          </p:cNvCxnSpPr>
          <p:nvPr userDrawn="1"/>
        </p:nvCxnSpPr>
        <p:spPr>
          <a:xfrm>
            <a:off x="1152641" y="5435356"/>
            <a:ext cx="1995227" cy="0"/>
          </a:xfrm>
          <a:prstGeom prst="line">
            <a:avLst/>
          </a:prstGeom>
          <a:ln w="15875">
            <a:solidFill>
              <a:srgbClr val="97A9C8"/>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8D7325E-8AEE-C6F4-3A0F-6AC798B2131A}"/>
              </a:ext>
            </a:extLst>
          </p:cNvPr>
          <p:cNvCxnSpPr>
            <a:cxnSpLocks/>
          </p:cNvCxnSpPr>
          <p:nvPr userDrawn="1"/>
        </p:nvCxnSpPr>
        <p:spPr>
          <a:xfrm>
            <a:off x="3633345" y="5435356"/>
            <a:ext cx="1995227" cy="0"/>
          </a:xfrm>
          <a:prstGeom prst="line">
            <a:avLst/>
          </a:prstGeom>
          <a:ln w="15875">
            <a:solidFill>
              <a:srgbClr val="97A9C8"/>
            </a:solidFill>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115A8302-29AB-B5B9-DA60-BB28E357DC51}"/>
              </a:ext>
            </a:extLst>
          </p:cNvPr>
          <p:cNvSpPr/>
          <p:nvPr userDrawn="1"/>
        </p:nvSpPr>
        <p:spPr>
          <a:xfrm>
            <a:off x="11158501" y="5969389"/>
            <a:ext cx="700148" cy="671774"/>
          </a:xfrm>
          <a:prstGeom prst="ellipse">
            <a:avLst/>
          </a:prstGeom>
          <a:solidFill>
            <a:srgbClr val="75B9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1200" b="1">
              <a:latin typeface="Arial" panose="020B0604020202020204" pitchFamily="34" charset="0"/>
              <a:cs typeface="Arial" panose="020B0604020202020204" pitchFamily="34" charset="0"/>
            </a:endParaRPr>
          </a:p>
        </p:txBody>
      </p:sp>
      <p:sp>
        <p:nvSpPr>
          <p:cNvPr id="28" name="Rectangle 27">
            <a:extLst>
              <a:ext uri="{FF2B5EF4-FFF2-40B4-BE49-F238E27FC236}">
                <a16:creationId xmlns:a16="http://schemas.microsoft.com/office/drawing/2014/main" id="{48812259-C84C-5D23-9315-43B585817BA3}"/>
              </a:ext>
            </a:extLst>
          </p:cNvPr>
          <p:cNvSpPr/>
          <p:nvPr userDrawn="1"/>
        </p:nvSpPr>
        <p:spPr>
          <a:xfrm>
            <a:off x="1070292" y="864536"/>
            <a:ext cx="1294709" cy="193813"/>
          </a:xfrm>
          <a:prstGeom prst="rect">
            <a:avLst/>
          </a:prstGeom>
          <a:solidFill>
            <a:srgbClr val="75B92A"/>
          </a:solidFill>
          <a:ln>
            <a:solidFill>
              <a:srgbClr val="75B9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 Placeholder 4">
            <a:extLst>
              <a:ext uri="{FF2B5EF4-FFF2-40B4-BE49-F238E27FC236}">
                <a16:creationId xmlns:a16="http://schemas.microsoft.com/office/drawing/2014/main" id="{E057AFFC-7C09-3344-DEB5-DAE23F82A16D}"/>
              </a:ext>
            </a:extLst>
          </p:cNvPr>
          <p:cNvSpPr>
            <a:spLocks noGrp="1"/>
          </p:cNvSpPr>
          <p:nvPr>
            <p:ph type="body" sz="quarter" idx="11"/>
          </p:nvPr>
        </p:nvSpPr>
        <p:spPr>
          <a:xfrm>
            <a:off x="3532188" y="2687496"/>
            <a:ext cx="2161235" cy="1052827"/>
          </a:xfrm>
        </p:spPr>
        <p:txBody>
          <a:bodyPr/>
          <a:lstStyle>
            <a:lvl1pPr marL="0" indent="0">
              <a:buNone/>
              <a:defRPr sz="1400" baseline="0">
                <a:solidFill>
                  <a:schemeClr val="tx2"/>
                </a:solidFill>
              </a:defRPr>
            </a:lvl1pPr>
          </a:lstStyle>
          <a:p>
            <a:pPr lvl="0"/>
            <a:r>
              <a:rPr lang="en-US"/>
              <a:t>Click to edit Master text styles</a:t>
            </a:r>
          </a:p>
          <a:p>
            <a:pPr lvl="0"/>
            <a:endParaRPr lang="el-GR"/>
          </a:p>
        </p:txBody>
      </p:sp>
      <p:sp>
        <p:nvSpPr>
          <p:cNvPr id="6" name="Text Placeholder 4">
            <a:extLst>
              <a:ext uri="{FF2B5EF4-FFF2-40B4-BE49-F238E27FC236}">
                <a16:creationId xmlns:a16="http://schemas.microsoft.com/office/drawing/2014/main" id="{D15A654E-AA66-1D15-B7F4-AC48F45DC679}"/>
              </a:ext>
            </a:extLst>
          </p:cNvPr>
          <p:cNvSpPr>
            <a:spLocks noGrp="1"/>
          </p:cNvSpPr>
          <p:nvPr>
            <p:ph type="body" sz="quarter" idx="12"/>
          </p:nvPr>
        </p:nvSpPr>
        <p:spPr>
          <a:xfrm>
            <a:off x="1059913" y="2686925"/>
            <a:ext cx="2161235" cy="1052827"/>
          </a:xfrm>
        </p:spPr>
        <p:txBody>
          <a:bodyPr/>
          <a:lstStyle>
            <a:lvl1pPr marL="0" indent="0">
              <a:buNone/>
              <a:defRPr sz="1400" baseline="0">
                <a:solidFill>
                  <a:schemeClr val="tx2"/>
                </a:solidFill>
              </a:defRPr>
            </a:lvl1pPr>
          </a:lstStyle>
          <a:p>
            <a:pPr lvl="0"/>
            <a:r>
              <a:rPr lang="en-US"/>
              <a:t>Click to edit Master text styles</a:t>
            </a:r>
          </a:p>
          <a:p>
            <a:pPr lvl="0"/>
            <a:endParaRPr lang="el-GR"/>
          </a:p>
        </p:txBody>
      </p:sp>
      <p:sp>
        <p:nvSpPr>
          <p:cNvPr id="29" name="Text Placeholder 4">
            <a:extLst>
              <a:ext uri="{FF2B5EF4-FFF2-40B4-BE49-F238E27FC236}">
                <a16:creationId xmlns:a16="http://schemas.microsoft.com/office/drawing/2014/main" id="{71378394-3C7F-CD48-BD9A-FEC7B3B8216B}"/>
              </a:ext>
            </a:extLst>
          </p:cNvPr>
          <p:cNvSpPr>
            <a:spLocks noGrp="1"/>
          </p:cNvSpPr>
          <p:nvPr>
            <p:ph type="body" sz="quarter" idx="13"/>
          </p:nvPr>
        </p:nvSpPr>
        <p:spPr>
          <a:xfrm>
            <a:off x="6061559" y="2686925"/>
            <a:ext cx="2161235" cy="1052827"/>
          </a:xfrm>
        </p:spPr>
        <p:txBody>
          <a:bodyPr/>
          <a:lstStyle>
            <a:lvl1pPr marL="0" indent="0">
              <a:buNone/>
              <a:defRPr sz="1400" baseline="0">
                <a:solidFill>
                  <a:schemeClr val="tx2"/>
                </a:solidFill>
              </a:defRPr>
            </a:lvl1pPr>
          </a:lstStyle>
          <a:p>
            <a:pPr lvl="0"/>
            <a:r>
              <a:rPr lang="en-US"/>
              <a:t>Click to edit Master text styles</a:t>
            </a:r>
          </a:p>
          <a:p>
            <a:pPr lvl="0"/>
            <a:endParaRPr lang="el-GR"/>
          </a:p>
        </p:txBody>
      </p:sp>
      <p:sp>
        <p:nvSpPr>
          <p:cNvPr id="30" name="Text Placeholder 4">
            <a:extLst>
              <a:ext uri="{FF2B5EF4-FFF2-40B4-BE49-F238E27FC236}">
                <a16:creationId xmlns:a16="http://schemas.microsoft.com/office/drawing/2014/main" id="{292EAD8D-DD51-3BC2-6072-69268A1AA46B}"/>
              </a:ext>
            </a:extLst>
          </p:cNvPr>
          <p:cNvSpPr>
            <a:spLocks noGrp="1"/>
          </p:cNvSpPr>
          <p:nvPr>
            <p:ph type="body" sz="quarter" idx="14"/>
          </p:nvPr>
        </p:nvSpPr>
        <p:spPr>
          <a:xfrm>
            <a:off x="8620996" y="2686924"/>
            <a:ext cx="2161235" cy="1052827"/>
          </a:xfrm>
        </p:spPr>
        <p:txBody>
          <a:bodyPr/>
          <a:lstStyle>
            <a:lvl1pPr marL="0" indent="0">
              <a:buNone/>
              <a:defRPr sz="1400" baseline="0">
                <a:solidFill>
                  <a:schemeClr val="tx2"/>
                </a:solidFill>
              </a:defRPr>
            </a:lvl1pPr>
          </a:lstStyle>
          <a:p>
            <a:pPr lvl="0"/>
            <a:r>
              <a:rPr lang="en-US"/>
              <a:t>Click to edit Master text styles</a:t>
            </a:r>
          </a:p>
          <a:p>
            <a:pPr lvl="0"/>
            <a:endParaRPr lang="el-GR"/>
          </a:p>
        </p:txBody>
      </p:sp>
      <p:sp>
        <p:nvSpPr>
          <p:cNvPr id="31" name="Text Placeholder 4">
            <a:extLst>
              <a:ext uri="{FF2B5EF4-FFF2-40B4-BE49-F238E27FC236}">
                <a16:creationId xmlns:a16="http://schemas.microsoft.com/office/drawing/2014/main" id="{3442ABCF-77D3-0099-6B1D-CE567C033250}"/>
              </a:ext>
            </a:extLst>
          </p:cNvPr>
          <p:cNvSpPr>
            <a:spLocks noGrp="1"/>
          </p:cNvSpPr>
          <p:nvPr>
            <p:ph type="body" sz="quarter" idx="15"/>
          </p:nvPr>
        </p:nvSpPr>
        <p:spPr>
          <a:xfrm>
            <a:off x="1076263" y="5495274"/>
            <a:ext cx="2161235" cy="1052827"/>
          </a:xfrm>
        </p:spPr>
        <p:txBody>
          <a:bodyPr/>
          <a:lstStyle>
            <a:lvl1pPr marL="0" indent="0">
              <a:buNone/>
              <a:defRPr sz="1400" baseline="0">
                <a:solidFill>
                  <a:schemeClr val="tx2"/>
                </a:solidFill>
              </a:defRPr>
            </a:lvl1pPr>
          </a:lstStyle>
          <a:p>
            <a:pPr lvl="0"/>
            <a:r>
              <a:rPr lang="en-US"/>
              <a:t>Click to edit Master text styles</a:t>
            </a:r>
          </a:p>
          <a:p>
            <a:pPr lvl="0"/>
            <a:endParaRPr lang="el-GR"/>
          </a:p>
        </p:txBody>
      </p:sp>
      <p:sp>
        <p:nvSpPr>
          <p:cNvPr id="32" name="Text Placeholder 4">
            <a:extLst>
              <a:ext uri="{FF2B5EF4-FFF2-40B4-BE49-F238E27FC236}">
                <a16:creationId xmlns:a16="http://schemas.microsoft.com/office/drawing/2014/main" id="{2DBE0771-B468-76A7-30DC-F41204DBF9BD}"/>
              </a:ext>
            </a:extLst>
          </p:cNvPr>
          <p:cNvSpPr>
            <a:spLocks noGrp="1"/>
          </p:cNvSpPr>
          <p:nvPr>
            <p:ph type="body" sz="quarter" idx="16"/>
          </p:nvPr>
        </p:nvSpPr>
        <p:spPr>
          <a:xfrm>
            <a:off x="3499580" y="5495273"/>
            <a:ext cx="2161235" cy="1052827"/>
          </a:xfrm>
        </p:spPr>
        <p:txBody>
          <a:bodyPr/>
          <a:lstStyle>
            <a:lvl1pPr marL="0" indent="0">
              <a:buNone/>
              <a:defRPr sz="1400" baseline="0">
                <a:solidFill>
                  <a:schemeClr val="tx2"/>
                </a:solidFill>
              </a:defRPr>
            </a:lvl1pPr>
          </a:lstStyle>
          <a:p>
            <a:pPr lvl="0"/>
            <a:r>
              <a:rPr lang="en-US"/>
              <a:t>Click to edit Master text styles</a:t>
            </a:r>
          </a:p>
          <a:p>
            <a:pPr lvl="0"/>
            <a:endParaRPr lang="el-GR"/>
          </a:p>
        </p:txBody>
      </p:sp>
      <p:sp>
        <p:nvSpPr>
          <p:cNvPr id="39" name="Text Placeholder 37">
            <a:extLst>
              <a:ext uri="{FF2B5EF4-FFF2-40B4-BE49-F238E27FC236}">
                <a16:creationId xmlns:a16="http://schemas.microsoft.com/office/drawing/2014/main" id="{7905C108-8ABD-C6C2-6124-E0EC33614873}"/>
              </a:ext>
            </a:extLst>
          </p:cNvPr>
          <p:cNvSpPr>
            <a:spLocks noGrp="1"/>
          </p:cNvSpPr>
          <p:nvPr>
            <p:ph type="body" sz="quarter" idx="20" hasCustomPrompt="1"/>
          </p:nvPr>
        </p:nvSpPr>
        <p:spPr>
          <a:xfrm>
            <a:off x="3434992" y="1534778"/>
            <a:ext cx="1747617" cy="1569763"/>
          </a:xfrm>
        </p:spPr>
        <p:txBody>
          <a:bodyPr/>
          <a:lstStyle>
            <a:lvl1pPr marL="0" indent="0">
              <a:buNone/>
              <a:defRPr sz="8800">
                <a:solidFill>
                  <a:srgbClr val="2E5684"/>
                </a:solidFill>
                <a:latin typeface="Calibri Light (Body)"/>
              </a:defRPr>
            </a:lvl1pPr>
          </a:lstStyle>
          <a:p>
            <a:pPr lvl="0"/>
            <a:r>
              <a:rPr lang="en-US"/>
              <a:t>02</a:t>
            </a:r>
            <a:endParaRPr lang="el-GR"/>
          </a:p>
          <a:p>
            <a:pPr lvl="0"/>
            <a:endParaRPr lang="el-GR"/>
          </a:p>
        </p:txBody>
      </p:sp>
      <p:sp>
        <p:nvSpPr>
          <p:cNvPr id="40" name="Text Placeholder 37">
            <a:extLst>
              <a:ext uri="{FF2B5EF4-FFF2-40B4-BE49-F238E27FC236}">
                <a16:creationId xmlns:a16="http://schemas.microsoft.com/office/drawing/2014/main" id="{80825612-F686-3580-0A2C-D59BA10134D4}"/>
              </a:ext>
            </a:extLst>
          </p:cNvPr>
          <p:cNvSpPr>
            <a:spLocks noGrp="1"/>
          </p:cNvSpPr>
          <p:nvPr>
            <p:ph type="body" sz="quarter" idx="21" hasCustomPrompt="1"/>
          </p:nvPr>
        </p:nvSpPr>
        <p:spPr>
          <a:xfrm>
            <a:off x="5948855" y="1530208"/>
            <a:ext cx="1747617" cy="1569763"/>
          </a:xfrm>
        </p:spPr>
        <p:txBody>
          <a:bodyPr/>
          <a:lstStyle>
            <a:lvl1pPr marL="0" indent="0">
              <a:buNone/>
              <a:defRPr sz="8800">
                <a:solidFill>
                  <a:srgbClr val="2E5684"/>
                </a:solidFill>
                <a:latin typeface="Calibri Light (Body)"/>
              </a:defRPr>
            </a:lvl1pPr>
          </a:lstStyle>
          <a:p>
            <a:pPr lvl="0"/>
            <a:r>
              <a:rPr lang="en-US"/>
              <a:t>03</a:t>
            </a:r>
            <a:endParaRPr lang="el-GR"/>
          </a:p>
          <a:p>
            <a:pPr lvl="0"/>
            <a:endParaRPr lang="el-GR"/>
          </a:p>
        </p:txBody>
      </p:sp>
      <p:sp>
        <p:nvSpPr>
          <p:cNvPr id="41" name="Text Placeholder 37">
            <a:extLst>
              <a:ext uri="{FF2B5EF4-FFF2-40B4-BE49-F238E27FC236}">
                <a16:creationId xmlns:a16="http://schemas.microsoft.com/office/drawing/2014/main" id="{6638778B-10C1-014C-7B0B-2538083CDF35}"/>
              </a:ext>
            </a:extLst>
          </p:cNvPr>
          <p:cNvSpPr>
            <a:spLocks noGrp="1"/>
          </p:cNvSpPr>
          <p:nvPr>
            <p:ph type="body" sz="quarter" idx="22" hasCustomPrompt="1"/>
          </p:nvPr>
        </p:nvSpPr>
        <p:spPr>
          <a:xfrm>
            <a:off x="8504398" y="1528920"/>
            <a:ext cx="1747617" cy="1569763"/>
          </a:xfrm>
        </p:spPr>
        <p:txBody>
          <a:bodyPr/>
          <a:lstStyle>
            <a:lvl1pPr marL="0" indent="0">
              <a:buNone/>
              <a:defRPr sz="8800">
                <a:solidFill>
                  <a:srgbClr val="2E5684"/>
                </a:solidFill>
                <a:latin typeface="Calibri Light (Body)"/>
              </a:defRPr>
            </a:lvl1pPr>
          </a:lstStyle>
          <a:p>
            <a:pPr lvl="0"/>
            <a:r>
              <a:rPr lang="en-US"/>
              <a:t>04</a:t>
            </a:r>
            <a:endParaRPr lang="el-GR"/>
          </a:p>
          <a:p>
            <a:pPr lvl="0"/>
            <a:endParaRPr lang="el-GR"/>
          </a:p>
        </p:txBody>
      </p:sp>
      <p:sp>
        <p:nvSpPr>
          <p:cNvPr id="42" name="Text Placeholder 37">
            <a:extLst>
              <a:ext uri="{FF2B5EF4-FFF2-40B4-BE49-F238E27FC236}">
                <a16:creationId xmlns:a16="http://schemas.microsoft.com/office/drawing/2014/main" id="{D823D54A-679B-B8A8-DDF3-F8B6963426F0}"/>
              </a:ext>
            </a:extLst>
          </p:cNvPr>
          <p:cNvSpPr>
            <a:spLocks noGrp="1"/>
          </p:cNvSpPr>
          <p:nvPr>
            <p:ph type="body" sz="quarter" idx="23" hasCustomPrompt="1"/>
          </p:nvPr>
        </p:nvSpPr>
        <p:spPr>
          <a:xfrm>
            <a:off x="970922" y="4374302"/>
            <a:ext cx="1747617" cy="1569763"/>
          </a:xfrm>
        </p:spPr>
        <p:txBody>
          <a:bodyPr/>
          <a:lstStyle>
            <a:lvl1pPr marL="0" indent="0">
              <a:buNone/>
              <a:defRPr sz="8800">
                <a:solidFill>
                  <a:srgbClr val="2E5684"/>
                </a:solidFill>
                <a:latin typeface="Calibri Light (Body)"/>
              </a:defRPr>
            </a:lvl1pPr>
          </a:lstStyle>
          <a:p>
            <a:pPr lvl="0"/>
            <a:r>
              <a:rPr lang="en-US"/>
              <a:t>05</a:t>
            </a:r>
            <a:endParaRPr lang="el-GR"/>
          </a:p>
          <a:p>
            <a:pPr lvl="0"/>
            <a:endParaRPr lang="el-GR"/>
          </a:p>
        </p:txBody>
      </p:sp>
      <p:sp>
        <p:nvSpPr>
          <p:cNvPr id="43" name="Text Placeholder 37">
            <a:extLst>
              <a:ext uri="{FF2B5EF4-FFF2-40B4-BE49-F238E27FC236}">
                <a16:creationId xmlns:a16="http://schemas.microsoft.com/office/drawing/2014/main" id="{21561431-EEAD-2C02-9731-9518A6DA7F63}"/>
              </a:ext>
            </a:extLst>
          </p:cNvPr>
          <p:cNvSpPr>
            <a:spLocks noGrp="1"/>
          </p:cNvSpPr>
          <p:nvPr>
            <p:ph type="body" sz="quarter" idx="24" hasCustomPrompt="1"/>
          </p:nvPr>
        </p:nvSpPr>
        <p:spPr>
          <a:xfrm>
            <a:off x="3409024" y="4374302"/>
            <a:ext cx="1747617" cy="1569763"/>
          </a:xfrm>
        </p:spPr>
        <p:txBody>
          <a:bodyPr/>
          <a:lstStyle>
            <a:lvl1pPr marL="0" indent="0">
              <a:buNone/>
              <a:defRPr sz="8800">
                <a:solidFill>
                  <a:srgbClr val="2E5684"/>
                </a:solidFill>
                <a:latin typeface="Calibri Light (Body)"/>
              </a:defRPr>
            </a:lvl1pPr>
          </a:lstStyle>
          <a:p>
            <a:pPr lvl="0"/>
            <a:r>
              <a:rPr lang="en-US"/>
              <a:t>06</a:t>
            </a:r>
            <a:endParaRPr lang="el-GR"/>
          </a:p>
          <a:p>
            <a:pPr lvl="0"/>
            <a:endParaRPr lang="el-GR"/>
          </a:p>
        </p:txBody>
      </p:sp>
      <p:sp>
        <p:nvSpPr>
          <p:cNvPr id="53" name="Slide Number Placeholder 14">
            <a:extLst>
              <a:ext uri="{FF2B5EF4-FFF2-40B4-BE49-F238E27FC236}">
                <a16:creationId xmlns:a16="http://schemas.microsoft.com/office/drawing/2014/main" id="{316EFEAF-4159-9234-2856-63DCB87682C1}"/>
              </a:ext>
            </a:extLst>
          </p:cNvPr>
          <p:cNvSpPr>
            <a:spLocks noGrp="1"/>
          </p:cNvSpPr>
          <p:nvPr>
            <p:ph type="sldNum" sz="quarter" idx="4"/>
          </p:nvPr>
        </p:nvSpPr>
        <p:spPr>
          <a:xfrm>
            <a:off x="8910781" y="6122713"/>
            <a:ext cx="2743200" cy="365125"/>
          </a:xfrm>
          <a:prstGeom prst="rect">
            <a:avLst/>
          </a:prstGeom>
        </p:spPr>
        <p:txBody>
          <a:bodyPr vert="horz" lIns="91440" tIns="45720" rIns="91440" bIns="45720" rtlCol="0" anchor="ctr"/>
          <a:lstStyle>
            <a:lvl1pPr algn="r">
              <a:defRPr sz="1200" b="1">
                <a:solidFill>
                  <a:schemeClr val="bg1"/>
                </a:solidFill>
              </a:defRPr>
            </a:lvl1pPr>
          </a:lstStyle>
          <a:p>
            <a:fld id="{134D5E84-50F9-4E8A-902D-8ADBB9AEA009}" type="slidenum">
              <a:rPr lang="el-GR" smtClean="0"/>
              <a:pPr/>
              <a:t>‹#›</a:t>
            </a:fld>
            <a:endParaRPr lang="el-GR"/>
          </a:p>
        </p:txBody>
      </p:sp>
    </p:spTree>
    <p:extLst>
      <p:ext uri="{BB962C8B-B14F-4D97-AF65-F5344CB8AC3E}">
        <p14:creationId xmlns:p14="http://schemas.microsoft.com/office/powerpoint/2010/main" val="420086312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F657F081-CF82-2B0B-BC63-0B3D39A878D3}"/>
              </a:ext>
            </a:extLst>
          </p:cNvPr>
          <p:cNvSpPr/>
          <p:nvPr userDrawn="1"/>
        </p:nvSpPr>
        <p:spPr>
          <a:xfrm>
            <a:off x="11158501" y="5969389"/>
            <a:ext cx="700148" cy="671774"/>
          </a:xfrm>
          <a:prstGeom prst="ellipse">
            <a:avLst/>
          </a:prstGeom>
          <a:solidFill>
            <a:srgbClr val="75B9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1200" b="1">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09E406D6-F7DA-417F-9A8E-8BE2510107DA}"/>
              </a:ext>
            </a:extLst>
          </p:cNvPr>
          <p:cNvSpPr/>
          <p:nvPr userDrawn="1"/>
        </p:nvSpPr>
        <p:spPr>
          <a:xfrm>
            <a:off x="977500" y="1072936"/>
            <a:ext cx="1301929" cy="178559"/>
          </a:xfrm>
          <a:prstGeom prst="rect">
            <a:avLst/>
          </a:prstGeom>
          <a:solidFill>
            <a:srgbClr val="75B92A"/>
          </a:solidFill>
          <a:ln>
            <a:solidFill>
              <a:srgbClr val="75B9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 Placeholder 2">
            <a:extLst>
              <a:ext uri="{FF2B5EF4-FFF2-40B4-BE49-F238E27FC236}">
                <a16:creationId xmlns:a16="http://schemas.microsoft.com/office/drawing/2014/main" id="{381E7AAB-1F4B-9A95-8E34-65467763FD65}"/>
              </a:ext>
            </a:extLst>
          </p:cNvPr>
          <p:cNvSpPr>
            <a:spLocks noGrp="1"/>
          </p:cNvSpPr>
          <p:nvPr>
            <p:ph type="body" sz="quarter" idx="10" hasCustomPrompt="1"/>
          </p:nvPr>
        </p:nvSpPr>
        <p:spPr>
          <a:xfrm>
            <a:off x="977500" y="420885"/>
            <a:ext cx="2274887" cy="301625"/>
          </a:xfrm>
        </p:spPr>
        <p:txBody>
          <a:bodyPr>
            <a:noAutofit/>
          </a:bodyPr>
          <a:lstStyle>
            <a:lvl1pPr marL="0" indent="0">
              <a:buNone/>
              <a:defRPr sz="3200" b="1">
                <a:solidFill>
                  <a:srgbClr val="2E5684"/>
                </a:solidFill>
              </a:defRPr>
            </a:lvl1pPr>
            <a:lvl2pPr>
              <a:defRPr b="1">
                <a:solidFill>
                  <a:srgbClr val="2E5684"/>
                </a:solidFill>
              </a:defRPr>
            </a:lvl2pPr>
            <a:lvl3pPr>
              <a:defRPr b="1">
                <a:solidFill>
                  <a:srgbClr val="2E5684"/>
                </a:solidFill>
              </a:defRPr>
            </a:lvl3pPr>
            <a:lvl4pPr>
              <a:defRPr b="1">
                <a:solidFill>
                  <a:srgbClr val="2E5684"/>
                </a:solidFill>
              </a:defRPr>
            </a:lvl4pPr>
            <a:lvl5pPr>
              <a:defRPr b="1">
                <a:solidFill>
                  <a:srgbClr val="2E5684"/>
                </a:solidFill>
              </a:defRPr>
            </a:lvl5pPr>
          </a:lstStyle>
          <a:p>
            <a:pPr lvl="0"/>
            <a:r>
              <a:rPr lang="en-US"/>
              <a:t>Title</a:t>
            </a:r>
            <a:endParaRPr lang="el-GR"/>
          </a:p>
        </p:txBody>
      </p:sp>
      <p:sp>
        <p:nvSpPr>
          <p:cNvPr id="13" name="Text Placeholder 4">
            <a:extLst>
              <a:ext uri="{FF2B5EF4-FFF2-40B4-BE49-F238E27FC236}">
                <a16:creationId xmlns:a16="http://schemas.microsoft.com/office/drawing/2014/main" id="{EE0B9ADB-A3AB-6169-E796-0A0E01B535CE}"/>
              </a:ext>
            </a:extLst>
          </p:cNvPr>
          <p:cNvSpPr>
            <a:spLocks noGrp="1"/>
          </p:cNvSpPr>
          <p:nvPr>
            <p:ph type="body" sz="quarter" idx="12" hasCustomPrompt="1"/>
          </p:nvPr>
        </p:nvSpPr>
        <p:spPr>
          <a:xfrm>
            <a:off x="977500" y="1692419"/>
            <a:ext cx="10485924" cy="2510127"/>
          </a:xfrm>
        </p:spPr>
        <p:txBody>
          <a:bodyPr/>
          <a:lstStyle>
            <a:lvl1pPr marL="0" indent="0">
              <a:buFont typeface="Arial" panose="020B0604020202020204" pitchFamily="34" charset="0"/>
              <a:buNone/>
              <a:defRPr sz="1400" baseline="0">
                <a:solidFill>
                  <a:schemeClr val="tx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Lorem ipsum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sit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amet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consectetuer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adipiscing</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sed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diam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nonummy</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nibh</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euismod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tincidunt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laoreet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dolore magna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aliquam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erat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volutpat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Ut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wisi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enim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ad minim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veniam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quis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nostrud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exerci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tation</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ullamcorper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suscipit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lobortis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nisl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aliquip</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ex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commodo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Duis autem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iriure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hendrerit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vulputate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esse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molestie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illum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feugiat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nulla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facilisis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vero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eros et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accumsan</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iusto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odio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dignissim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qui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blandit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praesent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luptatum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zzril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delenit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augue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duis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feugait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nulla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facilisi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a:t>
            </a:r>
            <a:endParaRPr kumimoji="0" lang="en-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lvl="0"/>
            <a:endParaRPr lang="el-GR"/>
          </a:p>
        </p:txBody>
      </p:sp>
      <p:sp>
        <p:nvSpPr>
          <p:cNvPr id="2" name="Slide Number Placeholder 14">
            <a:extLst>
              <a:ext uri="{FF2B5EF4-FFF2-40B4-BE49-F238E27FC236}">
                <a16:creationId xmlns:a16="http://schemas.microsoft.com/office/drawing/2014/main" id="{BBCFFCC8-F7F6-B76E-D0F8-6298581DF2F1}"/>
              </a:ext>
            </a:extLst>
          </p:cNvPr>
          <p:cNvSpPr>
            <a:spLocks noGrp="1"/>
          </p:cNvSpPr>
          <p:nvPr>
            <p:ph type="sldNum" sz="quarter" idx="4"/>
          </p:nvPr>
        </p:nvSpPr>
        <p:spPr>
          <a:xfrm>
            <a:off x="8910781" y="6122713"/>
            <a:ext cx="2743200" cy="365125"/>
          </a:xfrm>
          <a:prstGeom prst="rect">
            <a:avLst/>
          </a:prstGeom>
        </p:spPr>
        <p:txBody>
          <a:bodyPr vert="horz" lIns="91440" tIns="45720" rIns="91440" bIns="45720" rtlCol="0" anchor="ctr"/>
          <a:lstStyle>
            <a:lvl1pPr algn="r">
              <a:defRPr sz="1200" b="1">
                <a:solidFill>
                  <a:schemeClr val="bg1"/>
                </a:solidFill>
              </a:defRPr>
            </a:lvl1pPr>
          </a:lstStyle>
          <a:p>
            <a:fld id="{134D5E84-50F9-4E8A-902D-8ADBB9AEA009}" type="slidenum">
              <a:rPr lang="el-GR" smtClean="0"/>
              <a:pPr/>
              <a:t>‹#›</a:t>
            </a:fld>
            <a:endParaRPr lang="el-GR"/>
          </a:p>
        </p:txBody>
      </p:sp>
    </p:spTree>
    <p:extLst>
      <p:ext uri="{BB962C8B-B14F-4D97-AF65-F5344CB8AC3E}">
        <p14:creationId xmlns:p14="http://schemas.microsoft.com/office/powerpoint/2010/main" val="36118635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FAB04E1-4B26-39B4-4DCB-C73C29FDBA61}"/>
              </a:ext>
            </a:extLst>
          </p:cNvPr>
          <p:cNvSpPr>
            <a:spLocks noGrp="1"/>
          </p:cNvSpPr>
          <p:nvPr>
            <p:ph type="body" sz="quarter" idx="11" hasCustomPrompt="1"/>
          </p:nvPr>
        </p:nvSpPr>
        <p:spPr>
          <a:xfrm>
            <a:off x="977500" y="420885"/>
            <a:ext cx="4044950" cy="809625"/>
          </a:xfrm>
        </p:spPr>
        <p:txBody>
          <a:bodyPr>
            <a:normAutofit/>
          </a:bodyPr>
          <a:lstStyle>
            <a:lvl1pPr marL="0" indent="0">
              <a:buNone/>
              <a:defRPr sz="3200" b="1">
                <a:solidFill>
                  <a:srgbClr val="2E5684"/>
                </a:solidFill>
              </a:defRPr>
            </a:lvl1pPr>
          </a:lstStyle>
          <a:p>
            <a:pPr lvl="0"/>
            <a:r>
              <a:rPr lang="en-US"/>
              <a:t>Title</a:t>
            </a:r>
            <a:endParaRPr lang="el-GR"/>
          </a:p>
        </p:txBody>
      </p:sp>
      <p:sp>
        <p:nvSpPr>
          <p:cNvPr id="13" name="Picture Placeholder 12">
            <a:extLst>
              <a:ext uri="{FF2B5EF4-FFF2-40B4-BE49-F238E27FC236}">
                <a16:creationId xmlns:a16="http://schemas.microsoft.com/office/drawing/2014/main" id="{30926D3A-3A89-5427-6423-80282C0631BA}"/>
              </a:ext>
            </a:extLst>
          </p:cNvPr>
          <p:cNvSpPr>
            <a:spLocks noGrp="1"/>
          </p:cNvSpPr>
          <p:nvPr>
            <p:ph type="pic" sz="quarter" idx="10"/>
          </p:nvPr>
        </p:nvSpPr>
        <p:spPr>
          <a:xfrm>
            <a:off x="8271401" y="0"/>
            <a:ext cx="3920599" cy="5601352"/>
          </a:xfrm>
        </p:spPr>
        <p:txBody>
          <a:bodyPr/>
          <a:lstStyle/>
          <a:p>
            <a:endParaRPr lang="el-GR"/>
          </a:p>
        </p:txBody>
      </p:sp>
      <p:sp>
        <p:nvSpPr>
          <p:cNvPr id="11" name="Oval 10">
            <a:extLst>
              <a:ext uri="{FF2B5EF4-FFF2-40B4-BE49-F238E27FC236}">
                <a16:creationId xmlns:a16="http://schemas.microsoft.com/office/drawing/2014/main" id="{DE687147-D6A4-C03D-4C81-694C340D0525}"/>
              </a:ext>
            </a:extLst>
          </p:cNvPr>
          <p:cNvSpPr/>
          <p:nvPr userDrawn="1"/>
        </p:nvSpPr>
        <p:spPr>
          <a:xfrm>
            <a:off x="11158501" y="5969389"/>
            <a:ext cx="700148" cy="671774"/>
          </a:xfrm>
          <a:prstGeom prst="ellipse">
            <a:avLst/>
          </a:prstGeom>
          <a:solidFill>
            <a:srgbClr val="75B9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1200" b="1">
              <a:latin typeface="Arial" panose="020B0604020202020204" pitchFamily="34" charset="0"/>
              <a:cs typeface="Arial" panose="020B0604020202020204" pitchFamily="34" charset="0"/>
            </a:endParaRPr>
          </a:p>
        </p:txBody>
      </p:sp>
      <p:sp>
        <p:nvSpPr>
          <p:cNvPr id="6" name="Text Placeholder 4">
            <a:extLst>
              <a:ext uri="{FF2B5EF4-FFF2-40B4-BE49-F238E27FC236}">
                <a16:creationId xmlns:a16="http://schemas.microsoft.com/office/drawing/2014/main" id="{42FA81A2-9EDE-6D89-57BA-D8453F93E929}"/>
              </a:ext>
            </a:extLst>
          </p:cNvPr>
          <p:cNvSpPr>
            <a:spLocks noGrp="1"/>
          </p:cNvSpPr>
          <p:nvPr>
            <p:ph type="body" sz="quarter" idx="12" hasCustomPrompt="1"/>
          </p:nvPr>
        </p:nvSpPr>
        <p:spPr>
          <a:xfrm>
            <a:off x="935343" y="1849885"/>
            <a:ext cx="4628695" cy="2510127"/>
          </a:xfrm>
        </p:spPr>
        <p:txBody>
          <a:bodyPr/>
          <a:lstStyle>
            <a:lvl1pPr marL="0" indent="0">
              <a:buFont typeface="Arial" panose="020B0604020202020204" pitchFamily="34" charset="0"/>
              <a:buNone/>
              <a:defRPr sz="1400" baseline="0">
                <a:solidFill>
                  <a:schemeClr val="tx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Lorem ipsum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sit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amet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consectetuer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adipiscing</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sed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diam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nonummy</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nibh</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euismod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tincidunt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laoreet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dolore magna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aliquam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erat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volutpat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Ut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wisi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enim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ad minim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veniam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quis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nostrud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exerci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tation</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ullamcorper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suscipit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lobortis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nisl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aliquip</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ex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commodo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Duis autem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iriure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hendrerit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vulputate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esse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molestie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illum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feugiat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nulla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facilisis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vero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eros et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accumsan</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iusto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odio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dignissim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qui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blandit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praesent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luptatum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zzril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delenit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augue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duis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feugait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nulla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facilisi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a:t>
            </a:r>
            <a:endParaRPr kumimoji="0" lang="en-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lvl="0"/>
            <a:endParaRPr lang="el-GR"/>
          </a:p>
        </p:txBody>
      </p:sp>
      <p:sp>
        <p:nvSpPr>
          <p:cNvPr id="4" name="Rectangle 3">
            <a:extLst>
              <a:ext uri="{FF2B5EF4-FFF2-40B4-BE49-F238E27FC236}">
                <a16:creationId xmlns:a16="http://schemas.microsoft.com/office/drawing/2014/main" id="{B52DAA02-D190-C78C-B585-FD68FE56CFC2}"/>
              </a:ext>
            </a:extLst>
          </p:cNvPr>
          <p:cNvSpPr/>
          <p:nvPr userDrawn="1"/>
        </p:nvSpPr>
        <p:spPr>
          <a:xfrm>
            <a:off x="977500" y="1072936"/>
            <a:ext cx="1301929" cy="178559"/>
          </a:xfrm>
          <a:prstGeom prst="rect">
            <a:avLst/>
          </a:prstGeom>
          <a:solidFill>
            <a:srgbClr val="75B92A"/>
          </a:solidFill>
          <a:ln>
            <a:solidFill>
              <a:srgbClr val="75B9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4">
            <a:extLst>
              <a:ext uri="{FF2B5EF4-FFF2-40B4-BE49-F238E27FC236}">
                <a16:creationId xmlns:a16="http://schemas.microsoft.com/office/drawing/2014/main" id="{C00BD6AC-FEB2-EB17-E8C9-FD2D83108270}"/>
              </a:ext>
            </a:extLst>
          </p:cNvPr>
          <p:cNvSpPr>
            <a:spLocks noGrp="1"/>
          </p:cNvSpPr>
          <p:nvPr>
            <p:ph type="sldNum" sz="quarter" idx="4"/>
          </p:nvPr>
        </p:nvSpPr>
        <p:spPr>
          <a:xfrm>
            <a:off x="8910781" y="6122713"/>
            <a:ext cx="2743200" cy="365125"/>
          </a:xfrm>
          <a:prstGeom prst="rect">
            <a:avLst/>
          </a:prstGeom>
        </p:spPr>
        <p:txBody>
          <a:bodyPr vert="horz" lIns="91440" tIns="45720" rIns="91440" bIns="45720" rtlCol="0" anchor="ctr"/>
          <a:lstStyle>
            <a:lvl1pPr algn="r">
              <a:defRPr sz="1200" b="1">
                <a:solidFill>
                  <a:schemeClr val="bg1"/>
                </a:solidFill>
              </a:defRPr>
            </a:lvl1pPr>
          </a:lstStyle>
          <a:p>
            <a:fld id="{134D5E84-50F9-4E8A-902D-8ADBB9AEA009}" type="slidenum">
              <a:rPr lang="el-GR" smtClean="0"/>
              <a:pPr/>
              <a:t>‹#›</a:t>
            </a:fld>
            <a:endParaRPr lang="el-GR"/>
          </a:p>
        </p:txBody>
      </p:sp>
    </p:spTree>
    <p:extLst>
      <p:ext uri="{BB962C8B-B14F-4D97-AF65-F5344CB8AC3E}">
        <p14:creationId xmlns:p14="http://schemas.microsoft.com/office/powerpoint/2010/main" val="30803495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C89B70E-8E5F-BB0D-08BF-84EE590D66A6}"/>
              </a:ext>
            </a:extLst>
          </p:cNvPr>
          <p:cNvSpPr/>
          <p:nvPr userDrawn="1"/>
        </p:nvSpPr>
        <p:spPr>
          <a:xfrm>
            <a:off x="12700" y="1492118"/>
            <a:ext cx="12179300" cy="5365881"/>
          </a:xfrm>
          <a:prstGeom prst="rect">
            <a:avLst/>
          </a:prstGeom>
          <a:solidFill>
            <a:srgbClr val="F1F6FA"/>
          </a:solidFill>
          <a:ln>
            <a:solidFill>
              <a:srgbClr val="F1F6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9" name="Picture 8">
            <a:extLst>
              <a:ext uri="{FF2B5EF4-FFF2-40B4-BE49-F238E27FC236}">
                <a16:creationId xmlns:a16="http://schemas.microsoft.com/office/drawing/2014/main" id="{456880C9-C648-5A50-628A-5AC42CC1B804}"/>
              </a:ext>
            </a:extLst>
          </p:cNvPr>
          <p:cNvPicPr>
            <a:picLocks noChangeAspect="1"/>
          </p:cNvPicPr>
          <p:nvPr userDrawn="1"/>
        </p:nvPicPr>
        <p:blipFill rotWithShape="1">
          <a:blip r:embed="rId2"/>
          <a:srcRect l="12363" t="14585" r="78669" b="64801"/>
          <a:stretch/>
        </p:blipFill>
        <p:spPr>
          <a:xfrm>
            <a:off x="1091622" y="2105221"/>
            <a:ext cx="1093493" cy="1092200"/>
          </a:xfrm>
          <a:prstGeom prst="ellipse">
            <a:avLst/>
          </a:prstGeom>
        </p:spPr>
      </p:pic>
      <p:sp>
        <p:nvSpPr>
          <p:cNvPr id="11" name="Rectangle 10">
            <a:extLst>
              <a:ext uri="{FF2B5EF4-FFF2-40B4-BE49-F238E27FC236}">
                <a16:creationId xmlns:a16="http://schemas.microsoft.com/office/drawing/2014/main" id="{1BD93AD8-C93A-8E14-82BA-EDF642206B10}"/>
              </a:ext>
            </a:extLst>
          </p:cNvPr>
          <p:cNvSpPr/>
          <p:nvPr userDrawn="1"/>
        </p:nvSpPr>
        <p:spPr>
          <a:xfrm>
            <a:off x="1075034" y="1313560"/>
            <a:ext cx="1301929" cy="178559"/>
          </a:xfrm>
          <a:prstGeom prst="rect">
            <a:avLst/>
          </a:prstGeom>
          <a:solidFill>
            <a:srgbClr val="75B92A"/>
          </a:solidFill>
          <a:ln>
            <a:solidFill>
              <a:srgbClr val="75B9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EE881D9B-DE09-5CBB-ADFD-4885D056B672}"/>
              </a:ext>
            </a:extLst>
          </p:cNvPr>
          <p:cNvPicPr>
            <a:picLocks noChangeAspect="1"/>
          </p:cNvPicPr>
          <p:nvPr userDrawn="1"/>
        </p:nvPicPr>
        <p:blipFill rotWithShape="1">
          <a:blip r:embed="rId2"/>
          <a:srcRect l="12363" t="14585" r="78669" b="64801"/>
          <a:stretch/>
        </p:blipFill>
        <p:spPr>
          <a:xfrm>
            <a:off x="6253168" y="2060697"/>
            <a:ext cx="1093493" cy="1092200"/>
          </a:xfrm>
          <a:prstGeom prst="ellipse">
            <a:avLst/>
          </a:prstGeom>
        </p:spPr>
      </p:pic>
      <p:pic>
        <p:nvPicPr>
          <p:cNvPr id="16" name="Picture 15">
            <a:extLst>
              <a:ext uri="{FF2B5EF4-FFF2-40B4-BE49-F238E27FC236}">
                <a16:creationId xmlns:a16="http://schemas.microsoft.com/office/drawing/2014/main" id="{E9330180-21FC-BE57-1A26-31A7037D7E09}"/>
              </a:ext>
            </a:extLst>
          </p:cNvPr>
          <p:cNvPicPr>
            <a:picLocks noChangeAspect="1"/>
          </p:cNvPicPr>
          <p:nvPr userDrawn="1"/>
        </p:nvPicPr>
        <p:blipFill rotWithShape="1">
          <a:blip r:embed="rId2"/>
          <a:srcRect l="12363" t="14585" r="78669" b="64801"/>
          <a:stretch/>
        </p:blipFill>
        <p:spPr>
          <a:xfrm>
            <a:off x="6301291" y="4239213"/>
            <a:ext cx="1093493" cy="1092200"/>
          </a:xfrm>
          <a:prstGeom prst="ellipse">
            <a:avLst/>
          </a:prstGeom>
        </p:spPr>
      </p:pic>
      <p:pic>
        <p:nvPicPr>
          <p:cNvPr id="17" name="Picture 16">
            <a:extLst>
              <a:ext uri="{FF2B5EF4-FFF2-40B4-BE49-F238E27FC236}">
                <a16:creationId xmlns:a16="http://schemas.microsoft.com/office/drawing/2014/main" id="{2F31A59D-D74C-EAB6-4AD8-D8E1AF0374FA}"/>
              </a:ext>
            </a:extLst>
          </p:cNvPr>
          <p:cNvPicPr>
            <a:picLocks noChangeAspect="1"/>
          </p:cNvPicPr>
          <p:nvPr userDrawn="1"/>
        </p:nvPicPr>
        <p:blipFill rotWithShape="1">
          <a:blip r:embed="rId2"/>
          <a:srcRect l="12363" t="14585" r="78669" b="64801"/>
          <a:stretch/>
        </p:blipFill>
        <p:spPr>
          <a:xfrm>
            <a:off x="1124674" y="4288647"/>
            <a:ext cx="1093493" cy="1092200"/>
          </a:xfrm>
          <a:prstGeom prst="ellipse">
            <a:avLst/>
          </a:prstGeom>
        </p:spPr>
      </p:pic>
      <p:sp>
        <p:nvSpPr>
          <p:cNvPr id="27" name="Oval 26">
            <a:extLst>
              <a:ext uri="{FF2B5EF4-FFF2-40B4-BE49-F238E27FC236}">
                <a16:creationId xmlns:a16="http://schemas.microsoft.com/office/drawing/2014/main" id="{2583DE9F-2980-0332-4DEA-44C079D6C1D7}"/>
              </a:ext>
            </a:extLst>
          </p:cNvPr>
          <p:cNvSpPr/>
          <p:nvPr userDrawn="1"/>
        </p:nvSpPr>
        <p:spPr>
          <a:xfrm>
            <a:off x="11158501" y="5969389"/>
            <a:ext cx="700148" cy="671774"/>
          </a:xfrm>
          <a:prstGeom prst="ellipse">
            <a:avLst/>
          </a:prstGeom>
          <a:solidFill>
            <a:srgbClr val="75B9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1200" b="1">
              <a:latin typeface="Arial" panose="020B0604020202020204" pitchFamily="34" charset="0"/>
              <a:cs typeface="Arial" panose="020B0604020202020204" pitchFamily="34" charset="0"/>
            </a:endParaRPr>
          </a:p>
        </p:txBody>
      </p:sp>
      <p:sp>
        <p:nvSpPr>
          <p:cNvPr id="34" name="Picture Placeholder 33">
            <a:extLst>
              <a:ext uri="{FF2B5EF4-FFF2-40B4-BE49-F238E27FC236}">
                <a16:creationId xmlns:a16="http://schemas.microsoft.com/office/drawing/2014/main" id="{10D090FD-9074-C754-2058-A90B03416A19}"/>
              </a:ext>
            </a:extLst>
          </p:cNvPr>
          <p:cNvSpPr>
            <a:spLocks noGrp="1"/>
          </p:cNvSpPr>
          <p:nvPr>
            <p:ph type="pic" sz="quarter" idx="11"/>
          </p:nvPr>
        </p:nvSpPr>
        <p:spPr>
          <a:xfrm>
            <a:off x="6265863" y="2073026"/>
            <a:ext cx="1185000" cy="1152525"/>
          </a:xfrm>
        </p:spPr>
        <p:txBody>
          <a:bodyPr>
            <a:normAutofit/>
          </a:bodyPr>
          <a:lstStyle>
            <a:lvl1pPr>
              <a:defRPr sz="1000"/>
            </a:lvl1pPr>
          </a:lstStyle>
          <a:p>
            <a:endParaRPr lang="el-GR"/>
          </a:p>
        </p:txBody>
      </p:sp>
      <p:sp>
        <p:nvSpPr>
          <p:cNvPr id="36" name="Picture Placeholder 35">
            <a:extLst>
              <a:ext uri="{FF2B5EF4-FFF2-40B4-BE49-F238E27FC236}">
                <a16:creationId xmlns:a16="http://schemas.microsoft.com/office/drawing/2014/main" id="{B9AD1F61-9C7D-1343-9657-1CE17BCCE665}"/>
              </a:ext>
            </a:extLst>
          </p:cNvPr>
          <p:cNvSpPr>
            <a:spLocks noGrp="1"/>
          </p:cNvSpPr>
          <p:nvPr>
            <p:ph type="pic" sz="quarter" idx="12"/>
          </p:nvPr>
        </p:nvSpPr>
        <p:spPr>
          <a:xfrm>
            <a:off x="1092200" y="2105025"/>
            <a:ext cx="1125538" cy="1112838"/>
          </a:xfrm>
        </p:spPr>
        <p:txBody>
          <a:bodyPr>
            <a:normAutofit/>
          </a:bodyPr>
          <a:lstStyle>
            <a:lvl1pPr>
              <a:defRPr sz="1000"/>
            </a:lvl1pPr>
          </a:lstStyle>
          <a:p>
            <a:endParaRPr lang="el-GR"/>
          </a:p>
        </p:txBody>
      </p:sp>
      <p:sp>
        <p:nvSpPr>
          <p:cNvPr id="38" name="Picture Placeholder 37">
            <a:extLst>
              <a:ext uri="{FF2B5EF4-FFF2-40B4-BE49-F238E27FC236}">
                <a16:creationId xmlns:a16="http://schemas.microsoft.com/office/drawing/2014/main" id="{F1BA01EB-36BF-FC9F-0EF2-3F56D96A51FA}"/>
              </a:ext>
            </a:extLst>
          </p:cNvPr>
          <p:cNvSpPr>
            <a:spLocks noGrp="1"/>
          </p:cNvSpPr>
          <p:nvPr>
            <p:ph type="pic" sz="quarter" idx="13"/>
          </p:nvPr>
        </p:nvSpPr>
        <p:spPr>
          <a:xfrm>
            <a:off x="1075034" y="4289425"/>
            <a:ext cx="1185566" cy="1125538"/>
          </a:xfrm>
        </p:spPr>
        <p:txBody>
          <a:bodyPr>
            <a:normAutofit/>
          </a:bodyPr>
          <a:lstStyle>
            <a:lvl1pPr>
              <a:defRPr sz="1000"/>
            </a:lvl1pPr>
          </a:lstStyle>
          <a:p>
            <a:endParaRPr lang="el-GR"/>
          </a:p>
        </p:txBody>
      </p:sp>
      <p:sp>
        <p:nvSpPr>
          <p:cNvPr id="40" name="Picture Placeholder 39">
            <a:extLst>
              <a:ext uri="{FF2B5EF4-FFF2-40B4-BE49-F238E27FC236}">
                <a16:creationId xmlns:a16="http://schemas.microsoft.com/office/drawing/2014/main" id="{8D931880-5449-3616-2512-590492FEDF1F}"/>
              </a:ext>
            </a:extLst>
          </p:cNvPr>
          <p:cNvSpPr>
            <a:spLocks noGrp="1"/>
          </p:cNvSpPr>
          <p:nvPr>
            <p:ph type="pic" sz="quarter" idx="14"/>
          </p:nvPr>
        </p:nvSpPr>
        <p:spPr>
          <a:xfrm>
            <a:off x="6265862" y="4186238"/>
            <a:ext cx="1185001" cy="1228725"/>
          </a:xfrm>
        </p:spPr>
        <p:txBody>
          <a:bodyPr>
            <a:normAutofit/>
          </a:bodyPr>
          <a:lstStyle>
            <a:lvl1pPr>
              <a:defRPr sz="1000"/>
            </a:lvl1pPr>
          </a:lstStyle>
          <a:p>
            <a:endParaRPr lang="el-GR"/>
          </a:p>
        </p:txBody>
      </p:sp>
      <p:sp>
        <p:nvSpPr>
          <p:cNvPr id="3" name="Text Placeholder 2">
            <a:extLst>
              <a:ext uri="{FF2B5EF4-FFF2-40B4-BE49-F238E27FC236}">
                <a16:creationId xmlns:a16="http://schemas.microsoft.com/office/drawing/2014/main" id="{CCFD099A-2EE7-3184-19B1-6129F49E5BFA}"/>
              </a:ext>
            </a:extLst>
          </p:cNvPr>
          <p:cNvSpPr>
            <a:spLocks noGrp="1"/>
          </p:cNvSpPr>
          <p:nvPr>
            <p:ph type="body" sz="quarter" idx="15" hasCustomPrompt="1"/>
          </p:nvPr>
        </p:nvSpPr>
        <p:spPr>
          <a:xfrm>
            <a:off x="2667917" y="2105463"/>
            <a:ext cx="2295368" cy="1111250"/>
          </a:xfrm>
        </p:spPr>
        <p:txBody>
          <a:bodyPr>
            <a:noAutofit/>
          </a:bodyPr>
          <a:lstStyle>
            <a:lvl1pPr marL="0" indent="0">
              <a:buFont typeface="Arial" panose="020B0604020202020204" pitchFamily="34" charset="0"/>
              <a:buNone/>
              <a:defRPr sz="1400" b="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Lorem ipsum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sit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amet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consectetuer</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adipiscing</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elit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sed</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diam</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nonummy</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nibh</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euismod</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tincidunt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laoreet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dolore magna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aliquam</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erat</a:t>
            </a:r>
            <a:endParaRPr kumimoji="0" lang="en-GR" sz="1400" b="1" i="0" u="none" strike="noStrike" kern="1200" cap="none" spc="0" normalizeH="0" baseline="0" noProof="0">
              <a:ln>
                <a:noFill/>
              </a:ln>
              <a:solidFill>
                <a:srgbClr val="2E5684"/>
              </a:solidFill>
              <a:effectLst/>
              <a:uLnTx/>
              <a:uFillTx/>
              <a:ea typeface="+mn-ea"/>
              <a:cs typeface="Arial" panose="020B0604020202020204" pitchFamily="34" charset="0"/>
            </a:endParaRPr>
          </a:p>
          <a:p>
            <a:pPr lvl="0"/>
            <a:endParaRPr lang="el-GR"/>
          </a:p>
        </p:txBody>
      </p:sp>
      <p:sp>
        <p:nvSpPr>
          <p:cNvPr id="4" name="Text Placeholder 2">
            <a:extLst>
              <a:ext uri="{FF2B5EF4-FFF2-40B4-BE49-F238E27FC236}">
                <a16:creationId xmlns:a16="http://schemas.microsoft.com/office/drawing/2014/main" id="{11FF63CA-7019-AB67-0DFC-F1B9263A537D}"/>
              </a:ext>
            </a:extLst>
          </p:cNvPr>
          <p:cNvSpPr>
            <a:spLocks noGrp="1"/>
          </p:cNvSpPr>
          <p:nvPr>
            <p:ph type="body" sz="quarter" idx="16" hasCustomPrompt="1"/>
          </p:nvPr>
        </p:nvSpPr>
        <p:spPr>
          <a:xfrm>
            <a:off x="2667917" y="4296394"/>
            <a:ext cx="2295368" cy="1111250"/>
          </a:xfrm>
        </p:spPr>
        <p:txBody>
          <a:bodyPr>
            <a:noAutofit/>
          </a:bodyPr>
          <a:lstStyle>
            <a:lvl1pPr marL="0" indent="0">
              <a:buFont typeface="Arial" panose="020B0604020202020204" pitchFamily="34" charset="0"/>
              <a:buNone/>
              <a:defRPr sz="1400" b="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Lorem ipsum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sit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amet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consectetuer</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adipiscing</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elit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sed</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diam</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nonummy</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nibh</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euismod</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tincidunt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laoreet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dolore magna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aliquam</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erat</a:t>
            </a:r>
            <a:endParaRPr kumimoji="0" lang="en-GR" sz="1400" b="1" i="0" u="none" strike="noStrike" kern="1200" cap="none" spc="0" normalizeH="0" baseline="0" noProof="0">
              <a:ln>
                <a:noFill/>
              </a:ln>
              <a:solidFill>
                <a:srgbClr val="2E5684"/>
              </a:solidFill>
              <a:effectLst/>
              <a:uLnTx/>
              <a:uFillTx/>
              <a:ea typeface="+mn-ea"/>
              <a:cs typeface="Arial" panose="020B0604020202020204" pitchFamily="34" charset="0"/>
            </a:endParaRPr>
          </a:p>
          <a:p>
            <a:pPr lvl="0"/>
            <a:endParaRPr lang="el-GR"/>
          </a:p>
        </p:txBody>
      </p:sp>
      <p:sp>
        <p:nvSpPr>
          <p:cNvPr id="5" name="Text Placeholder 2">
            <a:extLst>
              <a:ext uri="{FF2B5EF4-FFF2-40B4-BE49-F238E27FC236}">
                <a16:creationId xmlns:a16="http://schemas.microsoft.com/office/drawing/2014/main" id="{937DDE8E-EE97-9EDB-A72F-0847F2734629}"/>
              </a:ext>
            </a:extLst>
          </p:cNvPr>
          <p:cNvSpPr>
            <a:spLocks noGrp="1"/>
          </p:cNvSpPr>
          <p:nvPr>
            <p:ph type="body" sz="quarter" idx="17" hasCustomPrompt="1"/>
          </p:nvPr>
        </p:nvSpPr>
        <p:spPr>
          <a:xfrm>
            <a:off x="7939362" y="2093663"/>
            <a:ext cx="2295368" cy="1111250"/>
          </a:xfrm>
        </p:spPr>
        <p:txBody>
          <a:bodyPr>
            <a:noAutofit/>
          </a:bodyPr>
          <a:lstStyle>
            <a:lvl1pPr marL="0" indent="0">
              <a:buFont typeface="Arial" panose="020B0604020202020204" pitchFamily="34" charset="0"/>
              <a:buNone/>
              <a:defRPr sz="1400" b="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Lorem ipsum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sit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amet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consectetuer</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adipiscing</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elit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sed</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diam</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nonummy</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nibh</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euismod</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tincidunt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laoreet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dolore magna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aliquam</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erat</a:t>
            </a:r>
            <a:endParaRPr kumimoji="0" lang="en-GR" sz="1400" b="1" i="0" u="none" strike="noStrike" kern="1200" cap="none" spc="0" normalizeH="0" baseline="0" noProof="0">
              <a:ln>
                <a:noFill/>
              </a:ln>
              <a:solidFill>
                <a:srgbClr val="2E5684"/>
              </a:solidFill>
              <a:effectLst/>
              <a:uLnTx/>
              <a:uFillTx/>
              <a:ea typeface="+mn-ea"/>
              <a:cs typeface="Arial" panose="020B0604020202020204" pitchFamily="34" charset="0"/>
            </a:endParaRPr>
          </a:p>
          <a:p>
            <a:pPr lvl="0"/>
            <a:endParaRPr lang="el-GR"/>
          </a:p>
        </p:txBody>
      </p:sp>
      <p:sp>
        <p:nvSpPr>
          <p:cNvPr id="6" name="Text Placeholder 2">
            <a:extLst>
              <a:ext uri="{FF2B5EF4-FFF2-40B4-BE49-F238E27FC236}">
                <a16:creationId xmlns:a16="http://schemas.microsoft.com/office/drawing/2014/main" id="{FD3639E1-31E2-C76A-19F1-64532F4CB13A}"/>
              </a:ext>
            </a:extLst>
          </p:cNvPr>
          <p:cNvSpPr>
            <a:spLocks noGrp="1"/>
          </p:cNvSpPr>
          <p:nvPr>
            <p:ph type="body" sz="quarter" idx="18" hasCustomPrompt="1"/>
          </p:nvPr>
        </p:nvSpPr>
        <p:spPr>
          <a:xfrm>
            <a:off x="7939362" y="4186238"/>
            <a:ext cx="2295368" cy="1111250"/>
          </a:xfrm>
        </p:spPr>
        <p:txBody>
          <a:bodyPr>
            <a:noAutofit/>
          </a:bodyPr>
          <a:lstStyle>
            <a:lvl1pPr marL="0" indent="0">
              <a:buFont typeface="Arial" panose="020B0604020202020204" pitchFamily="34" charset="0"/>
              <a:buNone/>
              <a:defRPr sz="1400" b="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Lorem ipsum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sit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amet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consectetuer</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adipiscing</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elit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sed</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diam</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nonummy</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nibh</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euismod</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tincidunt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laoreet</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dolore magna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aliquam</a:t>
            </a:r>
            <a:r>
              <a:rPr kumimoji="0" lang="en-GB" sz="1400" b="1"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1" i="0" u="none" strike="noStrike" kern="1200" cap="none" spc="0" normalizeH="0" baseline="0" noProof="0" err="1">
                <a:ln>
                  <a:noFill/>
                </a:ln>
                <a:solidFill>
                  <a:srgbClr val="2E5684"/>
                </a:solidFill>
                <a:effectLst/>
                <a:uLnTx/>
                <a:uFillTx/>
                <a:ea typeface="+mn-ea"/>
                <a:cs typeface="Arial" panose="020B0604020202020204" pitchFamily="34" charset="0"/>
              </a:rPr>
              <a:t>erat</a:t>
            </a:r>
            <a:endParaRPr kumimoji="0" lang="en-GR" sz="1400" b="1" i="0" u="none" strike="noStrike" kern="1200" cap="none" spc="0" normalizeH="0" baseline="0" noProof="0">
              <a:ln>
                <a:noFill/>
              </a:ln>
              <a:solidFill>
                <a:srgbClr val="2E5684"/>
              </a:solidFill>
              <a:effectLst/>
              <a:uLnTx/>
              <a:uFillTx/>
              <a:ea typeface="+mn-ea"/>
              <a:cs typeface="Arial" panose="020B0604020202020204" pitchFamily="34" charset="0"/>
            </a:endParaRPr>
          </a:p>
          <a:p>
            <a:pPr lvl="0"/>
            <a:endParaRPr lang="el-GR"/>
          </a:p>
        </p:txBody>
      </p:sp>
      <p:sp>
        <p:nvSpPr>
          <p:cNvPr id="28" name="Text Placeholder 35">
            <a:extLst>
              <a:ext uri="{FF2B5EF4-FFF2-40B4-BE49-F238E27FC236}">
                <a16:creationId xmlns:a16="http://schemas.microsoft.com/office/drawing/2014/main" id="{A7A484A8-FDF4-409A-C722-3713B3BAA4C5}"/>
              </a:ext>
            </a:extLst>
          </p:cNvPr>
          <p:cNvSpPr>
            <a:spLocks noGrp="1"/>
          </p:cNvSpPr>
          <p:nvPr>
            <p:ph type="body" sz="quarter" idx="20" hasCustomPrompt="1"/>
          </p:nvPr>
        </p:nvSpPr>
        <p:spPr>
          <a:xfrm>
            <a:off x="1066220" y="558709"/>
            <a:ext cx="1952625" cy="541338"/>
          </a:xfrm>
        </p:spPr>
        <p:txBody>
          <a:bodyPr>
            <a:normAutofit/>
          </a:bodyPr>
          <a:lstStyle>
            <a:lvl1pPr marL="0" indent="0" algn="l">
              <a:buNone/>
              <a:defRPr sz="3200" b="0">
                <a:solidFill>
                  <a:schemeClr val="tx2"/>
                </a:solidFill>
              </a:defRPr>
            </a:lvl1pPr>
          </a:lstStyle>
          <a:p>
            <a:pPr lvl="0"/>
            <a:r>
              <a:rPr lang="en-US"/>
              <a:t>Subtitle</a:t>
            </a:r>
            <a:endParaRPr lang="el-GR"/>
          </a:p>
        </p:txBody>
      </p:sp>
      <p:sp>
        <p:nvSpPr>
          <p:cNvPr id="30" name="Text Placeholder 29">
            <a:extLst>
              <a:ext uri="{FF2B5EF4-FFF2-40B4-BE49-F238E27FC236}">
                <a16:creationId xmlns:a16="http://schemas.microsoft.com/office/drawing/2014/main" id="{35CADBFC-B0DC-92C5-7A1F-945B3DB0E9AD}"/>
              </a:ext>
            </a:extLst>
          </p:cNvPr>
          <p:cNvSpPr>
            <a:spLocks noGrp="1"/>
          </p:cNvSpPr>
          <p:nvPr>
            <p:ph type="body" sz="quarter" idx="21" hasCustomPrompt="1"/>
          </p:nvPr>
        </p:nvSpPr>
        <p:spPr>
          <a:xfrm>
            <a:off x="1084224" y="3292475"/>
            <a:ext cx="1185001" cy="273050"/>
          </a:xfrm>
        </p:spPr>
        <p:txBody>
          <a:bodyPr>
            <a:noAutofit/>
          </a:bodyPr>
          <a:lstStyle>
            <a:lvl1pPr marL="0" indent="0">
              <a:buNone/>
              <a:defRPr sz="1400" b="1">
                <a:solidFill>
                  <a:srgbClr val="2E5684"/>
                </a:solidFill>
              </a:defRPr>
            </a:lvl1pPr>
            <a:lvl2pPr>
              <a:defRPr sz="800"/>
            </a:lvl2pPr>
            <a:lvl3pPr>
              <a:defRPr sz="700"/>
            </a:lvl3pPr>
            <a:lvl4pPr>
              <a:defRPr sz="600"/>
            </a:lvl4pPr>
            <a:lvl5pPr>
              <a:defRPr sz="600"/>
            </a:lvl5pPr>
          </a:lstStyle>
          <a:p>
            <a:pPr lvl="0"/>
            <a:r>
              <a:rPr lang="en-US"/>
              <a:t>Lorem ipsum</a:t>
            </a:r>
            <a:endParaRPr lang="el-GR"/>
          </a:p>
        </p:txBody>
      </p:sp>
      <p:sp>
        <p:nvSpPr>
          <p:cNvPr id="31" name="Text Placeholder 29">
            <a:extLst>
              <a:ext uri="{FF2B5EF4-FFF2-40B4-BE49-F238E27FC236}">
                <a16:creationId xmlns:a16="http://schemas.microsoft.com/office/drawing/2014/main" id="{E2A44331-0896-6A54-6446-22CB815D293D}"/>
              </a:ext>
            </a:extLst>
          </p:cNvPr>
          <p:cNvSpPr>
            <a:spLocks noGrp="1"/>
          </p:cNvSpPr>
          <p:nvPr>
            <p:ph type="body" sz="quarter" idx="22" hasCustomPrompt="1"/>
          </p:nvPr>
        </p:nvSpPr>
        <p:spPr>
          <a:xfrm>
            <a:off x="6263241" y="3298205"/>
            <a:ext cx="1185001" cy="273050"/>
          </a:xfrm>
        </p:spPr>
        <p:txBody>
          <a:bodyPr>
            <a:noAutofit/>
          </a:bodyPr>
          <a:lstStyle>
            <a:lvl1pPr marL="0" indent="0">
              <a:buNone/>
              <a:defRPr sz="1400" b="1">
                <a:solidFill>
                  <a:srgbClr val="2E5684"/>
                </a:solidFill>
              </a:defRPr>
            </a:lvl1pPr>
            <a:lvl2pPr>
              <a:defRPr sz="800"/>
            </a:lvl2pPr>
            <a:lvl3pPr>
              <a:defRPr sz="700"/>
            </a:lvl3pPr>
            <a:lvl4pPr>
              <a:defRPr sz="600"/>
            </a:lvl4pPr>
            <a:lvl5pPr>
              <a:defRPr sz="600"/>
            </a:lvl5pPr>
          </a:lstStyle>
          <a:p>
            <a:pPr lvl="0"/>
            <a:r>
              <a:rPr lang="en-US"/>
              <a:t>Lorem ipsum</a:t>
            </a:r>
            <a:endParaRPr lang="el-GR"/>
          </a:p>
        </p:txBody>
      </p:sp>
      <p:sp>
        <p:nvSpPr>
          <p:cNvPr id="32" name="Text Placeholder 29">
            <a:extLst>
              <a:ext uri="{FF2B5EF4-FFF2-40B4-BE49-F238E27FC236}">
                <a16:creationId xmlns:a16="http://schemas.microsoft.com/office/drawing/2014/main" id="{366C79B2-1CCB-DD0D-EC14-6806C0488B31}"/>
              </a:ext>
            </a:extLst>
          </p:cNvPr>
          <p:cNvSpPr>
            <a:spLocks noGrp="1"/>
          </p:cNvSpPr>
          <p:nvPr>
            <p:ph type="body" sz="quarter" idx="23" hasCustomPrompt="1"/>
          </p:nvPr>
        </p:nvSpPr>
        <p:spPr>
          <a:xfrm>
            <a:off x="1075034" y="5482852"/>
            <a:ext cx="1185001" cy="273050"/>
          </a:xfrm>
        </p:spPr>
        <p:txBody>
          <a:bodyPr>
            <a:noAutofit/>
          </a:bodyPr>
          <a:lstStyle>
            <a:lvl1pPr marL="0" indent="0">
              <a:buNone/>
              <a:defRPr sz="1400" b="1">
                <a:solidFill>
                  <a:srgbClr val="2E5684"/>
                </a:solidFill>
              </a:defRPr>
            </a:lvl1pPr>
            <a:lvl2pPr>
              <a:defRPr sz="800"/>
            </a:lvl2pPr>
            <a:lvl3pPr>
              <a:defRPr sz="700"/>
            </a:lvl3pPr>
            <a:lvl4pPr>
              <a:defRPr sz="600"/>
            </a:lvl4pPr>
            <a:lvl5pPr>
              <a:defRPr sz="600"/>
            </a:lvl5pPr>
          </a:lstStyle>
          <a:p>
            <a:pPr lvl="0"/>
            <a:r>
              <a:rPr lang="en-US"/>
              <a:t>Lorem ipsum</a:t>
            </a:r>
            <a:endParaRPr lang="el-GR"/>
          </a:p>
        </p:txBody>
      </p:sp>
      <p:sp>
        <p:nvSpPr>
          <p:cNvPr id="33" name="Text Placeholder 29">
            <a:extLst>
              <a:ext uri="{FF2B5EF4-FFF2-40B4-BE49-F238E27FC236}">
                <a16:creationId xmlns:a16="http://schemas.microsoft.com/office/drawing/2014/main" id="{D60FF338-A825-4D87-189C-0E2EF7FE2329}"/>
              </a:ext>
            </a:extLst>
          </p:cNvPr>
          <p:cNvSpPr>
            <a:spLocks noGrp="1"/>
          </p:cNvSpPr>
          <p:nvPr>
            <p:ph type="body" sz="quarter" idx="24" hasCustomPrompt="1"/>
          </p:nvPr>
        </p:nvSpPr>
        <p:spPr>
          <a:xfrm>
            <a:off x="6258838" y="5485068"/>
            <a:ext cx="1185001" cy="273050"/>
          </a:xfrm>
        </p:spPr>
        <p:txBody>
          <a:bodyPr>
            <a:noAutofit/>
          </a:bodyPr>
          <a:lstStyle>
            <a:lvl1pPr marL="0" indent="0">
              <a:buNone/>
              <a:defRPr sz="1400" b="1">
                <a:solidFill>
                  <a:srgbClr val="2E5684"/>
                </a:solidFill>
              </a:defRPr>
            </a:lvl1pPr>
            <a:lvl2pPr>
              <a:defRPr sz="800"/>
            </a:lvl2pPr>
            <a:lvl3pPr>
              <a:defRPr sz="700"/>
            </a:lvl3pPr>
            <a:lvl4pPr>
              <a:defRPr sz="600"/>
            </a:lvl4pPr>
            <a:lvl5pPr>
              <a:defRPr sz="600"/>
            </a:lvl5pPr>
          </a:lstStyle>
          <a:p>
            <a:pPr lvl="0"/>
            <a:r>
              <a:rPr lang="en-US"/>
              <a:t>Lorem ipsum</a:t>
            </a:r>
            <a:endParaRPr lang="el-GR"/>
          </a:p>
        </p:txBody>
      </p:sp>
      <p:sp>
        <p:nvSpPr>
          <p:cNvPr id="37" name="Text Placeholder 29">
            <a:extLst>
              <a:ext uri="{FF2B5EF4-FFF2-40B4-BE49-F238E27FC236}">
                <a16:creationId xmlns:a16="http://schemas.microsoft.com/office/drawing/2014/main" id="{B9A0DAAA-9760-8EBC-CCCA-4601FCF07926}"/>
              </a:ext>
            </a:extLst>
          </p:cNvPr>
          <p:cNvSpPr>
            <a:spLocks noGrp="1"/>
          </p:cNvSpPr>
          <p:nvPr>
            <p:ph type="body" sz="quarter" idx="25" hasCustomPrompt="1"/>
          </p:nvPr>
        </p:nvSpPr>
        <p:spPr>
          <a:xfrm>
            <a:off x="1091622" y="3632386"/>
            <a:ext cx="1686084" cy="244811"/>
          </a:xfrm>
        </p:spPr>
        <p:txBody>
          <a:bodyPr>
            <a:noAutofit/>
          </a:bodyPr>
          <a:lstStyle>
            <a:lvl1pPr marL="0" indent="0">
              <a:buNone/>
              <a:defRPr sz="1400" b="0">
                <a:solidFill>
                  <a:srgbClr val="2E5684"/>
                </a:solidFill>
              </a:defRPr>
            </a:lvl1pPr>
            <a:lvl2pPr>
              <a:defRPr sz="800"/>
            </a:lvl2pPr>
            <a:lvl3pPr>
              <a:defRPr sz="700"/>
            </a:lvl3pPr>
            <a:lvl4pPr>
              <a:defRPr sz="600"/>
            </a:lvl4pPr>
            <a:lvl5pPr>
              <a:defRPr sz="600"/>
            </a:lvl5pPr>
          </a:lstStyle>
          <a:p>
            <a:pPr lvl="0"/>
            <a:r>
              <a:rPr lang="en-US"/>
              <a:t>Lorem ipsum dolor</a:t>
            </a:r>
          </a:p>
        </p:txBody>
      </p:sp>
      <p:sp>
        <p:nvSpPr>
          <p:cNvPr id="39" name="Text Placeholder 29">
            <a:extLst>
              <a:ext uri="{FF2B5EF4-FFF2-40B4-BE49-F238E27FC236}">
                <a16:creationId xmlns:a16="http://schemas.microsoft.com/office/drawing/2014/main" id="{BBEEE455-8B67-520A-5F95-DD8A0074BCCD}"/>
              </a:ext>
            </a:extLst>
          </p:cNvPr>
          <p:cNvSpPr>
            <a:spLocks noGrp="1"/>
          </p:cNvSpPr>
          <p:nvPr>
            <p:ph type="body" sz="quarter" idx="26" hasCustomPrompt="1"/>
          </p:nvPr>
        </p:nvSpPr>
        <p:spPr>
          <a:xfrm>
            <a:off x="6265855" y="3641288"/>
            <a:ext cx="1686084" cy="244811"/>
          </a:xfrm>
        </p:spPr>
        <p:txBody>
          <a:bodyPr>
            <a:noAutofit/>
          </a:bodyPr>
          <a:lstStyle>
            <a:lvl1pPr marL="0" indent="0">
              <a:buNone/>
              <a:defRPr sz="1400" b="0">
                <a:solidFill>
                  <a:srgbClr val="2E5684"/>
                </a:solidFill>
              </a:defRPr>
            </a:lvl1pPr>
            <a:lvl2pPr>
              <a:defRPr sz="800"/>
            </a:lvl2pPr>
            <a:lvl3pPr>
              <a:defRPr sz="700"/>
            </a:lvl3pPr>
            <a:lvl4pPr>
              <a:defRPr sz="600"/>
            </a:lvl4pPr>
            <a:lvl5pPr>
              <a:defRPr sz="600"/>
            </a:lvl5pPr>
          </a:lstStyle>
          <a:p>
            <a:pPr lvl="0"/>
            <a:r>
              <a:rPr lang="en-US"/>
              <a:t>Lorem ipsum dolor</a:t>
            </a:r>
          </a:p>
        </p:txBody>
      </p:sp>
      <p:sp>
        <p:nvSpPr>
          <p:cNvPr id="41" name="Text Placeholder 29">
            <a:extLst>
              <a:ext uri="{FF2B5EF4-FFF2-40B4-BE49-F238E27FC236}">
                <a16:creationId xmlns:a16="http://schemas.microsoft.com/office/drawing/2014/main" id="{CE6ADC4C-BCFF-3860-CE6F-5D3DC55460FA}"/>
              </a:ext>
            </a:extLst>
          </p:cNvPr>
          <p:cNvSpPr>
            <a:spLocks noGrp="1"/>
          </p:cNvSpPr>
          <p:nvPr>
            <p:ph type="body" sz="quarter" idx="27" hasCustomPrompt="1"/>
          </p:nvPr>
        </p:nvSpPr>
        <p:spPr>
          <a:xfrm>
            <a:off x="1066220" y="5838357"/>
            <a:ext cx="1686084" cy="244811"/>
          </a:xfrm>
        </p:spPr>
        <p:txBody>
          <a:bodyPr>
            <a:noAutofit/>
          </a:bodyPr>
          <a:lstStyle>
            <a:lvl1pPr marL="0" indent="0">
              <a:buNone/>
              <a:defRPr sz="1400" b="0">
                <a:solidFill>
                  <a:srgbClr val="2E5684"/>
                </a:solidFill>
              </a:defRPr>
            </a:lvl1pPr>
            <a:lvl2pPr>
              <a:defRPr sz="800"/>
            </a:lvl2pPr>
            <a:lvl3pPr>
              <a:defRPr sz="700"/>
            </a:lvl3pPr>
            <a:lvl4pPr>
              <a:defRPr sz="600"/>
            </a:lvl4pPr>
            <a:lvl5pPr>
              <a:defRPr sz="600"/>
            </a:lvl5pPr>
          </a:lstStyle>
          <a:p>
            <a:pPr lvl="0"/>
            <a:r>
              <a:rPr lang="en-US"/>
              <a:t>Lorem ipsum dolor</a:t>
            </a:r>
          </a:p>
        </p:txBody>
      </p:sp>
      <p:sp>
        <p:nvSpPr>
          <p:cNvPr id="42" name="Text Placeholder 29">
            <a:extLst>
              <a:ext uri="{FF2B5EF4-FFF2-40B4-BE49-F238E27FC236}">
                <a16:creationId xmlns:a16="http://schemas.microsoft.com/office/drawing/2014/main" id="{CA05367C-FF51-785A-9D23-9B73CCB01698}"/>
              </a:ext>
            </a:extLst>
          </p:cNvPr>
          <p:cNvSpPr>
            <a:spLocks noGrp="1"/>
          </p:cNvSpPr>
          <p:nvPr>
            <p:ph type="body" sz="quarter" idx="28" hasCustomPrompt="1"/>
          </p:nvPr>
        </p:nvSpPr>
        <p:spPr>
          <a:xfrm>
            <a:off x="6257705" y="5834896"/>
            <a:ext cx="1686084" cy="244811"/>
          </a:xfrm>
        </p:spPr>
        <p:txBody>
          <a:bodyPr>
            <a:noAutofit/>
          </a:bodyPr>
          <a:lstStyle>
            <a:lvl1pPr marL="0" indent="0">
              <a:buNone/>
              <a:defRPr sz="1400" b="0">
                <a:solidFill>
                  <a:srgbClr val="2E5684"/>
                </a:solidFill>
              </a:defRPr>
            </a:lvl1pPr>
            <a:lvl2pPr>
              <a:defRPr sz="800"/>
            </a:lvl2pPr>
            <a:lvl3pPr>
              <a:defRPr sz="700"/>
            </a:lvl3pPr>
            <a:lvl4pPr>
              <a:defRPr sz="600"/>
            </a:lvl4pPr>
            <a:lvl5pPr>
              <a:defRPr sz="600"/>
            </a:lvl5pPr>
          </a:lstStyle>
          <a:p>
            <a:pPr lvl="0"/>
            <a:r>
              <a:rPr lang="en-US"/>
              <a:t>Lorem ipsum dolor</a:t>
            </a:r>
          </a:p>
        </p:txBody>
      </p:sp>
      <p:sp>
        <p:nvSpPr>
          <p:cNvPr id="10" name="Text Placeholder 2">
            <a:extLst>
              <a:ext uri="{FF2B5EF4-FFF2-40B4-BE49-F238E27FC236}">
                <a16:creationId xmlns:a16="http://schemas.microsoft.com/office/drawing/2014/main" id="{ECAA84A7-16D2-6385-683F-0D64AE6F433D}"/>
              </a:ext>
            </a:extLst>
          </p:cNvPr>
          <p:cNvSpPr>
            <a:spLocks noGrp="1"/>
          </p:cNvSpPr>
          <p:nvPr>
            <p:ph type="body" sz="quarter" idx="29" hasCustomPrompt="1"/>
          </p:nvPr>
        </p:nvSpPr>
        <p:spPr>
          <a:xfrm>
            <a:off x="996370" y="143036"/>
            <a:ext cx="4044950" cy="809625"/>
          </a:xfrm>
        </p:spPr>
        <p:txBody>
          <a:bodyPr>
            <a:normAutofit/>
          </a:bodyPr>
          <a:lstStyle>
            <a:lvl1pPr marL="0" indent="0">
              <a:buNone/>
              <a:defRPr sz="3200" b="1">
                <a:solidFill>
                  <a:srgbClr val="2E5684"/>
                </a:solidFill>
              </a:defRPr>
            </a:lvl1pPr>
          </a:lstStyle>
          <a:p>
            <a:pPr lvl="0"/>
            <a:r>
              <a:rPr lang="en-US"/>
              <a:t>Title</a:t>
            </a:r>
            <a:endParaRPr lang="el-GR"/>
          </a:p>
        </p:txBody>
      </p:sp>
      <p:sp>
        <p:nvSpPr>
          <p:cNvPr id="2" name="Slide Number Placeholder 14">
            <a:extLst>
              <a:ext uri="{FF2B5EF4-FFF2-40B4-BE49-F238E27FC236}">
                <a16:creationId xmlns:a16="http://schemas.microsoft.com/office/drawing/2014/main" id="{B9121F46-23CC-1F8D-610C-466A2B1E434C}"/>
              </a:ext>
            </a:extLst>
          </p:cNvPr>
          <p:cNvSpPr>
            <a:spLocks noGrp="1"/>
          </p:cNvSpPr>
          <p:nvPr>
            <p:ph type="sldNum" sz="quarter" idx="4"/>
          </p:nvPr>
        </p:nvSpPr>
        <p:spPr>
          <a:xfrm>
            <a:off x="8910781" y="6122713"/>
            <a:ext cx="2743200" cy="365125"/>
          </a:xfrm>
          <a:prstGeom prst="rect">
            <a:avLst/>
          </a:prstGeom>
        </p:spPr>
        <p:txBody>
          <a:bodyPr vert="horz" lIns="91440" tIns="45720" rIns="91440" bIns="45720" rtlCol="0" anchor="ctr"/>
          <a:lstStyle>
            <a:lvl1pPr algn="r">
              <a:defRPr sz="1200" b="1">
                <a:solidFill>
                  <a:schemeClr val="bg1"/>
                </a:solidFill>
              </a:defRPr>
            </a:lvl1pPr>
          </a:lstStyle>
          <a:p>
            <a:fld id="{134D5E84-50F9-4E8A-902D-8ADBB9AEA009}" type="slidenum">
              <a:rPr lang="el-GR" smtClean="0"/>
              <a:pPr/>
              <a:t>‹#›</a:t>
            </a:fld>
            <a:endParaRPr lang="el-GR"/>
          </a:p>
        </p:txBody>
      </p:sp>
    </p:spTree>
    <p:extLst>
      <p:ext uri="{BB962C8B-B14F-4D97-AF65-F5344CB8AC3E}">
        <p14:creationId xmlns:p14="http://schemas.microsoft.com/office/powerpoint/2010/main" val="1218902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7" name="Chart Placeholder 6">
            <a:extLst>
              <a:ext uri="{FF2B5EF4-FFF2-40B4-BE49-F238E27FC236}">
                <a16:creationId xmlns:a16="http://schemas.microsoft.com/office/drawing/2014/main" id="{3BE4FF75-C231-FFC6-731F-7AAD79603126}"/>
              </a:ext>
            </a:extLst>
          </p:cNvPr>
          <p:cNvSpPr>
            <a:spLocks noGrp="1"/>
          </p:cNvSpPr>
          <p:nvPr>
            <p:ph type="chart" sz="quarter" idx="13"/>
          </p:nvPr>
        </p:nvSpPr>
        <p:spPr>
          <a:xfrm>
            <a:off x="6093612" y="2484149"/>
            <a:ext cx="5414963" cy="2549525"/>
          </a:xfrm>
        </p:spPr>
        <p:txBody>
          <a:bodyPr/>
          <a:lstStyle/>
          <a:p>
            <a:endParaRPr lang="el-GR"/>
          </a:p>
        </p:txBody>
      </p:sp>
      <p:sp>
        <p:nvSpPr>
          <p:cNvPr id="8" name="Oval 7">
            <a:extLst>
              <a:ext uri="{FF2B5EF4-FFF2-40B4-BE49-F238E27FC236}">
                <a16:creationId xmlns:a16="http://schemas.microsoft.com/office/drawing/2014/main" id="{9591F509-90D7-5CBA-3FF2-EA3591A4FEA2}"/>
              </a:ext>
            </a:extLst>
          </p:cNvPr>
          <p:cNvSpPr/>
          <p:nvPr userDrawn="1"/>
        </p:nvSpPr>
        <p:spPr>
          <a:xfrm>
            <a:off x="11158501" y="5969389"/>
            <a:ext cx="700148" cy="671774"/>
          </a:xfrm>
          <a:prstGeom prst="ellipse">
            <a:avLst/>
          </a:prstGeom>
          <a:solidFill>
            <a:srgbClr val="75B9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1200" b="1">
              <a:latin typeface="Arial" panose="020B0604020202020204" pitchFamily="34" charset="0"/>
              <a:cs typeface="Arial" panose="020B0604020202020204" pitchFamily="34" charset="0"/>
            </a:endParaRPr>
          </a:p>
        </p:txBody>
      </p:sp>
      <p:sp>
        <p:nvSpPr>
          <p:cNvPr id="11" name="Text Placeholder 2">
            <a:extLst>
              <a:ext uri="{FF2B5EF4-FFF2-40B4-BE49-F238E27FC236}">
                <a16:creationId xmlns:a16="http://schemas.microsoft.com/office/drawing/2014/main" id="{A618EC7F-8290-1787-6C39-2CE864AF6AE9}"/>
              </a:ext>
            </a:extLst>
          </p:cNvPr>
          <p:cNvSpPr>
            <a:spLocks noGrp="1"/>
          </p:cNvSpPr>
          <p:nvPr>
            <p:ph type="body" sz="quarter" idx="10" hasCustomPrompt="1"/>
          </p:nvPr>
        </p:nvSpPr>
        <p:spPr>
          <a:xfrm>
            <a:off x="977500" y="420885"/>
            <a:ext cx="2274887" cy="301625"/>
          </a:xfrm>
        </p:spPr>
        <p:txBody>
          <a:bodyPr>
            <a:noAutofit/>
          </a:bodyPr>
          <a:lstStyle>
            <a:lvl1pPr marL="0" indent="0">
              <a:buNone/>
              <a:defRPr sz="3200" b="1">
                <a:solidFill>
                  <a:srgbClr val="2E5684"/>
                </a:solidFill>
              </a:defRPr>
            </a:lvl1pPr>
            <a:lvl2pPr>
              <a:defRPr b="1">
                <a:solidFill>
                  <a:srgbClr val="2E5684"/>
                </a:solidFill>
              </a:defRPr>
            </a:lvl2pPr>
            <a:lvl3pPr>
              <a:defRPr b="1">
                <a:solidFill>
                  <a:srgbClr val="2E5684"/>
                </a:solidFill>
              </a:defRPr>
            </a:lvl3pPr>
            <a:lvl4pPr>
              <a:defRPr b="1">
                <a:solidFill>
                  <a:srgbClr val="2E5684"/>
                </a:solidFill>
              </a:defRPr>
            </a:lvl4pPr>
            <a:lvl5pPr>
              <a:defRPr b="1">
                <a:solidFill>
                  <a:srgbClr val="2E5684"/>
                </a:solidFill>
              </a:defRPr>
            </a:lvl5pPr>
          </a:lstStyle>
          <a:p>
            <a:pPr lvl="0"/>
            <a:r>
              <a:rPr lang="en-US"/>
              <a:t>Title</a:t>
            </a:r>
            <a:endParaRPr lang="el-GR"/>
          </a:p>
        </p:txBody>
      </p:sp>
      <p:sp>
        <p:nvSpPr>
          <p:cNvPr id="14" name="Text Placeholder 4">
            <a:extLst>
              <a:ext uri="{FF2B5EF4-FFF2-40B4-BE49-F238E27FC236}">
                <a16:creationId xmlns:a16="http://schemas.microsoft.com/office/drawing/2014/main" id="{6A9D2056-4718-0AB7-7FD6-24C271BF0733}"/>
              </a:ext>
            </a:extLst>
          </p:cNvPr>
          <p:cNvSpPr>
            <a:spLocks noGrp="1"/>
          </p:cNvSpPr>
          <p:nvPr>
            <p:ph type="body" sz="quarter" idx="12" hasCustomPrompt="1"/>
          </p:nvPr>
        </p:nvSpPr>
        <p:spPr>
          <a:xfrm>
            <a:off x="935343" y="2459037"/>
            <a:ext cx="4628695" cy="2510127"/>
          </a:xfrm>
        </p:spPr>
        <p:txBody>
          <a:bodyPr/>
          <a:lstStyle>
            <a:lvl1pPr marL="0" indent="0">
              <a:buFont typeface="Arial" panose="020B0604020202020204" pitchFamily="34" charset="0"/>
              <a:buNone/>
              <a:defRPr sz="1400" baseline="0">
                <a:solidFill>
                  <a:schemeClr val="tx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Lorem ipsum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sit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amet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consectetuer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adipiscing</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sed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diam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nonummy</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nibh</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euismod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tincidunt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laoreet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dolore magna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aliquam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erat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volutpat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Ut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wisi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enim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ad minim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veniam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quis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nostrud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exerci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tation</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ullamcorper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suscipit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lobortis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nisl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aliquip</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ex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commodo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Duis autem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iriure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hendrerit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vulputate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esse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molestie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illum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feugiat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nulla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facilisis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vero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eros et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accumsan</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iusto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odio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dignissim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qui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blandit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praesent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luptatum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zzril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delenit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augue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duis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feugait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nulla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facilisi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a:t>
            </a:r>
            <a:endParaRPr kumimoji="0" lang="en-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lvl="0"/>
            <a:endParaRPr lang="el-GR"/>
          </a:p>
        </p:txBody>
      </p:sp>
      <p:sp>
        <p:nvSpPr>
          <p:cNvPr id="2" name="Rectangle 1">
            <a:extLst>
              <a:ext uri="{FF2B5EF4-FFF2-40B4-BE49-F238E27FC236}">
                <a16:creationId xmlns:a16="http://schemas.microsoft.com/office/drawing/2014/main" id="{00D46C25-ADFD-1B04-2E26-5C881DCF7986}"/>
              </a:ext>
            </a:extLst>
          </p:cNvPr>
          <p:cNvSpPr/>
          <p:nvPr userDrawn="1"/>
        </p:nvSpPr>
        <p:spPr>
          <a:xfrm>
            <a:off x="977500" y="1072936"/>
            <a:ext cx="1301929" cy="178559"/>
          </a:xfrm>
          <a:prstGeom prst="rect">
            <a:avLst/>
          </a:prstGeom>
          <a:solidFill>
            <a:srgbClr val="75B92A"/>
          </a:solidFill>
          <a:ln>
            <a:solidFill>
              <a:srgbClr val="75B9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14">
            <a:extLst>
              <a:ext uri="{FF2B5EF4-FFF2-40B4-BE49-F238E27FC236}">
                <a16:creationId xmlns:a16="http://schemas.microsoft.com/office/drawing/2014/main" id="{0BD12CDC-ECB0-8889-50FD-59CE03F20540}"/>
              </a:ext>
            </a:extLst>
          </p:cNvPr>
          <p:cNvSpPr>
            <a:spLocks noGrp="1"/>
          </p:cNvSpPr>
          <p:nvPr>
            <p:ph type="sldNum" sz="quarter" idx="4"/>
          </p:nvPr>
        </p:nvSpPr>
        <p:spPr>
          <a:xfrm>
            <a:off x="8910781" y="6122713"/>
            <a:ext cx="2743200" cy="365125"/>
          </a:xfrm>
          <a:prstGeom prst="rect">
            <a:avLst/>
          </a:prstGeom>
        </p:spPr>
        <p:txBody>
          <a:bodyPr vert="horz" lIns="91440" tIns="45720" rIns="91440" bIns="45720" rtlCol="0" anchor="ctr"/>
          <a:lstStyle>
            <a:lvl1pPr algn="r">
              <a:defRPr sz="1200" b="1">
                <a:solidFill>
                  <a:schemeClr val="bg1"/>
                </a:solidFill>
              </a:defRPr>
            </a:lvl1pPr>
          </a:lstStyle>
          <a:p>
            <a:fld id="{134D5E84-50F9-4E8A-902D-8ADBB9AEA009}" type="slidenum">
              <a:rPr lang="el-GR" smtClean="0"/>
              <a:pPr/>
              <a:t>‹#›</a:t>
            </a:fld>
            <a:endParaRPr lang="el-GR"/>
          </a:p>
        </p:txBody>
      </p:sp>
    </p:spTree>
    <p:extLst>
      <p:ext uri="{BB962C8B-B14F-4D97-AF65-F5344CB8AC3E}">
        <p14:creationId xmlns:p14="http://schemas.microsoft.com/office/powerpoint/2010/main" val="28332510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782792A8-1EB7-B63F-65D9-40C4E7246059}"/>
              </a:ext>
            </a:extLst>
          </p:cNvPr>
          <p:cNvSpPr/>
          <p:nvPr userDrawn="1"/>
        </p:nvSpPr>
        <p:spPr>
          <a:xfrm>
            <a:off x="379373" y="3903666"/>
            <a:ext cx="475961" cy="1954875"/>
          </a:xfrm>
          <a:prstGeom prst="roundRect">
            <a:avLst/>
          </a:prstGeom>
          <a:solidFill>
            <a:srgbClr val="F1F6FA"/>
          </a:solidFill>
          <a:ln>
            <a:solidFill>
              <a:srgbClr val="00206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l-GR" sz="1400"/>
          </a:p>
        </p:txBody>
      </p:sp>
      <p:sp>
        <p:nvSpPr>
          <p:cNvPr id="45" name="Text Placeholder 16">
            <a:extLst>
              <a:ext uri="{FF2B5EF4-FFF2-40B4-BE49-F238E27FC236}">
                <a16:creationId xmlns:a16="http://schemas.microsoft.com/office/drawing/2014/main" id="{25839B26-7C1A-FA93-75DA-B5D7416E0439}"/>
              </a:ext>
            </a:extLst>
          </p:cNvPr>
          <p:cNvSpPr>
            <a:spLocks noGrp="1"/>
          </p:cNvSpPr>
          <p:nvPr>
            <p:ph type="body" sz="quarter" idx="16" hasCustomPrompt="1"/>
          </p:nvPr>
        </p:nvSpPr>
        <p:spPr>
          <a:xfrm rot="16200000">
            <a:off x="-353798" y="4704121"/>
            <a:ext cx="1942302" cy="366538"/>
          </a:xfrm>
        </p:spPr>
        <p:txBody>
          <a:bodyPr>
            <a:noAutofit/>
          </a:bodyPr>
          <a:lstStyle>
            <a:lvl1pPr marL="0" indent="0" algn="ctr">
              <a:buNone/>
              <a:defRPr sz="2800" b="0">
                <a:solidFill>
                  <a:srgbClr val="2E5684"/>
                </a:solidFill>
              </a:defRPr>
            </a:lvl1pPr>
          </a:lstStyle>
          <a:p>
            <a:pPr lvl="0"/>
            <a:r>
              <a:rPr lang="en-US"/>
              <a:t>Subtitle 2</a:t>
            </a:r>
            <a:endParaRPr lang="el-GR"/>
          </a:p>
        </p:txBody>
      </p:sp>
      <p:sp>
        <p:nvSpPr>
          <p:cNvPr id="43" name="Rectangle: Rounded Corners 42">
            <a:extLst>
              <a:ext uri="{FF2B5EF4-FFF2-40B4-BE49-F238E27FC236}">
                <a16:creationId xmlns:a16="http://schemas.microsoft.com/office/drawing/2014/main" id="{98A72A02-C2C2-B808-6AEA-A0CA211B17C4}"/>
              </a:ext>
            </a:extLst>
          </p:cNvPr>
          <p:cNvSpPr/>
          <p:nvPr userDrawn="1"/>
        </p:nvSpPr>
        <p:spPr>
          <a:xfrm>
            <a:off x="382975" y="1644039"/>
            <a:ext cx="475962" cy="1911963"/>
          </a:xfrm>
          <a:prstGeom prst="roundRect">
            <a:avLst/>
          </a:prstGeom>
          <a:solidFill>
            <a:srgbClr val="F1F6FA"/>
          </a:solidFill>
          <a:ln>
            <a:solidFill>
              <a:srgbClr val="00206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l-GR">
              <a:solidFill>
                <a:srgbClr val="2E5684"/>
              </a:solidFill>
            </a:endParaRPr>
          </a:p>
        </p:txBody>
      </p:sp>
      <p:sp>
        <p:nvSpPr>
          <p:cNvPr id="6" name="Oval 5">
            <a:extLst>
              <a:ext uri="{FF2B5EF4-FFF2-40B4-BE49-F238E27FC236}">
                <a16:creationId xmlns:a16="http://schemas.microsoft.com/office/drawing/2014/main" id="{79AD876D-FD97-CEE7-2191-A755F6531460}"/>
              </a:ext>
            </a:extLst>
          </p:cNvPr>
          <p:cNvSpPr/>
          <p:nvPr userDrawn="1"/>
        </p:nvSpPr>
        <p:spPr>
          <a:xfrm>
            <a:off x="11158501" y="5969389"/>
            <a:ext cx="700148" cy="671774"/>
          </a:xfrm>
          <a:prstGeom prst="ellipse">
            <a:avLst/>
          </a:prstGeom>
          <a:solidFill>
            <a:srgbClr val="75B9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1200" b="1">
              <a:latin typeface="Arial" panose="020B0604020202020204" pitchFamily="34" charset="0"/>
              <a:cs typeface="Arial" panose="020B0604020202020204" pitchFamily="34" charset="0"/>
            </a:endParaRPr>
          </a:p>
        </p:txBody>
      </p:sp>
      <p:sp>
        <p:nvSpPr>
          <p:cNvPr id="10" name="Text Placeholder 2">
            <a:extLst>
              <a:ext uri="{FF2B5EF4-FFF2-40B4-BE49-F238E27FC236}">
                <a16:creationId xmlns:a16="http://schemas.microsoft.com/office/drawing/2014/main" id="{CF0B6C36-3695-0DE9-875A-4BA1E81089C4}"/>
              </a:ext>
            </a:extLst>
          </p:cNvPr>
          <p:cNvSpPr>
            <a:spLocks noGrp="1"/>
          </p:cNvSpPr>
          <p:nvPr>
            <p:ph type="body" sz="quarter" idx="10" hasCustomPrompt="1"/>
          </p:nvPr>
        </p:nvSpPr>
        <p:spPr>
          <a:xfrm>
            <a:off x="977500" y="420885"/>
            <a:ext cx="3834645" cy="301625"/>
          </a:xfrm>
        </p:spPr>
        <p:txBody>
          <a:bodyPr>
            <a:noAutofit/>
          </a:bodyPr>
          <a:lstStyle>
            <a:lvl1pPr marL="0" indent="0">
              <a:buNone/>
              <a:defRPr sz="3200" b="1">
                <a:solidFill>
                  <a:srgbClr val="2E5684"/>
                </a:solidFill>
              </a:defRPr>
            </a:lvl1pPr>
            <a:lvl2pPr>
              <a:defRPr b="1">
                <a:solidFill>
                  <a:srgbClr val="2E5684"/>
                </a:solidFill>
              </a:defRPr>
            </a:lvl2pPr>
            <a:lvl3pPr>
              <a:defRPr b="1">
                <a:solidFill>
                  <a:srgbClr val="2E5684"/>
                </a:solidFill>
              </a:defRPr>
            </a:lvl3pPr>
            <a:lvl4pPr>
              <a:defRPr b="1">
                <a:solidFill>
                  <a:srgbClr val="2E5684"/>
                </a:solidFill>
              </a:defRPr>
            </a:lvl4pPr>
            <a:lvl5pPr>
              <a:defRPr b="1">
                <a:solidFill>
                  <a:srgbClr val="2E5684"/>
                </a:solidFill>
              </a:defRPr>
            </a:lvl5pPr>
          </a:lstStyle>
          <a:p>
            <a:pPr lvl="0"/>
            <a:r>
              <a:rPr lang="en-US"/>
              <a:t>Title</a:t>
            </a:r>
            <a:endParaRPr lang="el-GR"/>
          </a:p>
        </p:txBody>
      </p:sp>
      <p:sp>
        <p:nvSpPr>
          <p:cNvPr id="17" name="Text Placeholder 16">
            <a:extLst>
              <a:ext uri="{FF2B5EF4-FFF2-40B4-BE49-F238E27FC236}">
                <a16:creationId xmlns:a16="http://schemas.microsoft.com/office/drawing/2014/main" id="{714A76D1-7518-4365-ABDA-E503BAC20FF8}"/>
              </a:ext>
            </a:extLst>
          </p:cNvPr>
          <p:cNvSpPr>
            <a:spLocks noGrp="1"/>
          </p:cNvSpPr>
          <p:nvPr>
            <p:ph type="body" sz="quarter" idx="11" hasCustomPrompt="1"/>
          </p:nvPr>
        </p:nvSpPr>
        <p:spPr>
          <a:xfrm rot="16200000">
            <a:off x="-338627" y="2345887"/>
            <a:ext cx="1911961" cy="475960"/>
          </a:xfrm>
          <a:noFill/>
          <a:ln>
            <a:noFill/>
          </a:ln>
        </p:spPr>
        <p:txBody>
          <a:bodyPr>
            <a:normAutofit/>
          </a:bodyPr>
          <a:lstStyle>
            <a:lvl1pPr marL="0" indent="0" algn="ctr">
              <a:buNone/>
              <a:defRPr sz="2800">
                <a:solidFill>
                  <a:srgbClr val="2E5684"/>
                </a:solidFill>
              </a:defRPr>
            </a:lvl1pPr>
          </a:lstStyle>
          <a:p>
            <a:pPr lvl="0"/>
            <a:r>
              <a:rPr lang="en-US"/>
              <a:t>Subtitle 1</a:t>
            </a:r>
            <a:endParaRPr lang="el-GR"/>
          </a:p>
        </p:txBody>
      </p:sp>
      <p:sp>
        <p:nvSpPr>
          <p:cNvPr id="23" name="Rectangle: Rounded Corners 22">
            <a:extLst>
              <a:ext uri="{FF2B5EF4-FFF2-40B4-BE49-F238E27FC236}">
                <a16:creationId xmlns:a16="http://schemas.microsoft.com/office/drawing/2014/main" id="{0F324909-34A7-FDCA-4E70-4B9B05AA8968}"/>
              </a:ext>
            </a:extLst>
          </p:cNvPr>
          <p:cNvSpPr/>
          <p:nvPr userDrawn="1"/>
        </p:nvSpPr>
        <p:spPr>
          <a:xfrm>
            <a:off x="1066360" y="1627886"/>
            <a:ext cx="10682728" cy="191196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l-GR"/>
          </a:p>
        </p:txBody>
      </p:sp>
      <p:sp>
        <p:nvSpPr>
          <p:cNvPr id="35" name="Text Placeholder 34">
            <a:extLst>
              <a:ext uri="{FF2B5EF4-FFF2-40B4-BE49-F238E27FC236}">
                <a16:creationId xmlns:a16="http://schemas.microsoft.com/office/drawing/2014/main" id="{D42706D9-B8E5-C26E-11A9-F7A595BA3B86}"/>
              </a:ext>
            </a:extLst>
          </p:cNvPr>
          <p:cNvSpPr>
            <a:spLocks noGrp="1"/>
          </p:cNvSpPr>
          <p:nvPr>
            <p:ph type="body" sz="quarter" idx="12" hasCustomPrompt="1"/>
          </p:nvPr>
        </p:nvSpPr>
        <p:spPr>
          <a:xfrm>
            <a:off x="1274763" y="1717675"/>
            <a:ext cx="10233026" cy="350838"/>
          </a:xfrm>
        </p:spPr>
        <p:txBody>
          <a:bodyPr>
            <a:normAutofit/>
          </a:bodyPr>
          <a:lstStyle>
            <a:lvl1pPr marL="0" indent="0">
              <a:buNone/>
              <a:defRPr sz="1400" b="1"/>
            </a:lvl1pPr>
          </a:lstStyle>
          <a:p>
            <a:pPr lvl="0"/>
            <a:r>
              <a:rPr lang="en-US"/>
              <a:t>Lorem ipsum</a:t>
            </a:r>
            <a:endParaRPr lang="el-GR"/>
          </a:p>
        </p:txBody>
      </p:sp>
      <p:sp>
        <p:nvSpPr>
          <p:cNvPr id="42" name="Text Placeholder 41">
            <a:extLst>
              <a:ext uri="{FF2B5EF4-FFF2-40B4-BE49-F238E27FC236}">
                <a16:creationId xmlns:a16="http://schemas.microsoft.com/office/drawing/2014/main" id="{8D11E6BD-F34B-1E7A-13E3-60FF3827F5B4}"/>
              </a:ext>
            </a:extLst>
          </p:cNvPr>
          <p:cNvSpPr>
            <a:spLocks noGrp="1"/>
          </p:cNvSpPr>
          <p:nvPr>
            <p:ph type="body" sz="quarter" idx="15" hasCustomPrompt="1"/>
          </p:nvPr>
        </p:nvSpPr>
        <p:spPr>
          <a:xfrm>
            <a:off x="1274764" y="2156872"/>
            <a:ext cx="10233024" cy="1272128"/>
          </a:xfrm>
        </p:spPr>
        <p:txBody>
          <a:bodyPr>
            <a:noAutofit/>
          </a:bodyPr>
          <a:lstStyle>
            <a:lvl1pPr marL="0" indent="0">
              <a:buNone/>
              <a:defRPr sz="1400"/>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Duis autem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iriure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hendrerit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vulputate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esse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molestie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illum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feugiat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lvl="0"/>
            <a:r>
              <a:rPr lang="en-US"/>
              <a:t> </a:t>
            </a:r>
          </a:p>
          <a:p>
            <a:pPr lvl="0"/>
            <a:endParaRPr lang="el-GR"/>
          </a:p>
        </p:txBody>
      </p:sp>
      <p:sp>
        <p:nvSpPr>
          <p:cNvPr id="46" name="Rectangle: Rounded Corners 45">
            <a:extLst>
              <a:ext uri="{FF2B5EF4-FFF2-40B4-BE49-F238E27FC236}">
                <a16:creationId xmlns:a16="http://schemas.microsoft.com/office/drawing/2014/main" id="{7B3D3B93-2DD9-FCDF-1DAA-298DA9F0AB69}"/>
              </a:ext>
            </a:extLst>
          </p:cNvPr>
          <p:cNvSpPr/>
          <p:nvPr userDrawn="1"/>
        </p:nvSpPr>
        <p:spPr>
          <a:xfrm>
            <a:off x="1124524" y="3916239"/>
            <a:ext cx="10682728" cy="194230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l-GR"/>
          </a:p>
        </p:txBody>
      </p:sp>
      <p:sp>
        <p:nvSpPr>
          <p:cNvPr id="48" name="Text Placeholder 47">
            <a:extLst>
              <a:ext uri="{FF2B5EF4-FFF2-40B4-BE49-F238E27FC236}">
                <a16:creationId xmlns:a16="http://schemas.microsoft.com/office/drawing/2014/main" id="{FA1374FA-10E8-0756-9865-EF21129CED16}"/>
              </a:ext>
            </a:extLst>
          </p:cNvPr>
          <p:cNvSpPr>
            <a:spLocks noGrp="1"/>
          </p:cNvSpPr>
          <p:nvPr>
            <p:ph type="body" sz="quarter" idx="17" hasCustomPrompt="1"/>
          </p:nvPr>
        </p:nvSpPr>
        <p:spPr>
          <a:xfrm>
            <a:off x="1274763" y="4081462"/>
            <a:ext cx="10233025" cy="344137"/>
          </a:xfrm>
        </p:spPr>
        <p:txBody>
          <a:bodyPr>
            <a:normAutofit/>
          </a:bodyPr>
          <a:lstStyle>
            <a:lvl1pPr marL="0" indent="0">
              <a:buNone/>
              <a:defRPr sz="1400" b="1"/>
            </a:lvl1pPr>
          </a:lstStyle>
          <a:p>
            <a:pPr lvl="0"/>
            <a:r>
              <a:rPr lang="en-US"/>
              <a:t>Lorem ipsum</a:t>
            </a:r>
            <a:endParaRPr lang="el-GR"/>
          </a:p>
        </p:txBody>
      </p:sp>
      <p:sp>
        <p:nvSpPr>
          <p:cNvPr id="2" name="Rectangle 1">
            <a:extLst>
              <a:ext uri="{FF2B5EF4-FFF2-40B4-BE49-F238E27FC236}">
                <a16:creationId xmlns:a16="http://schemas.microsoft.com/office/drawing/2014/main" id="{F601C03E-A01B-B912-D005-E6DD1680F07F}"/>
              </a:ext>
            </a:extLst>
          </p:cNvPr>
          <p:cNvSpPr/>
          <p:nvPr userDrawn="1"/>
        </p:nvSpPr>
        <p:spPr>
          <a:xfrm>
            <a:off x="977500" y="1072936"/>
            <a:ext cx="1301929" cy="178559"/>
          </a:xfrm>
          <a:prstGeom prst="rect">
            <a:avLst/>
          </a:prstGeom>
          <a:solidFill>
            <a:srgbClr val="75B92A"/>
          </a:solidFill>
          <a:ln>
            <a:solidFill>
              <a:srgbClr val="75B9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 Placeholder 41">
            <a:extLst>
              <a:ext uri="{FF2B5EF4-FFF2-40B4-BE49-F238E27FC236}">
                <a16:creationId xmlns:a16="http://schemas.microsoft.com/office/drawing/2014/main" id="{EE1C4766-FCFF-40A8-43B1-24BF48A17BBF}"/>
              </a:ext>
            </a:extLst>
          </p:cNvPr>
          <p:cNvSpPr>
            <a:spLocks noGrp="1"/>
          </p:cNvSpPr>
          <p:nvPr>
            <p:ph type="body" sz="quarter" idx="18" hasCustomPrompt="1"/>
          </p:nvPr>
        </p:nvSpPr>
        <p:spPr>
          <a:xfrm>
            <a:off x="1291212" y="4551810"/>
            <a:ext cx="10233024" cy="1272128"/>
          </a:xfrm>
        </p:spPr>
        <p:txBody>
          <a:bodyPr>
            <a:noAutofit/>
          </a:bodyPr>
          <a:lstStyle>
            <a:lvl1pPr marL="0" indent="0">
              <a:buNone/>
              <a:defRPr sz="1400"/>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Duis autem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iriure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hendrerit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vulputate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esse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molestie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illum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feugiat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lvl="0"/>
            <a:r>
              <a:rPr lang="en-US"/>
              <a:t> </a:t>
            </a:r>
          </a:p>
          <a:p>
            <a:pPr lvl="0"/>
            <a:endParaRPr lang="el-GR"/>
          </a:p>
        </p:txBody>
      </p:sp>
      <p:sp>
        <p:nvSpPr>
          <p:cNvPr id="3" name="Slide Number Placeholder 14">
            <a:extLst>
              <a:ext uri="{FF2B5EF4-FFF2-40B4-BE49-F238E27FC236}">
                <a16:creationId xmlns:a16="http://schemas.microsoft.com/office/drawing/2014/main" id="{00621FCA-9F45-20FC-0474-0877E7AAB394}"/>
              </a:ext>
            </a:extLst>
          </p:cNvPr>
          <p:cNvSpPr>
            <a:spLocks noGrp="1"/>
          </p:cNvSpPr>
          <p:nvPr>
            <p:ph type="sldNum" sz="quarter" idx="4"/>
          </p:nvPr>
        </p:nvSpPr>
        <p:spPr>
          <a:xfrm>
            <a:off x="8910781" y="6122713"/>
            <a:ext cx="2743200" cy="365125"/>
          </a:xfrm>
          <a:prstGeom prst="rect">
            <a:avLst/>
          </a:prstGeom>
        </p:spPr>
        <p:txBody>
          <a:bodyPr vert="horz" lIns="91440" tIns="45720" rIns="91440" bIns="45720" rtlCol="0" anchor="ctr"/>
          <a:lstStyle>
            <a:lvl1pPr algn="r">
              <a:defRPr sz="1200" b="1">
                <a:solidFill>
                  <a:schemeClr val="bg1"/>
                </a:solidFill>
              </a:defRPr>
            </a:lvl1pPr>
          </a:lstStyle>
          <a:p>
            <a:fld id="{134D5E84-50F9-4E8A-902D-8ADBB9AEA009}" type="slidenum">
              <a:rPr lang="el-GR" smtClean="0"/>
              <a:pPr/>
              <a:t>‹#›</a:t>
            </a:fld>
            <a:endParaRPr lang="el-GR"/>
          </a:p>
        </p:txBody>
      </p:sp>
    </p:spTree>
    <p:extLst>
      <p:ext uri="{BB962C8B-B14F-4D97-AF65-F5344CB8AC3E}">
        <p14:creationId xmlns:p14="http://schemas.microsoft.com/office/powerpoint/2010/main" val="18433902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368EC56-5503-F8A2-70F6-493CA3EAFBD8}"/>
              </a:ext>
            </a:extLst>
          </p:cNvPr>
          <p:cNvSpPr/>
          <p:nvPr userDrawn="1"/>
        </p:nvSpPr>
        <p:spPr>
          <a:xfrm>
            <a:off x="7915564" y="0"/>
            <a:ext cx="4276436" cy="6858000"/>
          </a:xfrm>
          <a:prstGeom prst="rect">
            <a:avLst/>
          </a:prstGeom>
          <a:solidFill>
            <a:srgbClr val="BCBDBE"/>
          </a:solidFill>
          <a:ln>
            <a:solidFill>
              <a:srgbClr val="BCBD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6" name="Rectangle 5">
            <a:extLst>
              <a:ext uri="{FF2B5EF4-FFF2-40B4-BE49-F238E27FC236}">
                <a16:creationId xmlns:a16="http://schemas.microsoft.com/office/drawing/2014/main" id="{C68A90B0-E06C-1F8C-003F-A1EE47613D2B}"/>
              </a:ext>
            </a:extLst>
          </p:cNvPr>
          <p:cNvSpPr/>
          <p:nvPr userDrawn="1"/>
        </p:nvSpPr>
        <p:spPr>
          <a:xfrm>
            <a:off x="977500" y="1072936"/>
            <a:ext cx="1301929" cy="178559"/>
          </a:xfrm>
          <a:prstGeom prst="rect">
            <a:avLst/>
          </a:prstGeom>
          <a:solidFill>
            <a:srgbClr val="75B92A"/>
          </a:solidFill>
          <a:ln>
            <a:solidFill>
              <a:srgbClr val="75B9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 Placeholder 2">
            <a:extLst>
              <a:ext uri="{FF2B5EF4-FFF2-40B4-BE49-F238E27FC236}">
                <a16:creationId xmlns:a16="http://schemas.microsoft.com/office/drawing/2014/main" id="{5A69B8D5-3428-94AD-5ED2-16F53E39F667}"/>
              </a:ext>
            </a:extLst>
          </p:cNvPr>
          <p:cNvSpPr>
            <a:spLocks noGrp="1"/>
          </p:cNvSpPr>
          <p:nvPr>
            <p:ph type="body" sz="quarter" idx="13" hasCustomPrompt="1"/>
          </p:nvPr>
        </p:nvSpPr>
        <p:spPr>
          <a:xfrm>
            <a:off x="977500" y="420885"/>
            <a:ext cx="3834645" cy="301625"/>
          </a:xfrm>
        </p:spPr>
        <p:txBody>
          <a:bodyPr>
            <a:noAutofit/>
          </a:bodyPr>
          <a:lstStyle>
            <a:lvl1pPr marL="0" indent="0">
              <a:buNone/>
              <a:defRPr sz="3200" b="1">
                <a:solidFill>
                  <a:srgbClr val="2E5684"/>
                </a:solidFill>
              </a:defRPr>
            </a:lvl1pPr>
            <a:lvl2pPr>
              <a:defRPr b="1">
                <a:solidFill>
                  <a:srgbClr val="2E5684"/>
                </a:solidFill>
              </a:defRPr>
            </a:lvl2pPr>
            <a:lvl3pPr>
              <a:defRPr b="1">
                <a:solidFill>
                  <a:srgbClr val="2E5684"/>
                </a:solidFill>
              </a:defRPr>
            </a:lvl3pPr>
            <a:lvl4pPr>
              <a:defRPr b="1">
                <a:solidFill>
                  <a:srgbClr val="2E5684"/>
                </a:solidFill>
              </a:defRPr>
            </a:lvl4pPr>
            <a:lvl5pPr>
              <a:defRPr b="1">
                <a:solidFill>
                  <a:srgbClr val="2E5684"/>
                </a:solidFill>
              </a:defRPr>
            </a:lvl5pPr>
          </a:lstStyle>
          <a:p>
            <a:pPr lvl="0"/>
            <a:r>
              <a:rPr lang="en-US"/>
              <a:t>Title</a:t>
            </a:r>
            <a:endParaRPr lang="el-GR"/>
          </a:p>
        </p:txBody>
      </p:sp>
      <p:sp>
        <p:nvSpPr>
          <p:cNvPr id="8" name="Oval 7">
            <a:extLst>
              <a:ext uri="{FF2B5EF4-FFF2-40B4-BE49-F238E27FC236}">
                <a16:creationId xmlns:a16="http://schemas.microsoft.com/office/drawing/2014/main" id="{E64DDB3E-0AC7-4A37-2408-2548869C89FE}"/>
              </a:ext>
            </a:extLst>
          </p:cNvPr>
          <p:cNvSpPr/>
          <p:nvPr userDrawn="1"/>
        </p:nvSpPr>
        <p:spPr>
          <a:xfrm>
            <a:off x="11158501" y="5969389"/>
            <a:ext cx="700148" cy="671774"/>
          </a:xfrm>
          <a:prstGeom prst="ellipse">
            <a:avLst/>
          </a:prstGeom>
          <a:solidFill>
            <a:srgbClr val="75B9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1200" b="1">
              <a:latin typeface="Arial" panose="020B0604020202020204" pitchFamily="34" charset="0"/>
              <a:cs typeface="Arial" panose="020B0604020202020204" pitchFamily="34" charset="0"/>
            </a:endParaRPr>
          </a:p>
        </p:txBody>
      </p:sp>
      <p:sp>
        <p:nvSpPr>
          <p:cNvPr id="13" name="Text Placeholder 4">
            <a:extLst>
              <a:ext uri="{FF2B5EF4-FFF2-40B4-BE49-F238E27FC236}">
                <a16:creationId xmlns:a16="http://schemas.microsoft.com/office/drawing/2014/main" id="{C7084E5E-D6EB-833C-0731-8807191D1312}"/>
              </a:ext>
            </a:extLst>
          </p:cNvPr>
          <p:cNvSpPr>
            <a:spLocks noGrp="1"/>
          </p:cNvSpPr>
          <p:nvPr>
            <p:ph type="body" sz="quarter" idx="12" hasCustomPrompt="1"/>
          </p:nvPr>
        </p:nvSpPr>
        <p:spPr>
          <a:xfrm>
            <a:off x="8285018" y="370162"/>
            <a:ext cx="3573632" cy="2510127"/>
          </a:xfrm>
        </p:spPr>
        <p:txBody>
          <a:bodyPr/>
          <a:lstStyle>
            <a:lvl1pPr marL="0" indent="0">
              <a:buFont typeface="Arial" panose="020B0604020202020204" pitchFamily="34" charset="0"/>
              <a:buNone/>
              <a:defRPr sz="1400" baseline="0">
                <a:solidFill>
                  <a:schemeClr val="tx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Lorem ipsum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sit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amet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consectetuer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adipiscing</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sed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diam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nonummy</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nibh</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euismod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tincidunt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laoreet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dolore magna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aliquam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erat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volutpat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Ut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wisi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enim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ad minim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veniam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quis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nostrud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exerci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tation</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ullamcorper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suscipit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lobortis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nisl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aliquip</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ex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commodo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Duis autem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iriure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hendrerit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vulputate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esse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molestie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illum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feugiat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nulla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facilisis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vero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eros et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accumsan</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iusto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odio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dignissim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qui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blandit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praesent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luptatum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zzril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delenit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augue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duis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feugait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nulla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facilisi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a:t>
            </a:r>
            <a:endParaRPr kumimoji="0" lang="en-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lvl="0"/>
            <a:endParaRPr lang="el-GR"/>
          </a:p>
        </p:txBody>
      </p:sp>
      <p:sp>
        <p:nvSpPr>
          <p:cNvPr id="14" name="Slide Number Placeholder 14">
            <a:extLst>
              <a:ext uri="{FF2B5EF4-FFF2-40B4-BE49-F238E27FC236}">
                <a16:creationId xmlns:a16="http://schemas.microsoft.com/office/drawing/2014/main" id="{C4EFAF4F-B10E-4C4B-F8D3-651870AA9F93}"/>
              </a:ext>
            </a:extLst>
          </p:cNvPr>
          <p:cNvSpPr>
            <a:spLocks noGrp="1"/>
          </p:cNvSpPr>
          <p:nvPr>
            <p:ph type="sldNum" sz="quarter" idx="4"/>
          </p:nvPr>
        </p:nvSpPr>
        <p:spPr>
          <a:xfrm>
            <a:off x="8910781" y="6122713"/>
            <a:ext cx="2743200" cy="365125"/>
          </a:xfrm>
          <a:prstGeom prst="rect">
            <a:avLst/>
          </a:prstGeom>
        </p:spPr>
        <p:txBody>
          <a:bodyPr vert="horz" lIns="91440" tIns="45720" rIns="91440" bIns="45720" rtlCol="0" anchor="ctr"/>
          <a:lstStyle>
            <a:lvl1pPr algn="r">
              <a:defRPr sz="1200" b="1">
                <a:solidFill>
                  <a:schemeClr val="bg1"/>
                </a:solidFill>
              </a:defRPr>
            </a:lvl1pPr>
          </a:lstStyle>
          <a:p>
            <a:fld id="{134D5E84-50F9-4E8A-902D-8ADBB9AEA009}" type="slidenum">
              <a:rPr lang="el-GR" smtClean="0"/>
              <a:pPr/>
              <a:t>‹#›</a:t>
            </a:fld>
            <a:endParaRPr lang="el-GR"/>
          </a:p>
        </p:txBody>
      </p:sp>
    </p:spTree>
    <p:extLst>
      <p:ext uri="{BB962C8B-B14F-4D97-AF65-F5344CB8AC3E}">
        <p14:creationId xmlns:p14="http://schemas.microsoft.com/office/powerpoint/2010/main" val="421862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696D4DF-1B35-41A4-9330-A6EAE0B8358A}"/>
              </a:ext>
            </a:extLst>
          </p:cNvPr>
          <p:cNvSpPr/>
          <p:nvPr userDrawn="1"/>
        </p:nvSpPr>
        <p:spPr>
          <a:xfrm>
            <a:off x="7915564" y="4890"/>
            <a:ext cx="4276436" cy="6858000"/>
          </a:xfrm>
          <a:prstGeom prst="rect">
            <a:avLst/>
          </a:prstGeom>
          <a:solidFill>
            <a:srgbClr val="005596"/>
          </a:solidFill>
          <a:ln>
            <a:solidFill>
              <a:srgbClr val="0055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7" name="Rectangle 6">
            <a:extLst>
              <a:ext uri="{FF2B5EF4-FFF2-40B4-BE49-F238E27FC236}">
                <a16:creationId xmlns:a16="http://schemas.microsoft.com/office/drawing/2014/main" id="{A0FA5AD5-6151-E3CB-CEDD-CBE2E4308156}"/>
              </a:ext>
            </a:extLst>
          </p:cNvPr>
          <p:cNvSpPr/>
          <p:nvPr userDrawn="1"/>
        </p:nvSpPr>
        <p:spPr>
          <a:xfrm>
            <a:off x="977500" y="1072936"/>
            <a:ext cx="1301929" cy="178559"/>
          </a:xfrm>
          <a:prstGeom prst="rect">
            <a:avLst/>
          </a:prstGeom>
          <a:solidFill>
            <a:srgbClr val="75B92A"/>
          </a:solidFill>
          <a:ln>
            <a:solidFill>
              <a:srgbClr val="75B9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 Placeholder 2">
            <a:extLst>
              <a:ext uri="{FF2B5EF4-FFF2-40B4-BE49-F238E27FC236}">
                <a16:creationId xmlns:a16="http://schemas.microsoft.com/office/drawing/2014/main" id="{E8DC8952-2BEC-B554-8A84-816D31A7328D}"/>
              </a:ext>
            </a:extLst>
          </p:cNvPr>
          <p:cNvSpPr>
            <a:spLocks noGrp="1"/>
          </p:cNvSpPr>
          <p:nvPr>
            <p:ph type="body" sz="quarter" idx="13" hasCustomPrompt="1"/>
          </p:nvPr>
        </p:nvSpPr>
        <p:spPr>
          <a:xfrm>
            <a:off x="977500" y="420885"/>
            <a:ext cx="3834645" cy="301625"/>
          </a:xfrm>
        </p:spPr>
        <p:txBody>
          <a:bodyPr>
            <a:noAutofit/>
          </a:bodyPr>
          <a:lstStyle>
            <a:lvl1pPr marL="0" indent="0">
              <a:buNone/>
              <a:defRPr sz="3200" b="1">
                <a:solidFill>
                  <a:srgbClr val="2E5684"/>
                </a:solidFill>
              </a:defRPr>
            </a:lvl1pPr>
            <a:lvl2pPr>
              <a:defRPr b="1">
                <a:solidFill>
                  <a:srgbClr val="2E5684"/>
                </a:solidFill>
              </a:defRPr>
            </a:lvl2pPr>
            <a:lvl3pPr>
              <a:defRPr b="1">
                <a:solidFill>
                  <a:srgbClr val="2E5684"/>
                </a:solidFill>
              </a:defRPr>
            </a:lvl3pPr>
            <a:lvl4pPr>
              <a:defRPr b="1">
                <a:solidFill>
                  <a:srgbClr val="2E5684"/>
                </a:solidFill>
              </a:defRPr>
            </a:lvl4pPr>
            <a:lvl5pPr>
              <a:defRPr b="1">
                <a:solidFill>
                  <a:srgbClr val="2E5684"/>
                </a:solidFill>
              </a:defRPr>
            </a:lvl5pPr>
          </a:lstStyle>
          <a:p>
            <a:pPr lvl="0"/>
            <a:r>
              <a:rPr lang="en-US"/>
              <a:t>Title</a:t>
            </a:r>
            <a:endParaRPr lang="el-GR"/>
          </a:p>
        </p:txBody>
      </p:sp>
      <p:sp>
        <p:nvSpPr>
          <p:cNvPr id="10" name="Oval 9">
            <a:extLst>
              <a:ext uri="{FF2B5EF4-FFF2-40B4-BE49-F238E27FC236}">
                <a16:creationId xmlns:a16="http://schemas.microsoft.com/office/drawing/2014/main" id="{8961764F-7F39-A199-A380-ECEFD9F0137B}"/>
              </a:ext>
            </a:extLst>
          </p:cNvPr>
          <p:cNvSpPr/>
          <p:nvPr userDrawn="1"/>
        </p:nvSpPr>
        <p:spPr>
          <a:xfrm>
            <a:off x="11158501" y="5969389"/>
            <a:ext cx="700148" cy="671774"/>
          </a:xfrm>
          <a:prstGeom prst="ellipse">
            <a:avLst/>
          </a:prstGeom>
          <a:solidFill>
            <a:srgbClr val="75B9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1200" b="1">
              <a:latin typeface="Arial" panose="020B0604020202020204" pitchFamily="34" charset="0"/>
              <a:cs typeface="Arial" panose="020B0604020202020204" pitchFamily="34" charset="0"/>
            </a:endParaRPr>
          </a:p>
        </p:txBody>
      </p:sp>
      <p:sp>
        <p:nvSpPr>
          <p:cNvPr id="12" name="Text Placeholder 4">
            <a:extLst>
              <a:ext uri="{FF2B5EF4-FFF2-40B4-BE49-F238E27FC236}">
                <a16:creationId xmlns:a16="http://schemas.microsoft.com/office/drawing/2014/main" id="{32E9E08E-4370-1FAB-EB99-E8713A2C74FA}"/>
              </a:ext>
            </a:extLst>
          </p:cNvPr>
          <p:cNvSpPr>
            <a:spLocks noGrp="1"/>
          </p:cNvSpPr>
          <p:nvPr>
            <p:ph type="body" sz="quarter" idx="12" hasCustomPrompt="1"/>
          </p:nvPr>
        </p:nvSpPr>
        <p:spPr>
          <a:xfrm>
            <a:off x="8285018" y="370162"/>
            <a:ext cx="3573632" cy="2510127"/>
          </a:xfrm>
        </p:spPr>
        <p:txBody>
          <a:bodyPr/>
          <a:lstStyle>
            <a:lvl1pPr marL="0" indent="0">
              <a:buFont typeface="Arial" panose="020B0604020202020204" pitchFamily="34" charset="0"/>
              <a:buNone/>
              <a:defRPr sz="1400" baseline="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Lorem ipsum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sit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amet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consectetuer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adipiscing</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sed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diam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nonummy</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nibh</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euismod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tincidunt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laoreet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dolore magna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aliquam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erat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volutpat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Ut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wisi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enim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ad minim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veniam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quis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nostrud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exerci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tation</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ullamcorper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suscipit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lobortis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nisl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aliquip</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ex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commodo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Duis autem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iriure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hendrerit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vulputate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esse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molestie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illum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feugiat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nulla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facilisis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vero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eros et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accumsan</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iusto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odio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dignissim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qui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blandit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praesent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luptatum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zzril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delenit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augue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duis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feugait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nulla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facilisi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a:t>
            </a:r>
            <a:endParaRPr kumimoji="0" lang="en-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lvl="0"/>
            <a:endParaRPr lang="el-GR"/>
          </a:p>
        </p:txBody>
      </p:sp>
      <p:sp>
        <p:nvSpPr>
          <p:cNvPr id="13" name="Slide Number Placeholder 14">
            <a:extLst>
              <a:ext uri="{FF2B5EF4-FFF2-40B4-BE49-F238E27FC236}">
                <a16:creationId xmlns:a16="http://schemas.microsoft.com/office/drawing/2014/main" id="{51B28349-390C-1455-2550-F9C1D4BDE13C}"/>
              </a:ext>
            </a:extLst>
          </p:cNvPr>
          <p:cNvSpPr>
            <a:spLocks noGrp="1"/>
          </p:cNvSpPr>
          <p:nvPr>
            <p:ph type="sldNum" sz="quarter" idx="4"/>
          </p:nvPr>
        </p:nvSpPr>
        <p:spPr>
          <a:xfrm>
            <a:off x="8910781" y="6122713"/>
            <a:ext cx="2743200" cy="365125"/>
          </a:xfrm>
          <a:prstGeom prst="rect">
            <a:avLst/>
          </a:prstGeom>
        </p:spPr>
        <p:txBody>
          <a:bodyPr vert="horz" lIns="91440" tIns="45720" rIns="91440" bIns="45720" rtlCol="0" anchor="ctr"/>
          <a:lstStyle>
            <a:lvl1pPr algn="r">
              <a:defRPr sz="1200" b="1">
                <a:solidFill>
                  <a:schemeClr val="bg1"/>
                </a:solidFill>
              </a:defRPr>
            </a:lvl1pPr>
          </a:lstStyle>
          <a:p>
            <a:fld id="{134D5E84-50F9-4E8A-902D-8ADBB9AEA009}" type="slidenum">
              <a:rPr lang="el-GR" smtClean="0"/>
              <a:pPr/>
              <a:t>‹#›</a:t>
            </a:fld>
            <a:endParaRPr lang="el-GR"/>
          </a:p>
        </p:txBody>
      </p:sp>
    </p:spTree>
    <p:extLst>
      <p:ext uri="{BB962C8B-B14F-4D97-AF65-F5344CB8AC3E}">
        <p14:creationId xmlns:p14="http://schemas.microsoft.com/office/powerpoint/2010/main" val="11720752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696D4DF-1B35-41A4-9330-A6EAE0B8358A}"/>
              </a:ext>
            </a:extLst>
          </p:cNvPr>
          <p:cNvSpPr/>
          <p:nvPr userDrawn="1"/>
        </p:nvSpPr>
        <p:spPr>
          <a:xfrm>
            <a:off x="7915564" y="0"/>
            <a:ext cx="4276436" cy="6858000"/>
          </a:xfrm>
          <a:prstGeom prst="rect">
            <a:avLst/>
          </a:prstGeom>
          <a:solidFill>
            <a:srgbClr val="F1F6FA"/>
          </a:solidFill>
          <a:ln>
            <a:solidFill>
              <a:srgbClr val="F1F6F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7" name="Rectangle 6">
            <a:extLst>
              <a:ext uri="{FF2B5EF4-FFF2-40B4-BE49-F238E27FC236}">
                <a16:creationId xmlns:a16="http://schemas.microsoft.com/office/drawing/2014/main" id="{A0FA5AD5-6151-E3CB-CEDD-CBE2E4308156}"/>
              </a:ext>
            </a:extLst>
          </p:cNvPr>
          <p:cNvSpPr/>
          <p:nvPr userDrawn="1"/>
        </p:nvSpPr>
        <p:spPr>
          <a:xfrm>
            <a:off x="977500" y="1072936"/>
            <a:ext cx="1301929" cy="178559"/>
          </a:xfrm>
          <a:prstGeom prst="rect">
            <a:avLst/>
          </a:prstGeom>
          <a:solidFill>
            <a:srgbClr val="75B92A"/>
          </a:solidFill>
          <a:ln>
            <a:solidFill>
              <a:srgbClr val="75B9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 Placeholder 2">
            <a:extLst>
              <a:ext uri="{FF2B5EF4-FFF2-40B4-BE49-F238E27FC236}">
                <a16:creationId xmlns:a16="http://schemas.microsoft.com/office/drawing/2014/main" id="{E8DC8952-2BEC-B554-8A84-816D31A7328D}"/>
              </a:ext>
            </a:extLst>
          </p:cNvPr>
          <p:cNvSpPr>
            <a:spLocks noGrp="1"/>
          </p:cNvSpPr>
          <p:nvPr>
            <p:ph type="body" sz="quarter" idx="13" hasCustomPrompt="1"/>
          </p:nvPr>
        </p:nvSpPr>
        <p:spPr>
          <a:xfrm>
            <a:off x="977500" y="420885"/>
            <a:ext cx="3834645" cy="301625"/>
          </a:xfrm>
        </p:spPr>
        <p:txBody>
          <a:bodyPr>
            <a:noAutofit/>
          </a:bodyPr>
          <a:lstStyle>
            <a:lvl1pPr marL="0" indent="0">
              <a:buNone/>
              <a:defRPr sz="3200" b="1">
                <a:solidFill>
                  <a:srgbClr val="2E5684"/>
                </a:solidFill>
              </a:defRPr>
            </a:lvl1pPr>
            <a:lvl2pPr>
              <a:defRPr b="1">
                <a:solidFill>
                  <a:srgbClr val="2E5684"/>
                </a:solidFill>
              </a:defRPr>
            </a:lvl2pPr>
            <a:lvl3pPr>
              <a:defRPr b="1">
                <a:solidFill>
                  <a:srgbClr val="2E5684"/>
                </a:solidFill>
              </a:defRPr>
            </a:lvl3pPr>
            <a:lvl4pPr>
              <a:defRPr b="1">
                <a:solidFill>
                  <a:srgbClr val="2E5684"/>
                </a:solidFill>
              </a:defRPr>
            </a:lvl4pPr>
            <a:lvl5pPr>
              <a:defRPr b="1">
                <a:solidFill>
                  <a:srgbClr val="2E5684"/>
                </a:solidFill>
              </a:defRPr>
            </a:lvl5pPr>
          </a:lstStyle>
          <a:p>
            <a:pPr lvl="0"/>
            <a:r>
              <a:rPr lang="en-US"/>
              <a:t>Title</a:t>
            </a:r>
            <a:endParaRPr lang="el-GR"/>
          </a:p>
        </p:txBody>
      </p:sp>
      <p:sp>
        <p:nvSpPr>
          <p:cNvPr id="10" name="Oval 9">
            <a:extLst>
              <a:ext uri="{FF2B5EF4-FFF2-40B4-BE49-F238E27FC236}">
                <a16:creationId xmlns:a16="http://schemas.microsoft.com/office/drawing/2014/main" id="{8961764F-7F39-A199-A380-ECEFD9F0137B}"/>
              </a:ext>
            </a:extLst>
          </p:cNvPr>
          <p:cNvSpPr/>
          <p:nvPr userDrawn="1"/>
        </p:nvSpPr>
        <p:spPr>
          <a:xfrm>
            <a:off x="11158501" y="5969389"/>
            <a:ext cx="700148" cy="671774"/>
          </a:xfrm>
          <a:prstGeom prst="ellipse">
            <a:avLst/>
          </a:prstGeom>
          <a:solidFill>
            <a:srgbClr val="75B9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1200" b="1">
              <a:latin typeface="Arial" panose="020B0604020202020204" pitchFamily="34" charset="0"/>
              <a:cs typeface="Arial" panose="020B0604020202020204" pitchFamily="34" charset="0"/>
            </a:endParaRPr>
          </a:p>
        </p:txBody>
      </p:sp>
      <p:sp>
        <p:nvSpPr>
          <p:cNvPr id="13" name="Slide Number Placeholder 14">
            <a:extLst>
              <a:ext uri="{FF2B5EF4-FFF2-40B4-BE49-F238E27FC236}">
                <a16:creationId xmlns:a16="http://schemas.microsoft.com/office/drawing/2014/main" id="{51B28349-390C-1455-2550-F9C1D4BDE13C}"/>
              </a:ext>
            </a:extLst>
          </p:cNvPr>
          <p:cNvSpPr>
            <a:spLocks noGrp="1"/>
          </p:cNvSpPr>
          <p:nvPr>
            <p:ph type="sldNum" sz="quarter" idx="4"/>
          </p:nvPr>
        </p:nvSpPr>
        <p:spPr>
          <a:xfrm>
            <a:off x="8910781" y="6122713"/>
            <a:ext cx="2743200" cy="365125"/>
          </a:xfrm>
          <a:prstGeom prst="rect">
            <a:avLst/>
          </a:prstGeom>
        </p:spPr>
        <p:txBody>
          <a:bodyPr vert="horz" lIns="91440" tIns="45720" rIns="91440" bIns="45720" rtlCol="0" anchor="ctr"/>
          <a:lstStyle>
            <a:lvl1pPr algn="r">
              <a:defRPr sz="1200" b="1">
                <a:solidFill>
                  <a:schemeClr val="bg1"/>
                </a:solidFill>
              </a:defRPr>
            </a:lvl1pPr>
          </a:lstStyle>
          <a:p>
            <a:fld id="{134D5E84-50F9-4E8A-902D-8ADBB9AEA009}" type="slidenum">
              <a:rPr lang="el-GR" smtClean="0"/>
              <a:pPr/>
              <a:t>‹#›</a:t>
            </a:fld>
            <a:endParaRPr lang="el-GR"/>
          </a:p>
        </p:txBody>
      </p:sp>
      <p:sp>
        <p:nvSpPr>
          <p:cNvPr id="2" name="Text Placeholder 4">
            <a:extLst>
              <a:ext uri="{FF2B5EF4-FFF2-40B4-BE49-F238E27FC236}">
                <a16:creationId xmlns:a16="http://schemas.microsoft.com/office/drawing/2014/main" id="{A86EB00E-0881-9880-20AB-7A17A6A5A523}"/>
              </a:ext>
            </a:extLst>
          </p:cNvPr>
          <p:cNvSpPr>
            <a:spLocks noGrp="1"/>
          </p:cNvSpPr>
          <p:nvPr>
            <p:ph type="body" sz="quarter" idx="12" hasCustomPrompt="1"/>
          </p:nvPr>
        </p:nvSpPr>
        <p:spPr>
          <a:xfrm>
            <a:off x="8285018" y="370162"/>
            <a:ext cx="3573632" cy="2510127"/>
          </a:xfrm>
        </p:spPr>
        <p:txBody>
          <a:bodyPr/>
          <a:lstStyle>
            <a:lvl1pPr marL="0" indent="0">
              <a:buFont typeface="Arial" panose="020B0604020202020204" pitchFamily="34" charset="0"/>
              <a:buNone/>
              <a:defRPr sz="1400" baseline="0">
                <a:solidFill>
                  <a:schemeClr val="tx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Lorem ipsum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sit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amet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consectetuer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adipiscing</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sed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diam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nonummy</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nibh</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euismod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tincidunt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laoreet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dolore magna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aliquam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erat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volutpat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Ut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wisi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enim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ad minim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veniam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quis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nostrud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exerci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tation</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ullamcorper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suscipit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lobortis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nisl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aliquip</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ex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commodo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Duis autem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iriure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hendrerit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vulputate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esse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molestie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illum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feugiat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nulla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facilisis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vero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eros et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accumsan</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iusto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odio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dignissim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qui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blandit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praesent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luptatum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zzril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delenit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augue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duis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feugait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nulla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facilisi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a:t>
            </a:r>
            <a:endParaRPr kumimoji="0" lang="en-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lvl="0"/>
            <a:endParaRPr lang="el-GR"/>
          </a:p>
        </p:txBody>
      </p:sp>
    </p:spTree>
    <p:extLst>
      <p:ext uri="{BB962C8B-B14F-4D97-AF65-F5344CB8AC3E}">
        <p14:creationId xmlns:p14="http://schemas.microsoft.com/office/powerpoint/2010/main" val="16066506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696D4DF-1B35-41A4-9330-A6EAE0B8358A}"/>
              </a:ext>
            </a:extLst>
          </p:cNvPr>
          <p:cNvSpPr/>
          <p:nvPr userDrawn="1"/>
        </p:nvSpPr>
        <p:spPr>
          <a:xfrm>
            <a:off x="7915564" y="-4346"/>
            <a:ext cx="4276436" cy="6858000"/>
          </a:xfrm>
          <a:prstGeom prst="rect">
            <a:avLst/>
          </a:prstGeom>
          <a:solidFill>
            <a:srgbClr val="659F25"/>
          </a:solidFill>
          <a:ln>
            <a:solidFill>
              <a:srgbClr val="659F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7" name="Rectangle 6">
            <a:extLst>
              <a:ext uri="{FF2B5EF4-FFF2-40B4-BE49-F238E27FC236}">
                <a16:creationId xmlns:a16="http://schemas.microsoft.com/office/drawing/2014/main" id="{A0FA5AD5-6151-E3CB-CEDD-CBE2E4308156}"/>
              </a:ext>
            </a:extLst>
          </p:cNvPr>
          <p:cNvSpPr/>
          <p:nvPr userDrawn="1"/>
        </p:nvSpPr>
        <p:spPr>
          <a:xfrm>
            <a:off x="977500" y="1072936"/>
            <a:ext cx="1301929" cy="178559"/>
          </a:xfrm>
          <a:prstGeom prst="rect">
            <a:avLst/>
          </a:prstGeom>
          <a:solidFill>
            <a:srgbClr val="75B92A"/>
          </a:solidFill>
          <a:ln>
            <a:solidFill>
              <a:srgbClr val="75B9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 Placeholder 2">
            <a:extLst>
              <a:ext uri="{FF2B5EF4-FFF2-40B4-BE49-F238E27FC236}">
                <a16:creationId xmlns:a16="http://schemas.microsoft.com/office/drawing/2014/main" id="{E8DC8952-2BEC-B554-8A84-816D31A7328D}"/>
              </a:ext>
            </a:extLst>
          </p:cNvPr>
          <p:cNvSpPr>
            <a:spLocks noGrp="1"/>
          </p:cNvSpPr>
          <p:nvPr>
            <p:ph type="body" sz="quarter" idx="13" hasCustomPrompt="1"/>
          </p:nvPr>
        </p:nvSpPr>
        <p:spPr>
          <a:xfrm>
            <a:off x="977500" y="420885"/>
            <a:ext cx="3834645" cy="301625"/>
          </a:xfrm>
        </p:spPr>
        <p:txBody>
          <a:bodyPr>
            <a:noAutofit/>
          </a:bodyPr>
          <a:lstStyle>
            <a:lvl1pPr marL="0" indent="0">
              <a:buNone/>
              <a:defRPr sz="3200" b="1">
                <a:solidFill>
                  <a:srgbClr val="2E5684"/>
                </a:solidFill>
              </a:defRPr>
            </a:lvl1pPr>
            <a:lvl2pPr>
              <a:defRPr b="1">
                <a:solidFill>
                  <a:srgbClr val="2E5684"/>
                </a:solidFill>
              </a:defRPr>
            </a:lvl2pPr>
            <a:lvl3pPr>
              <a:defRPr b="1">
                <a:solidFill>
                  <a:srgbClr val="2E5684"/>
                </a:solidFill>
              </a:defRPr>
            </a:lvl3pPr>
            <a:lvl4pPr>
              <a:defRPr b="1">
                <a:solidFill>
                  <a:srgbClr val="2E5684"/>
                </a:solidFill>
              </a:defRPr>
            </a:lvl4pPr>
            <a:lvl5pPr>
              <a:defRPr b="1">
                <a:solidFill>
                  <a:srgbClr val="2E5684"/>
                </a:solidFill>
              </a:defRPr>
            </a:lvl5pPr>
          </a:lstStyle>
          <a:p>
            <a:pPr lvl="0"/>
            <a:r>
              <a:rPr lang="en-US"/>
              <a:t>Title</a:t>
            </a:r>
            <a:endParaRPr lang="el-GR"/>
          </a:p>
        </p:txBody>
      </p:sp>
      <p:sp>
        <p:nvSpPr>
          <p:cNvPr id="10" name="Oval 9">
            <a:extLst>
              <a:ext uri="{FF2B5EF4-FFF2-40B4-BE49-F238E27FC236}">
                <a16:creationId xmlns:a16="http://schemas.microsoft.com/office/drawing/2014/main" id="{8961764F-7F39-A199-A380-ECEFD9F0137B}"/>
              </a:ext>
            </a:extLst>
          </p:cNvPr>
          <p:cNvSpPr/>
          <p:nvPr userDrawn="1"/>
        </p:nvSpPr>
        <p:spPr>
          <a:xfrm>
            <a:off x="11158501" y="5969389"/>
            <a:ext cx="700148" cy="671774"/>
          </a:xfrm>
          <a:prstGeom prst="ellipse">
            <a:avLst/>
          </a:prstGeom>
          <a:solidFill>
            <a:srgbClr val="75B9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sz="1200" b="1">
              <a:latin typeface="Arial" panose="020B0604020202020204" pitchFamily="34" charset="0"/>
              <a:cs typeface="Arial" panose="020B0604020202020204" pitchFamily="34" charset="0"/>
            </a:endParaRPr>
          </a:p>
        </p:txBody>
      </p:sp>
      <p:sp>
        <p:nvSpPr>
          <p:cNvPr id="13" name="Slide Number Placeholder 14">
            <a:extLst>
              <a:ext uri="{FF2B5EF4-FFF2-40B4-BE49-F238E27FC236}">
                <a16:creationId xmlns:a16="http://schemas.microsoft.com/office/drawing/2014/main" id="{51B28349-390C-1455-2550-F9C1D4BDE13C}"/>
              </a:ext>
            </a:extLst>
          </p:cNvPr>
          <p:cNvSpPr>
            <a:spLocks noGrp="1"/>
          </p:cNvSpPr>
          <p:nvPr>
            <p:ph type="sldNum" sz="quarter" idx="4"/>
          </p:nvPr>
        </p:nvSpPr>
        <p:spPr>
          <a:xfrm>
            <a:off x="8910781" y="6122713"/>
            <a:ext cx="2743200" cy="365125"/>
          </a:xfrm>
          <a:prstGeom prst="rect">
            <a:avLst/>
          </a:prstGeom>
        </p:spPr>
        <p:txBody>
          <a:bodyPr vert="horz" lIns="91440" tIns="45720" rIns="91440" bIns="45720" rtlCol="0" anchor="ctr"/>
          <a:lstStyle>
            <a:lvl1pPr algn="r">
              <a:defRPr sz="1200" b="1">
                <a:solidFill>
                  <a:schemeClr val="bg1"/>
                </a:solidFill>
              </a:defRPr>
            </a:lvl1pPr>
          </a:lstStyle>
          <a:p>
            <a:fld id="{134D5E84-50F9-4E8A-902D-8ADBB9AEA009}" type="slidenum">
              <a:rPr lang="el-GR" smtClean="0"/>
              <a:pPr/>
              <a:t>‹#›</a:t>
            </a:fld>
            <a:endParaRPr lang="el-GR"/>
          </a:p>
        </p:txBody>
      </p:sp>
      <p:sp>
        <p:nvSpPr>
          <p:cNvPr id="3" name="Text Placeholder 4">
            <a:extLst>
              <a:ext uri="{FF2B5EF4-FFF2-40B4-BE49-F238E27FC236}">
                <a16:creationId xmlns:a16="http://schemas.microsoft.com/office/drawing/2014/main" id="{B3AD6CD2-1FEB-AA25-B498-0D4F95705A15}"/>
              </a:ext>
            </a:extLst>
          </p:cNvPr>
          <p:cNvSpPr>
            <a:spLocks noGrp="1"/>
          </p:cNvSpPr>
          <p:nvPr>
            <p:ph type="body" sz="quarter" idx="12" hasCustomPrompt="1"/>
          </p:nvPr>
        </p:nvSpPr>
        <p:spPr>
          <a:xfrm>
            <a:off x="8285018" y="370162"/>
            <a:ext cx="3573632" cy="2510127"/>
          </a:xfrm>
        </p:spPr>
        <p:txBody>
          <a:bodyPr/>
          <a:lstStyle>
            <a:lvl1pPr marL="0" indent="0">
              <a:buFont typeface="Arial" panose="020B0604020202020204" pitchFamily="34" charset="0"/>
              <a:buNone/>
              <a:defRPr sz="1400" baseline="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Lorem ipsum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sit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amet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consectetuer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adipiscing</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sed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diam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nonummy</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nibh</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euismod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tincidunt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laoreet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dolore magna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aliquam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erat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volutpat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Ut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wisi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enim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ad minim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veniam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quis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nostrud</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exerci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tation</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ullamcorper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suscipit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lobortis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nisl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ut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aliquip</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ex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commodo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Duis autem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iriure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dolor</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hendrerit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in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vulputate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rgbClr val="96C03A"/>
              </a:buClr>
              <a:buSzTx/>
              <a:buFont typeface="Arial" panose="020B0604020202020204" pitchFamily="34" charset="0"/>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esse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molestie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consequat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illum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eu</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feugiat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nulla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facilisis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vero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eros et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accumsan</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et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iusto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odio</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dignissim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qui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blandit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praesent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luptatum</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zzril</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endParaRPr kumimoji="0" lang="el-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marL="620713" marR="0" lvl="0" indent="-171450" algn="l" defTabSz="914400" rtl="0" eaLnBrk="1" fontAlgn="auto" latinLnBrk="0" hangingPunct="1">
              <a:lnSpc>
                <a:spcPct val="100000"/>
              </a:lnSpc>
              <a:spcBef>
                <a:spcPts val="0"/>
              </a:spcBef>
              <a:spcAft>
                <a:spcPts val="0"/>
              </a:spcAft>
              <a:buClr>
                <a:srgbClr val="96C03A"/>
              </a:buClr>
              <a:buSzTx/>
              <a:buFontTx/>
              <a:buChar char="-"/>
              <a:tabLst/>
              <a:defRPr/>
            </a:pP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delenit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augue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duis</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dolore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te</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feugait</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nulla</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 </a:t>
            </a:r>
            <a:r>
              <a:rPr kumimoji="0" lang="en-GB" sz="1400" b="0" i="0" u="none" strike="noStrike" kern="1200" cap="none" spc="0" normalizeH="0" baseline="0" noProof="0" err="1">
                <a:ln>
                  <a:noFill/>
                </a:ln>
                <a:solidFill>
                  <a:srgbClr val="2E5684"/>
                </a:solidFill>
                <a:effectLst/>
                <a:uLnTx/>
                <a:uFillTx/>
                <a:ea typeface="+mn-ea"/>
                <a:cs typeface="Arial" panose="020B0604020202020204" pitchFamily="34" charset="0"/>
              </a:rPr>
              <a:t>facilisi</a:t>
            </a:r>
            <a:r>
              <a:rPr kumimoji="0" lang="en-GB" sz="1400" b="0" i="0" u="none" strike="noStrike" kern="1200" cap="none" spc="0" normalizeH="0" baseline="0" noProof="0">
                <a:ln>
                  <a:noFill/>
                </a:ln>
                <a:solidFill>
                  <a:srgbClr val="2E5684"/>
                </a:solidFill>
                <a:effectLst/>
                <a:uLnTx/>
                <a:uFillTx/>
                <a:ea typeface="+mn-ea"/>
                <a:cs typeface="Arial" panose="020B0604020202020204" pitchFamily="34" charset="0"/>
              </a:rPr>
              <a:t>.</a:t>
            </a:r>
            <a:endParaRPr kumimoji="0" lang="en-GR" sz="1400" b="0" i="0" u="none" strike="noStrike" kern="1200" cap="none" spc="0" normalizeH="0" baseline="0" noProof="0">
              <a:ln>
                <a:noFill/>
              </a:ln>
              <a:solidFill>
                <a:srgbClr val="2E5684"/>
              </a:solidFill>
              <a:effectLst/>
              <a:uLnTx/>
              <a:uFillTx/>
              <a:ea typeface="+mn-ea"/>
              <a:cs typeface="Arial" panose="020B0604020202020204" pitchFamily="34" charset="0"/>
            </a:endParaRPr>
          </a:p>
          <a:p>
            <a:pPr lvl="0"/>
            <a:endParaRPr lang="el-GR"/>
          </a:p>
        </p:txBody>
      </p:sp>
    </p:spTree>
    <p:extLst>
      <p:ext uri="{BB962C8B-B14F-4D97-AF65-F5344CB8AC3E}">
        <p14:creationId xmlns:p14="http://schemas.microsoft.com/office/powerpoint/2010/main" val="5596072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
        <p:cNvGrpSpPr/>
        <p:nvPr/>
      </p:nvGrpSpPr>
      <p:grpSpPr>
        <a:xfrm>
          <a:off x="0" y="0"/>
          <a:ext cx="0" cy="0"/>
          <a:chOff x="0" y="0"/>
          <a:chExt cx="0" cy="0"/>
        </a:xfrm>
      </p:grpSpPr>
      <p:sp>
        <p:nvSpPr>
          <p:cNvPr id="23" name="Google Shape;23;p48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48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8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837726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p:cSld name="1_Title and Text">
    <p:spTree>
      <p:nvGrpSpPr>
        <p:cNvPr id="1" name="Shape 26"/>
        <p:cNvGrpSpPr/>
        <p:nvPr/>
      </p:nvGrpSpPr>
      <p:grpSpPr>
        <a:xfrm>
          <a:off x="0" y="0"/>
          <a:ext cx="0" cy="0"/>
          <a:chOff x="0" y="0"/>
          <a:chExt cx="0" cy="0"/>
        </a:xfrm>
      </p:grpSpPr>
      <p:sp>
        <p:nvSpPr>
          <p:cNvPr id="27" name="Google Shape;27;p489"/>
          <p:cNvSpPr txBox="1">
            <a:spLocks noGrp="1"/>
          </p:cNvSpPr>
          <p:nvPr>
            <p:ph type="title"/>
          </p:nvPr>
        </p:nvSpPr>
        <p:spPr>
          <a:xfrm>
            <a:off x="335360" y="116632"/>
            <a:ext cx="11521280" cy="7920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89"/>
          <p:cNvSpPr txBox="1">
            <a:spLocks noGrp="1"/>
          </p:cNvSpPr>
          <p:nvPr>
            <p:ph type="body" idx="1"/>
          </p:nvPr>
        </p:nvSpPr>
        <p:spPr>
          <a:xfrm>
            <a:off x="335360" y="1268760"/>
            <a:ext cx="11521280" cy="4896544"/>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vl1pPr>
            <a:lvl2pPr marL="914400" lvl="1" indent="-381000" algn="l">
              <a:lnSpc>
                <a:spcPct val="90000"/>
              </a:lnSpc>
              <a:spcBef>
                <a:spcPts val="500"/>
              </a:spcBef>
              <a:spcAft>
                <a:spcPts val="0"/>
              </a:spcAft>
              <a:buClr>
                <a:schemeClr val="dk1"/>
              </a:buClr>
              <a:buSzPts val="2400"/>
              <a:buChar char="•"/>
              <a:defRPr/>
            </a:lvl2pPr>
            <a:lvl3pPr marL="1371600" lvl="2" indent="-355600" algn="l">
              <a:lnSpc>
                <a:spcPct val="90000"/>
              </a:lnSpc>
              <a:spcBef>
                <a:spcPts val="500"/>
              </a:spcBef>
              <a:spcAft>
                <a:spcPts val="0"/>
              </a:spcAft>
              <a:buClr>
                <a:schemeClr val="dk1"/>
              </a:buClr>
              <a:buSzPts val="20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6532690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3"/>
        <p:cNvGrpSpPr/>
        <p:nvPr/>
      </p:nvGrpSpPr>
      <p:grpSpPr>
        <a:xfrm>
          <a:off x="0" y="0"/>
          <a:ext cx="0" cy="0"/>
          <a:chOff x="0" y="0"/>
          <a:chExt cx="0" cy="0"/>
        </a:xfrm>
      </p:grpSpPr>
      <p:sp>
        <p:nvSpPr>
          <p:cNvPr id="24" name="Google Shape;24;p31"/>
          <p:cNvSpPr txBox="1">
            <a:spLocks noGrp="1"/>
          </p:cNvSpPr>
          <p:nvPr>
            <p:ph type="title"/>
          </p:nvPr>
        </p:nvSpPr>
        <p:spPr>
          <a:xfrm>
            <a:off x="1003200" y="432000"/>
            <a:ext cx="10185600" cy="518400"/>
          </a:xfrm>
          <a:prstGeom prst="rect">
            <a:avLst/>
          </a:prstGeom>
          <a:noFill/>
          <a:ln>
            <a:noFill/>
          </a:ln>
        </p:spPr>
        <p:txBody>
          <a:bodyPr spcFirstLastPara="1" wrap="square" lIns="0" tIns="0" rIns="0" bIns="0" anchor="t" anchorCtr="0">
            <a:noAutofit/>
          </a:bodyPr>
          <a:lstStyle>
            <a:lvl1pPr lvl="0" algn="l">
              <a:lnSpc>
                <a:spcPct val="7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7718966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4093866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8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025C74-21A4-F559-908E-D53C27C117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l-GR"/>
          </a:p>
        </p:txBody>
      </p:sp>
      <p:sp>
        <p:nvSpPr>
          <p:cNvPr id="3" name="Text Placeholder 2">
            <a:extLst>
              <a:ext uri="{FF2B5EF4-FFF2-40B4-BE49-F238E27FC236}">
                <a16:creationId xmlns:a16="http://schemas.microsoft.com/office/drawing/2014/main" id="{B9493BC2-F380-ECE6-B96B-B6B1102AC9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92557F3C-312B-BBBB-FF1D-A0E2DE643B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C2A81A-EA30-4591-A47F-3F5755C04A36}" type="datetime1">
              <a:rPr lang="el-GR" smtClean="0"/>
              <a:t>16/11/2025</a:t>
            </a:fld>
            <a:endParaRPr lang="el-GR"/>
          </a:p>
        </p:txBody>
      </p:sp>
      <p:sp>
        <p:nvSpPr>
          <p:cNvPr id="5" name="Footer Placeholder 4">
            <a:extLst>
              <a:ext uri="{FF2B5EF4-FFF2-40B4-BE49-F238E27FC236}">
                <a16:creationId xmlns:a16="http://schemas.microsoft.com/office/drawing/2014/main" id="{2DAC67A0-6DC1-9600-6CC1-88EC980733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15" name="Slide Number Placeholder 14">
            <a:extLst>
              <a:ext uri="{FF2B5EF4-FFF2-40B4-BE49-F238E27FC236}">
                <a16:creationId xmlns:a16="http://schemas.microsoft.com/office/drawing/2014/main" id="{7BC9A113-8653-F2F2-CF9E-DB10B0FF1E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4D5E84-50F9-4E8A-902D-8ADBB9AEA009}" type="slidenum">
              <a:rPr lang="el-GR" smtClean="0"/>
              <a:t>‹#›</a:t>
            </a:fld>
            <a:endParaRPr lang="el-GR"/>
          </a:p>
        </p:txBody>
      </p:sp>
      <p:sp>
        <p:nvSpPr>
          <p:cNvPr id="16" name="Slide Number Placeholder 14">
            <a:extLst>
              <a:ext uri="{FF2B5EF4-FFF2-40B4-BE49-F238E27FC236}">
                <a16:creationId xmlns:a16="http://schemas.microsoft.com/office/drawing/2014/main" id="{10FF6E0F-4C16-095C-AFF6-FA242FEB061D}"/>
              </a:ext>
            </a:extLst>
          </p:cNvPr>
          <p:cNvSpPr txBox="1">
            <a:spLocks/>
          </p:cNvSpPr>
          <p:nvPr userDrawn="1"/>
        </p:nvSpPr>
        <p:spPr>
          <a:xfrm>
            <a:off x="8942452" y="6122713"/>
            <a:ext cx="2743200" cy="365125"/>
          </a:xfrm>
          <a:prstGeom prst="rect">
            <a:avLst/>
          </a:prstGeom>
        </p:spPr>
        <p:txBody>
          <a:bodyPr vert="horz" lIns="91440" tIns="45720" rIns="91440" bIns="45720" rtlCol="0" anchor="ctr"/>
          <a:lstStyle>
            <a:defPPr>
              <a:defRPr lang="el-GR"/>
            </a:defPPr>
            <a:lvl1pPr marL="0" algn="r" defTabSz="914400" rtl="0" eaLnBrk="1" latinLnBrk="0" hangingPunct="1">
              <a:defRPr sz="12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34D5E84-50F9-4E8A-902D-8ADBB9AEA009}" type="slidenum">
              <a:rPr lang="el-GR" smtClean="0"/>
              <a:pPr/>
              <a:t>‹#›</a:t>
            </a:fld>
            <a:endParaRPr lang="el-GR"/>
          </a:p>
        </p:txBody>
      </p:sp>
    </p:spTree>
    <p:extLst>
      <p:ext uri="{BB962C8B-B14F-4D97-AF65-F5344CB8AC3E}">
        <p14:creationId xmlns:p14="http://schemas.microsoft.com/office/powerpoint/2010/main" val="12027380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57200" indent="-457200" algn="l" defTabSz="914400" rtl="0" eaLnBrk="1" latinLnBrk="0" hangingPunct="1">
        <a:lnSpc>
          <a:spcPct val="90000"/>
        </a:lnSpc>
        <a:spcBef>
          <a:spcPts val="1000"/>
        </a:spcBef>
        <a:buClr>
          <a:srgbClr val="92D050"/>
        </a:buClr>
        <a:buFont typeface="Arial" panose="020B0604020202020204" pitchFamily="34" charset="0"/>
        <a:buChar char="•"/>
        <a:defRPr sz="28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Clr>
          <a:srgbClr val="92D050"/>
        </a:buClr>
        <a:buFont typeface="Calibri" panose="020F0502020204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hyperlink" Target="https://elpedison.atlassian.net/browse/ID-367" TargetMode="External"/><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2CC0-0E31-BDD6-C2EF-48FCE74536C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6D0CDC-A27B-A33B-2429-9D896A581F43}"/>
              </a:ext>
            </a:extLst>
          </p:cNvPr>
          <p:cNvSpPr>
            <a:spLocks noGrp="1"/>
          </p:cNvSpPr>
          <p:nvPr>
            <p:ph type="sldNum" idx="12"/>
          </p:nvPr>
        </p:nvSpPr>
        <p:spPr>
          <a:xfrm>
            <a:off x="8610600" y="6057598"/>
            <a:ext cx="2743200" cy="365125"/>
          </a:xfrm>
        </p:spPr>
        <p:txBody>
          <a:bodyPr/>
          <a:lstStyle/>
          <a:p>
            <a:pPr marL="0" lvl="0" indent="0" algn="r" rtl="0">
              <a:spcBef>
                <a:spcPts val="0"/>
              </a:spcBef>
              <a:spcAft>
                <a:spcPts val="0"/>
              </a:spcAft>
              <a:buNone/>
            </a:pPr>
            <a:fld id="{00000000-1234-1234-1234-123412341234}" type="slidenum">
              <a:rPr lang="en-US"/>
              <a:t>1</a:t>
            </a:fld>
            <a:endParaRPr lang="en-US"/>
          </a:p>
        </p:txBody>
      </p:sp>
      <p:sp>
        <p:nvSpPr>
          <p:cNvPr id="4" name="Slide Number Placeholder 1">
            <a:extLst>
              <a:ext uri="{FF2B5EF4-FFF2-40B4-BE49-F238E27FC236}">
                <a16:creationId xmlns:a16="http://schemas.microsoft.com/office/drawing/2014/main" id="{72E3BF0B-EFD4-E805-1B17-319DCB6ECE55}"/>
              </a:ext>
            </a:extLst>
          </p:cNvPr>
          <p:cNvSpPr txBox="1">
            <a:spLocks/>
          </p:cNvSpPr>
          <p:nvPr/>
        </p:nvSpPr>
        <p:spPr>
          <a:xfrm>
            <a:off x="8610600" y="6057598"/>
            <a:ext cx="2743200" cy="365125"/>
          </a:xfrm>
          <a:prstGeom prst="rect">
            <a:avLst/>
          </a:prstGeom>
          <a:noFill/>
          <a:ln>
            <a:noFill/>
          </a:ln>
        </p:spPr>
        <p:txBody>
          <a:bodyPr spcFirstLastPara="1" vert="horz" wrap="square" lIns="91425" tIns="45700" rIns="91425" bIns="45700" rtlCol="0" anchor="ctr" anchorCtr="0">
            <a:noAutofit/>
          </a:bodyPr>
          <a:lstStyle>
            <a:defPPr>
              <a:defRPr lang="en-US"/>
            </a:defPPr>
            <a:lvl1pPr marL="0" lvl="0" indent="0" algn="r" defTabSz="914400" rtl="0" eaLnBrk="1" latinLnBrk="0" hangingPunct="1">
              <a:spcBef>
                <a:spcPts val="0"/>
              </a:spcBef>
              <a:buNone/>
              <a:defRPr sz="1200" kern="1200">
                <a:solidFill>
                  <a:schemeClr val="tx1">
                    <a:tint val="75000"/>
                  </a:schemeClr>
                </a:solidFill>
                <a:latin typeface="+mn-lt"/>
                <a:ea typeface="+mn-ea"/>
                <a:cs typeface="+mn-cs"/>
              </a:defRPr>
            </a:lvl1pPr>
            <a:lvl2pPr marL="0" lvl="1" indent="0" algn="r" defTabSz="914400" rtl="0" eaLnBrk="1" latinLnBrk="0" hangingPunct="1">
              <a:spcBef>
                <a:spcPts val="0"/>
              </a:spcBef>
              <a:buNone/>
              <a:defRPr sz="1800" kern="1200">
                <a:solidFill>
                  <a:schemeClr val="tx1"/>
                </a:solidFill>
                <a:latin typeface="+mn-lt"/>
                <a:ea typeface="+mn-ea"/>
                <a:cs typeface="+mn-cs"/>
              </a:defRPr>
            </a:lvl2pPr>
            <a:lvl3pPr marL="0" lvl="2" indent="0" algn="r" defTabSz="914400" rtl="0" eaLnBrk="1" latinLnBrk="0" hangingPunct="1">
              <a:spcBef>
                <a:spcPts val="0"/>
              </a:spcBef>
              <a:buNone/>
              <a:defRPr sz="1800" kern="1200">
                <a:solidFill>
                  <a:schemeClr val="tx1"/>
                </a:solidFill>
                <a:latin typeface="+mn-lt"/>
                <a:ea typeface="+mn-ea"/>
                <a:cs typeface="+mn-cs"/>
              </a:defRPr>
            </a:lvl3pPr>
            <a:lvl4pPr marL="0" lvl="3" indent="0" algn="r" defTabSz="914400" rtl="0" eaLnBrk="1" latinLnBrk="0" hangingPunct="1">
              <a:spcBef>
                <a:spcPts val="0"/>
              </a:spcBef>
              <a:buNone/>
              <a:defRPr sz="1800" kern="1200">
                <a:solidFill>
                  <a:schemeClr val="tx1"/>
                </a:solidFill>
                <a:latin typeface="+mn-lt"/>
                <a:ea typeface="+mn-ea"/>
                <a:cs typeface="+mn-cs"/>
              </a:defRPr>
            </a:lvl4pPr>
            <a:lvl5pPr marL="0" lvl="4" indent="0" algn="r" defTabSz="914400" rtl="0" eaLnBrk="1" latinLnBrk="0" hangingPunct="1">
              <a:spcBef>
                <a:spcPts val="0"/>
              </a:spcBef>
              <a:buNone/>
              <a:defRPr sz="1800" kern="1200">
                <a:solidFill>
                  <a:schemeClr val="tx1"/>
                </a:solidFill>
                <a:latin typeface="+mn-lt"/>
                <a:ea typeface="+mn-ea"/>
                <a:cs typeface="+mn-cs"/>
              </a:defRPr>
            </a:lvl5pPr>
            <a:lvl6pPr marL="0" lvl="5" indent="0" algn="r" defTabSz="914400" rtl="0" eaLnBrk="1" latinLnBrk="0" hangingPunct="1">
              <a:spcBef>
                <a:spcPts val="0"/>
              </a:spcBef>
              <a:buNone/>
              <a:defRPr sz="1800" kern="1200">
                <a:solidFill>
                  <a:schemeClr val="tx1"/>
                </a:solidFill>
                <a:latin typeface="+mn-lt"/>
                <a:ea typeface="+mn-ea"/>
                <a:cs typeface="+mn-cs"/>
              </a:defRPr>
            </a:lvl6pPr>
            <a:lvl7pPr marL="0" lvl="6" indent="0" algn="r" defTabSz="914400" rtl="0" eaLnBrk="1" latinLnBrk="0" hangingPunct="1">
              <a:spcBef>
                <a:spcPts val="0"/>
              </a:spcBef>
              <a:buNone/>
              <a:defRPr sz="1800" kern="1200">
                <a:solidFill>
                  <a:schemeClr val="tx1"/>
                </a:solidFill>
                <a:latin typeface="+mn-lt"/>
                <a:ea typeface="+mn-ea"/>
                <a:cs typeface="+mn-cs"/>
              </a:defRPr>
            </a:lvl7pPr>
            <a:lvl8pPr marL="0" lvl="7" indent="0" algn="r" defTabSz="914400" rtl="0" eaLnBrk="1" latinLnBrk="0" hangingPunct="1">
              <a:spcBef>
                <a:spcPts val="0"/>
              </a:spcBef>
              <a:buNone/>
              <a:defRPr sz="1800" kern="1200">
                <a:solidFill>
                  <a:schemeClr val="tx1"/>
                </a:solidFill>
                <a:latin typeface="+mn-lt"/>
                <a:ea typeface="+mn-ea"/>
                <a:cs typeface="+mn-cs"/>
              </a:defRPr>
            </a:lvl8pPr>
            <a:lvl9pPr marL="0" lvl="8" indent="0" algn="r" defTabSz="914400" rtl="0" eaLnBrk="1" latinLnBrk="0" hangingPunct="1">
              <a:spcBef>
                <a:spcPts val="0"/>
              </a:spcBef>
              <a:buNone/>
              <a:defRPr sz="1800" kern="1200">
                <a:solidFill>
                  <a:schemeClr val="tx1"/>
                </a:solidFill>
                <a:latin typeface="+mn-lt"/>
                <a:ea typeface="+mn-ea"/>
                <a:cs typeface="+mn-cs"/>
              </a:defRPr>
            </a:lvl9pPr>
          </a:lstStyle>
          <a:p>
            <a:pPr>
              <a:defRPr/>
            </a:pPr>
            <a:fld id="{00000000-1234-1234-1234-123412341234}" type="slidenum">
              <a:rPr lang="en-US" smtClean="0">
                <a:solidFill>
                  <a:srgbClr val="2E5684">
                    <a:tint val="75000"/>
                  </a:srgbClr>
                </a:solidFill>
                <a:latin typeface="Calibri" panose="020F0502020204030204"/>
              </a:rPr>
              <a:pPr>
                <a:defRPr/>
              </a:pPr>
              <a:t>1</a:t>
            </a:fld>
            <a:endParaRPr lang="en-US">
              <a:solidFill>
                <a:srgbClr val="2E5684">
                  <a:tint val="75000"/>
                </a:srgbClr>
              </a:solidFill>
              <a:latin typeface="Calibri" panose="020F0502020204030204"/>
            </a:endParaRPr>
          </a:p>
        </p:txBody>
      </p:sp>
      <p:graphicFrame>
        <p:nvGraphicFramePr>
          <p:cNvPr id="5" name="Content Placeholder 4">
            <a:extLst>
              <a:ext uri="{FF2B5EF4-FFF2-40B4-BE49-F238E27FC236}">
                <a16:creationId xmlns:a16="http://schemas.microsoft.com/office/drawing/2014/main" id="{344809F9-DE2F-8D16-5497-F3B60A5AAF69}"/>
              </a:ext>
            </a:extLst>
          </p:cNvPr>
          <p:cNvGraphicFramePr>
            <a:graphicFrameLocks/>
          </p:cNvGraphicFramePr>
          <p:nvPr>
            <p:extLst>
              <p:ext uri="{D42A27DB-BD31-4B8C-83A1-F6EECF244321}">
                <p14:modId xmlns:p14="http://schemas.microsoft.com/office/powerpoint/2010/main" val="3118536193"/>
              </p:ext>
            </p:extLst>
          </p:nvPr>
        </p:nvGraphicFramePr>
        <p:xfrm>
          <a:off x="5304063" y="23586"/>
          <a:ext cx="6613073" cy="695077"/>
        </p:xfrm>
        <a:graphic>
          <a:graphicData uri="http://schemas.openxmlformats.org/drawingml/2006/table">
            <a:tbl>
              <a:tblPr firstRow="1" bandRow="1"/>
              <a:tblGrid>
                <a:gridCol w="724595">
                  <a:extLst>
                    <a:ext uri="{9D8B030D-6E8A-4147-A177-3AD203B41FA5}">
                      <a16:colId xmlns:a16="http://schemas.microsoft.com/office/drawing/2014/main" val="20000"/>
                    </a:ext>
                  </a:extLst>
                </a:gridCol>
                <a:gridCol w="739303">
                  <a:extLst>
                    <a:ext uri="{9D8B030D-6E8A-4147-A177-3AD203B41FA5}">
                      <a16:colId xmlns:a16="http://schemas.microsoft.com/office/drawing/2014/main" val="20001"/>
                    </a:ext>
                  </a:extLst>
                </a:gridCol>
                <a:gridCol w="1712068">
                  <a:extLst>
                    <a:ext uri="{9D8B030D-6E8A-4147-A177-3AD203B41FA5}">
                      <a16:colId xmlns:a16="http://schemas.microsoft.com/office/drawing/2014/main" val="20002"/>
                    </a:ext>
                  </a:extLst>
                </a:gridCol>
                <a:gridCol w="2033080">
                  <a:extLst>
                    <a:ext uri="{9D8B030D-6E8A-4147-A177-3AD203B41FA5}">
                      <a16:colId xmlns:a16="http://schemas.microsoft.com/office/drawing/2014/main" val="3624839458"/>
                    </a:ext>
                  </a:extLst>
                </a:gridCol>
                <a:gridCol w="1404027">
                  <a:extLst>
                    <a:ext uri="{9D8B030D-6E8A-4147-A177-3AD203B41FA5}">
                      <a16:colId xmlns:a16="http://schemas.microsoft.com/office/drawing/2014/main" val="2847559459"/>
                    </a:ext>
                  </a:extLst>
                </a:gridCol>
              </a:tblGrid>
              <a:tr h="20602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SAP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JIRA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PM/BP</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Business Owner</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Involved </a:t>
                      </a:r>
                      <a:r>
                        <a:rPr lang="en-US" sz="1100" b="1" kern="1200" err="1">
                          <a:solidFill>
                            <a:schemeClr val="lt1"/>
                          </a:solidFill>
                          <a:latin typeface="+mn-lt"/>
                          <a:ea typeface="+mn-ea"/>
                          <a:cs typeface="Arial"/>
                        </a:rPr>
                        <a:t>DIvisions</a:t>
                      </a:r>
                      <a:endParaRPr lang="en-US" sz="1100" b="1" kern="1200">
                        <a:solidFill>
                          <a:schemeClr val="lt1"/>
                        </a:solidFill>
                        <a:latin typeface="+mn-lt"/>
                        <a:ea typeface="+mn-ea"/>
                        <a:cs typeface="Arial"/>
                      </a:endParaRP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435997">
                <a:tc>
                  <a:txBody>
                    <a:bodyPr/>
                    <a:lstStyle/>
                    <a:p>
                      <a:pPr algn="ctr"/>
                      <a:r>
                        <a:rPr lang="en-US" sz="1100" b="1" kern="1200">
                          <a:solidFill>
                            <a:schemeClr val="dk1"/>
                          </a:solidFill>
                          <a:latin typeface="+mn-lt"/>
                          <a:ea typeface="+mn-ea"/>
                          <a:cs typeface="+mn-cs"/>
                        </a:rPr>
                        <a:t>I/00086</a:t>
                      </a:r>
                    </a:p>
                  </a:txBody>
                  <a:tcPr marL="68580" marR="68580" marT="0" marB="0"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100" b="1" kern="1200">
                          <a:solidFill>
                            <a:schemeClr val="dk1"/>
                          </a:solidFill>
                          <a:latin typeface="+mn-lt"/>
                          <a:ea typeface="+mn-ea"/>
                          <a:cs typeface="+mn-cs"/>
                        </a:rPr>
                        <a:t>PMO-176</a:t>
                      </a:r>
                    </a:p>
                  </a:txBody>
                  <a:tcPr marL="9525" marR="9525" marT="9525" marB="0" anchor="ctr">
                    <a:lnL w="12700" cap="flat" cmpd="sng" algn="ctr">
                      <a:solidFill>
                        <a:schemeClr val="bg1"/>
                      </a:solidFill>
                      <a:prstDash val="solid"/>
                      <a:round/>
                      <a:headEnd type="none" w="med" len="med"/>
                      <a:tailEnd type="none" w="med" len="med"/>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rtl="0" eaLnBrk="1" latinLnBrk="0" hangingPunct="1"/>
                      <a:r>
                        <a:rPr lang="en-US" sz="1100" b="1" kern="1200">
                          <a:solidFill>
                            <a:schemeClr val="dk1"/>
                          </a:solidFill>
                          <a:latin typeface="+mn-lt"/>
                          <a:ea typeface="+mn-ea"/>
                          <a:cs typeface="+mn-cs"/>
                        </a:rPr>
                        <a:t>Papoutsi Stella</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DDDE</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DDDE, IT, Finance &amp; Control, Commercial</a:t>
                      </a:r>
                    </a:p>
                  </a:txBody>
                  <a:tcPr marL="84406" marR="84406" anchor="ctr">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D5F2D10D-6376-7967-379B-861856123336}"/>
              </a:ext>
            </a:extLst>
          </p:cNvPr>
          <p:cNvGraphicFramePr>
            <a:graphicFrameLocks/>
          </p:cNvGraphicFramePr>
          <p:nvPr/>
        </p:nvGraphicFramePr>
        <p:xfrm>
          <a:off x="5313134" y="740228"/>
          <a:ext cx="6604003" cy="566675"/>
        </p:xfrm>
        <a:graphic>
          <a:graphicData uri="http://schemas.openxmlformats.org/drawingml/2006/table">
            <a:tbl>
              <a:tblPr firstRow="1" bandRow="1"/>
              <a:tblGrid>
                <a:gridCol w="1651001">
                  <a:extLst>
                    <a:ext uri="{9D8B030D-6E8A-4147-A177-3AD203B41FA5}">
                      <a16:colId xmlns:a16="http://schemas.microsoft.com/office/drawing/2014/main" val="20000"/>
                    </a:ext>
                  </a:extLst>
                </a:gridCol>
                <a:gridCol w="1686788">
                  <a:extLst>
                    <a:ext uri="{9D8B030D-6E8A-4147-A177-3AD203B41FA5}">
                      <a16:colId xmlns:a16="http://schemas.microsoft.com/office/drawing/2014/main" val="20001"/>
                    </a:ext>
                  </a:extLst>
                </a:gridCol>
                <a:gridCol w="1615213">
                  <a:extLst>
                    <a:ext uri="{9D8B030D-6E8A-4147-A177-3AD203B41FA5}">
                      <a16:colId xmlns:a16="http://schemas.microsoft.com/office/drawing/2014/main" val="20002"/>
                    </a:ext>
                  </a:extLst>
                </a:gridCol>
                <a:gridCol w="1651001">
                  <a:extLst>
                    <a:ext uri="{9D8B030D-6E8A-4147-A177-3AD203B41FA5}">
                      <a16:colId xmlns:a16="http://schemas.microsoft.com/office/drawing/2014/main" val="20003"/>
                    </a:ext>
                  </a:extLst>
                </a:gridCol>
              </a:tblGrid>
              <a:tr h="227035">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Overall</a:t>
                      </a:r>
                    </a:p>
                  </a:txBody>
                  <a:tcPr marL="84406" marR="84406">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Schedule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Cost</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Scope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07595">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solidFill>
                          <a:schemeClr val="bg2"/>
                        </a:solidFill>
                      </a:endParaRPr>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27047014"/>
                  </a:ext>
                </a:extLst>
              </a:tr>
            </a:tbl>
          </a:graphicData>
        </a:graphic>
      </p:graphicFrame>
      <p:graphicFrame>
        <p:nvGraphicFramePr>
          <p:cNvPr id="7" name="Content Placeholder 4">
            <a:extLst>
              <a:ext uri="{FF2B5EF4-FFF2-40B4-BE49-F238E27FC236}">
                <a16:creationId xmlns:a16="http://schemas.microsoft.com/office/drawing/2014/main" id="{DB6CA187-29C3-EB43-7D88-7B5EC774364E}"/>
              </a:ext>
            </a:extLst>
          </p:cNvPr>
          <p:cNvGraphicFramePr>
            <a:graphicFrameLocks/>
          </p:cNvGraphicFramePr>
          <p:nvPr>
            <p:extLst>
              <p:ext uri="{D42A27DB-BD31-4B8C-83A1-F6EECF244321}">
                <p14:modId xmlns:p14="http://schemas.microsoft.com/office/powerpoint/2010/main" val="2267184278"/>
              </p:ext>
            </p:extLst>
          </p:nvPr>
        </p:nvGraphicFramePr>
        <p:xfrm>
          <a:off x="5304063" y="1293585"/>
          <a:ext cx="6613074" cy="774259"/>
        </p:xfrm>
        <a:graphic>
          <a:graphicData uri="http://schemas.openxmlformats.org/drawingml/2006/table">
            <a:tbl>
              <a:tblPr firstRow="1" bandRow="1"/>
              <a:tblGrid>
                <a:gridCol w="1322615">
                  <a:extLst>
                    <a:ext uri="{9D8B030D-6E8A-4147-A177-3AD203B41FA5}">
                      <a16:colId xmlns:a16="http://schemas.microsoft.com/office/drawing/2014/main" val="20000"/>
                    </a:ext>
                  </a:extLst>
                </a:gridCol>
                <a:gridCol w="1165775">
                  <a:extLst>
                    <a:ext uri="{9D8B030D-6E8A-4147-A177-3AD203B41FA5}">
                      <a16:colId xmlns:a16="http://schemas.microsoft.com/office/drawing/2014/main" val="20001"/>
                    </a:ext>
                  </a:extLst>
                </a:gridCol>
                <a:gridCol w="1479454">
                  <a:extLst>
                    <a:ext uri="{9D8B030D-6E8A-4147-A177-3AD203B41FA5}">
                      <a16:colId xmlns:a16="http://schemas.microsoft.com/office/drawing/2014/main" val="20002"/>
                    </a:ext>
                  </a:extLst>
                </a:gridCol>
                <a:gridCol w="1322615">
                  <a:extLst>
                    <a:ext uri="{9D8B030D-6E8A-4147-A177-3AD203B41FA5}">
                      <a16:colId xmlns:a16="http://schemas.microsoft.com/office/drawing/2014/main" val="20003"/>
                    </a:ext>
                  </a:extLst>
                </a:gridCol>
                <a:gridCol w="1322615">
                  <a:extLst>
                    <a:ext uri="{9D8B030D-6E8A-4147-A177-3AD203B41FA5}">
                      <a16:colId xmlns:a16="http://schemas.microsoft.com/office/drawing/2014/main" val="1179070743"/>
                    </a:ext>
                  </a:extLst>
                </a:gridCol>
              </a:tblGrid>
              <a:tr h="347539">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baseline="0">
                          <a:latin typeface="Calibri"/>
                        </a:rPr>
                        <a:t>Project  Status</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Work Completed</a:t>
                      </a:r>
                      <a:r>
                        <a:rPr lang="en-US" sz="1100" baseline="0">
                          <a:latin typeface="Calibri"/>
                        </a:rPr>
                        <a:t> (%)</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Baseline</a:t>
                      </a:r>
                      <a:r>
                        <a:rPr lang="en-US" sz="1100" baseline="0">
                          <a:latin typeface="Calibri"/>
                        </a:rPr>
                        <a:t> Budget</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 Start Date</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Planned/Estimated Completion Date</a:t>
                      </a:r>
                    </a:p>
                  </a:txBody>
                  <a:tcPr marL="84406" marR="84406">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47539">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b="0" kern="1200">
                          <a:solidFill>
                            <a:schemeClr val="dk1"/>
                          </a:solidFill>
                          <a:latin typeface="+mn-lt"/>
                          <a:ea typeface="+mn-ea"/>
                          <a:cs typeface="+mn-cs"/>
                        </a:rPr>
                        <a:t>Analysis</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b="0" kern="1200">
                          <a:solidFill>
                            <a:schemeClr val="dk1"/>
                          </a:solidFill>
                          <a:latin typeface="+mn-lt"/>
                          <a:ea typeface="+mn-ea"/>
                          <a:cs typeface="+mn-cs"/>
                        </a:rPr>
                        <a:t>1</a:t>
                      </a:r>
                      <a:r>
                        <a:rPr lang="el-GR" sz="1100" b="0" kern="1200">
                          <a:solidFill>
                            <a:schemeClr val="dk1"/>
                          </a:solidFill>
                          <a:latin typeface="+mn-lt"/>
                          <a:ea typeface="+mn-ea"/>
                          <a:cs typeface="+mn-cs"/>
                        </a:rPr>
                        <a:t>5</a:t>
                      </a:r>
                      <a:endParaRPr lang="en-US" sz="1100" b="0" kern="1200">
                        <a:solidFill>
                          <a:schemeClr val="dk1"/>
                        </a:solidFill>
                        <a:latin typeface="+mn-lt"/>
                        <a:ea typeface="+mn-ea"/>
                        <a:cs typeface="+mn-cs"/>
                      </a:endParaRP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457198" rtl="0" eaLnBrk="1" latinLnBrk="0" hangingPunct="1"/>
                      <a:r>
                        <a:rPr lang="en-US" sz="1100" b="0" kern="1200">
                          <a:solidFill>
                            <a:schemeClr val="dk1"/>
                          </a:solidFill>
                          <a:latin typeface="+mn-lt"/>
                          <a:ea typeface="+mn-ea"/>
                          <a:cs typeface="+mn-cs"/>
                        </a:rPr>
                        <a:t>245K</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b="0" kern="1200">
                          <a:solidFill>
                            <a:schemeClr val="dk1"/>
                          </a:solidFill>
                          <a:latin typeface="+mn-lt"/>
                          <a:ea typeface="+mn-ea"/>
                          <a:cs typeface="+mn-cs"/>
                        </a:rPr>
                        <a:t>11 April 25</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100" b="0" kern="1200">
                          <a:solidFill>
                            <a:schemeClr val="dk1"/>
                          </a:solidFill>
                          <a:latin typeface="+mn-lt"/>
                          <a:ea typeface="+mn-ea"/>
                          <a:cs typeface="+mn-cs"/>
                        </a:rPr>
                        <a:t>31 May 26</a:t>
                      </a:r>
                    </a:p>
                  </a:txBody>
                  <a:tcPr marL="84406" marR="84406">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12" name="Table 11">
            <a:extLst>
              <a:ext uri="{FF2B5EF4-FFF2-40B4-BE49-F238E27FC236}">
                <a16:creationId xmlns:a16="http://schemas.microsoft.com/office/drawing/2014/main" id="{CEF8B8B6-3AE5-E494-C868-106D29217DF0}"/>
              </a:ext>
            </a:extLst>
          </p:cNvPr>
          <p:cNvGraphicFramePr>
            <a:graphicFrameLocks noGrp="1"/>
          </p:cNvGraphicFramePr>
          <p:nvPr>
            <p:extLst>
              <p:ext uri="{D42A27DB-BD31-4B8C-83A1-F6EECF244321}">
                <p14:modId xmlns:p14="http://schemas.microsoft.com/office/powerpoint/2010/main" val="1353287749"/>
              </p:ext>
            </p:extLst>
          </p:nvPr>
        </p:nvGraphicFramePr>
        <p:xfrm>
          <a:off x="251440" y="2035060"/>
          <a:ext cx="11683580" cy="1270796"/>
        </p:xfrm>
        <a:graphic>
          <a:graphicData uri="http://schemas.openxmlformats.org/drawingml/2006/table">
            <a:tbl>
              <a:tblPr firstRow="1" bandRow="1"/>
              <a:tblGrid>
                <a:gridCol w="3493300">
                  <a:extLst>
                    <a:ext uri="{9D8B030D-6E8A-4147-A177-3AD203B41FA5}">
                      <a16:colId xmlns:a16="http://schemas.microsoft.com/office/drawing/2014/main" val="20000"/>
                    </a:ext>
                  </a:extLst>
                </a:gridCol>
                <a:gridCol w="885137">
                  <a:extLst>
                    <a:ext uri="{9D8B030D-6E8A-4147-A177-3AD203B41FA5}">
                      <a16:colId xmlns:a16="http://schemas.microsoft.com/office/drawing/2014/main" val="20001"/>
                    </a:ext>
                  </a:extLst>
                </a:gridCol>
                <a:gridCol w="2040473">
                  <a:extLst>
                    <a:ext uri="{9D8B030D-6E8A-4147-A177-3AD203B41FA5}">
                      <a16:colId xmlns:a16="http://schemas.microsoft.com/office/drawing/2014/main" val="20002"/>
                    </a:ext>
                  </a:extLst>
                </a:gridCol>
                <a:gridCol w="5264670">
                  <a:extLst>
                    <a:ext uri="{9D8B030D-6E8A-4147-A177-3AD203B41FA5}">
                      <a16:colId xmlns:a16="http://schemas.microsoft.com/office/drawing/2014/main" val="20005"/>
                    </a:ext>
                  </a:extLst>
                </a:gridCol>
              </a:tblGrid>
              <a:tr h="35913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400" b="1">
                          <a:effectLst/>
                        </a:rPr>
                        <a:t>Phases/Milestones/Deliverables</a:t>
                      </a:r>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R/A/G</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Estimated Delivery Date</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Remarks on progress</a:t>
                      </a:r>
                      <a:endParaRPr lang="en-US" sz="1400"/>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30388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lnSpc>
                          <a:spcPct val="100000"/>
                        </a:lnSpc>
                        <a:spcBef>
                          <a:spcPts val="0"/>
                        </a:spcBef>
                        <a:spcAft>
                          <a:spcPts val="0"/>
                        </a:spcAft>
                        <a:buNone/>
                      </a:pPr>
                      <a:r>
                        <a:rPr lang="en-US" sz="1150" kern="1200" noProof="0">
                          <a:solidFill>
                            <a:schemeClr val="tx1"/>
                          </a:solidFill>
                          <a:latin typeface="+mn-lt"/>
                          <a:ea typeface="+mn-ea"/>
                          <a:cs typeface="+mn-cs"/>
                        </a:rPr>
                        <a:t>Setup the new Fabric platform</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150" kern="1200">
                          <a:solidFill>
                            <a:schemeClr val="tx1"/>
                          </a:solidFill>
                          <a:latin typeface="+mn-lt"/>
                          <a:ea typeface="+mn-ea"/>
                          <a:cs typeface="+mn-cs"/>
                        </a:rPr>
                        <a:t>30/4/2025</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buNone/>
                      </a:pPr>
                      <a:r>
                        <a:rPr lang="en-US" sz="1150" b="0" i="0" u="none" strike="noStrike" kern="1200">
                          <a:solidFill>
                            <a:srgbClr val="2E5684"/>
                          </a:solidFill>
                          <a:latin typeface="Calibri"/>
                          <a:ea typeface="+mn-ea"/>
                          <a:cs typeface="+mn-cs"/>
                        </a:rPr>
                        <a:t>Completed</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2038214"/>
                  </a:ext>
                </a:extLst>
              </a:tr>
              <a:tr h="303886">
                <a:tc>
                  <a:txBody>
                    <a:bodyPr/>
                    <a:lstStyle/>
                    <a:p>
                      <a:pPr lvl="0" algn="l">
                        <a:lnSpc>
                          <a:spcPct val="100000"/>
                        </a:lnSpc>
                        <a:spcBef>
                          <a:spcPts val="0"/>
                        </a:spcBef>
                        <a:spcAft>
                          <a:spcPts val="0"/>
                        </a:spcAft>
                        <a:buNone/>
                      </a:pPr>
                      <a:r>
                        <a:rPr lang="en-US" sz="1150" kern="1200" noProof="0">
                          <a:solidFill>
                            <a:schemeClr val="tx1"/>
                          </a:solidFill>
                          <a:latin typeface="+mn-lt"/>
                          <a:ea typeface="+mn-ea"/>
                          <a:cs typeface="+mn-cs"/>
                        </a:rPr>
                        <a:t>Implementation of the data model</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15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lvl="0" algn="ctr">
                        <a:buNone/>
                      </a:pPr>
                      <a:r>
                        <a:rPr lang="en-US" sz="1150"/>
                        <a:t>14/5/2026</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lvl="0" algn="l">
                        <a:lnSpc>
                          <a:spcPct val="100000"/>
                        </a:lnSpc>
                        <a:spcBef>
                          <a:spcPts val="0"/>
                        </a:spcBef>
                        <a:spcAft>
                          <a:spcPts val="0"/>
                        </a:spcAft>
                        <a:buNone/>
                      </a:pPr>
                      <a:r>
                        <a:rPr lang="en-US" sz="1150" b="0" i="0" u="none" strike="noStrike" noProof="0">
                          <a:solidFill>
                            <a:srgbClr val="2E5684"/>
                          </a:solidFill>
                          <a:latin typeface="Calibri"/>
                        </a:rPr>
                        <a:t>In progress</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499105613"/>
                  </a:ext>
                </a:extLst>
              </a:tr>
              <a:tr h="30388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lnSpc>
                          <a:spcPct val="100000"/>
                        </a:lnSpc>
                        <a:spcBef>
                          <a:spcPts val="0"/>
                        </a:spcBef>
                        <a:spcAft>
                          <a:spcPts val="0"/>
                        </a:spcAft>
                        <a:buNone/>
                      </a:pPr>
                      <a:r>
                        <a:rPr lang="en-US" sz="1100" b="0" i="0" u="none" strike="noStrike" kern="1200" noProof="0">
                          <a:solidFill>
                            <a:srgbClr val="2E5684"/>
                          </a:solidFill>
                          <a:latin typeface="Calibri"/>
                        </a:rPr>
                        <a:t>User reports</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15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ctr">
                        <a:buNone/>
                      </a:pPr>
                      <a:r>
                        <a:rPr lang="en-US" sz="1150"/>
                        <a:t>31/5/2026 </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lnSpc>
                          <a:spcPct val="100000"/>
                        </a:lnSpc>
                        <a:spcBef>
                          <a:spcPts val="0"/>
                        </a:spcBef>
                        <a:spcAft>
                          <a:spcPts val="0"/>
                        </a:spcAft>
                        <a:buNone/>
                      </a:pPr>
                      <a:r>
                        <a:rPr lang="en-US" sz="1150" b="0" i="0" u="none" strike="noStrike" kern="1200" noProof="0">
                          <a:solidFill>
                            <a:srgbClr val="2E5684"/>
                          </a:solidFill>
                          <a:latin typeface="Calibri"/>
                          <a:ea typeface="+mn-ea"/>
                          <a:cs typeface="+mn-cs"/>
                        </a:rPr>
                        <a:t>Pending</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174709326"/>
                  </a:ext>
                </a:extLst>
              </a:tr>
            </a:tbl>
          </a:graphicData>
        </a:graphic>
      </p:graphicFrame>
      <p:graphicFrame>
        <p:nvGraphicFramePr>
          <p:cNvPr id="13" name="Table 12">
            <a:extLst>
              <a:ext uri="{FF2B5EF4-FFF2-40B4-BE49-F238E27FC236}">
                <a16:creationId xmlns:a16="http://schemas.microsoft.com/office/drawing/2014/main" id="{C0714F67-6569-986F-4269-10E07D2C06D7}"/>
              </a:ext>
            </a:extLst>
          </p:cNvPr>
          <p:cNvGraphicFramePr>
            <a:graphicFrameLocks noGrp="1"/>
          </p:cNvGraphicFramePr>
          <p:nvPr>
            <p:extLst>
              <p:ext uri="{D42A27DB-BD31-4B8C-83A1-F6EECF244321}">
                <p14:modId xmlns:p14="http://schemas.microsoft.com/office/powerpoint/2010/main" val="1256552085"/>
              </p:ext>
            </p:extLst>
          </p:nvPr>
        </p:nvGraphicFramePr>
        <p:xfrm>
          <a:off x="251442" y="32930"/>
          <a:ext cx="4958664" cy="406005"/>
        </p:xfrm>
        <a:graphic>
          <a:graphicData uri="http://schemas.openxmlformats.org/drawingml/2006/table">
            <a:tbl>
              <a:tblPr firstRow="1" bandRow="1"/>
              <a:tblGrid>
                <a:gridCol w="1254142">
                  <a:extLst>
                    <a:ext uri="{9D8B030D-6E8A-4147-A177-3AD203B41FA5}">
                      <a16:colId xmlns:a16="http://schemas.microsoft.com/office/drawing/2014/main" val="110687116"/>
                    </a:ext>
                  </a:extLst>
                </a:gridCol>
                <a:gridCol w="3704522">
                  <a:extLst>
                    <a:ext uri="{9D8B030D-6E8A-4147-A177-3AD203B41FA5}">
                      <a16:colId xmlns:a16="http://schemas.microsoft.com/office/drawing/2014/main" val="3314271387"/>
                    </a:ext>
                  </a:extLst>
                </a:gridCol>
              </a:tblGrid>
              <a:tr h="40600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Name</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lvl="0" algn="ctr">
                        <a:buNone/>
                      </a:pPr>
                      <a:r>
                        <a:rPr lang="en-GB" sz="1400" b="1" i="0" kern="1200">
                          <a:solidFill>
                            <a:schemeClr val="dk1"/>
                          </a:solidFill>
                          <a:effectLst/>
                          <a:latin typeface="+mn-lt"/>
                          <a:ea typeface="+mn-ea"/>
                          <a:cs typeface="+mn-cs"/>
                        </a:rPr>
                        <a:t>Data Fabric and Advanced Analytics</a:t>
                      </a:r>
                      <a:endParaRPr lang="en-US" sz="1400" b="1" i="0" kern="1200">
                        <a:solidFill>
                          <a:schemeClr val="dk1"/>
                        </a:solidFill>
                        <a:effectLst/>
                        <a:latin typeface="+mn-lt"/>
                        <a:ea typeface="+mn-ea"/>
                        <a:cs typeface="+mn-cs"/>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graphicFrame>
        <p:nvGraphicFramePr>
          <p:cNvPr id="14" name="Table 13">
            <a:extLst>
              <a:ext uri="{FF2B5EF4-FFF2-40B4-BE49-F238E27FC236}">
                <a16:creationId xmlns:a16="http://schemas.microsoft.com/office/drawing/2014/main" id="{A1F7E52F-D9B3-BFC4-865A-4A8009E5ED14}"/>
              </a:ext>
            </a:extLst>
          </p:cNvPr>
          <p:cNvGraphicFramePr>
            <a:graphicFrameLocks noGrp="1"/>
          </p:cNvGraphicFramePr>
          <p:nvPr>
            <p:extLst>
              <p:ext uri="{D42A27DB-BD31-4B8C-83A1-F6EECF244321}">
                <p14:modId xmlns:p14="http://schemas.microsoft.com/office/powerpoint/2010/main" val="3592771828"/>
              </p:ext>
            </p:extLst>
          </p:nvPr>
        </p:nvGraphicFramePr>
        <p:xfrm>
          <a:off x="251440" y="3228760"/>
          <a:ext cx="11683580" cy="1722120"/>
        </p:xfrm>
        <a:graphic>
          <a:graphicData uri="http://schemas.openxmlformats.org/drawingml/2006/table">
            <a:tbl>
              <a:tblPr>
                <a:tableStyleId>{5C22544A-7EE6-4342-B048-85BDC9FD1C3A}</a:tableStyleId>
              </a:tblPr>
              <a:tblGrid>
                <a:gridCol w="5841430">
                  <a:extLst>
                    <a:ext uri="{9D8B030D-6E8A-4147-A177-3AD203B41FA5}">
                      <a16:colId xmlns:a16="http://schemas.microsoft.com/office/drawing/2014/main" val="3768886055"/>
                    </a:ext>
                  </a:extLst>
                </a:gridCol>
                <a:gridCol w="5842150">
                  <a:extLst>
                    <a:ext uri="{9D8B030D-6E8A-4147-A177-3AD203B41FA5}">
                      <a16:colId xmlns:a16="http://schemas.microsoft.com/office/drawing/2014/main" val="2712732260"/>
                    </a:ext>
                  </a:extLst>
                </a:gridCol>
              </a:tblGrid>
              <a:tr h="176393">
                <a:tc>
                  <a:txBody>
                    <a:bodyPr/>
                    <a:lstStyle/>
                    <a:p>
                      <a:pPr algn="ctr" fontAlgn="ctr"/>
                      <a:r>
                        <a:rPr lang="en-US" sz="1400" b="1" u="none" strike="noStrike">
                          <a:effectLst/>
                        </a:rPr>
                        <a:t>Activities Performed &amp; Milestones Achieved</a:t>
                      </a:r>
                      <a:endParaRPr lang="en-US" sz="14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tc>
                  <a:txBody>
                    <a:bodyPr/>
                    <a:lstStyle/>
                    <a:p>
                      <a:pPr algn="ctr" fontAlgn="ctr"/>
                      <a:r>
                        <a:rPr lang="en-US" sz="1400" b="1" u="none" strike="noStrike">
                          <a:effectLst/>
                        </a:rPr>
                        <a:t>Major Action Items - Upcoming Activities – Comments</a:t>
                      </a:r>
                      <a:endParaRPr lang="en-US" sz="14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extLst>
                  <a:ext uri="{0D108BD9-81ED-4DB2-BD59-A6C34878D82A}">
                    <a16:rowId xmlns:a16="http://schemas.microsoft.com/office/drawing/2014/main" val="2763828571"/>
                  </a:ext>
                </a:extLst>
              </a:tr>
              <a:tr h="1437836">
                <a:tc>
                  <a:txBody>
                    <a:bodyPr/>
                    <a:lstStyle/>
                    <a:p>
                      <a:r>
                        <a:rPr lang="en-US" sz="1100" b="1"/>
                        <a:t>Kick-Off: </a:t>
                      </a:r>
                      <a:r>
                        <a:rPr lang="en-US" sz="1100" b="0"/>
                        <a:t>The project kick-off took place on April 11th, successfully aligning all teams on scope, roles, and timelines.</a:t>
                      </a:r>
                    </a:p>
                    <a:p>
                      <a:r>
                        <a:rPr lang="en-US" sz="1100" b="1"/>
                        <a:t>Workshops Completed:</a:t>
                      </a:r>
                    </a:p>
                    <a:p>
                      <a:pPr marL="171450" indent="-171450">
                        <a:buFont typeface="Arial" panose="020B0604020202020204" pitchFamily="34" charset="0"/>
                        <a:buChar char="•"/>
                      </a:pPr>
                      <a:r>
                        <a:rPr lang="en-US" sz="1100" b="0"/>
                        <a:t>Technical integration with IEBS, EFS, and Salesforce</a:t>
                      </a:r>
                    </a:p>
                    <a:p>
                      <a:pPr marL="171450" indent="-171450">
                        <a:buFont typeface="Arial" panose="020B0604020202020204" pitchFamily="34" charset="0"/>
                        <a:buChar char="•"/>
                      </a:pPr>
                      <a:r>
                        <a:rPr lang="en-US" sz="1100" b="0"/>
                        <a:t>Billing data ingestion</a:t>
                      </a:r>
                    </a:p>
                    <a:p>
                      <a:pPr marL="171450" indent="-171450">
                        <a:buFont typeface="Arial" panose="020B0604020202020204" pitchFamily="34" charset="0"/>
                        <a:buChar char="•"/>
                      </a:pPr>
                      <a:r>
                        <a:rPr lang="en-US" sz="1100" b="0"/>
                        <a:t>Main Business Workshop | EES</a:t>
                      </a:r>
                    </a:p>
                    <a:p>
                      <a:pPr marL="171450" indent="-171450">
                        <a:buFont typeface="Arial" panose="020B0604020202020204" pitchFamily="34" charset="0"/>
                        <a:buChar char="•"/>
                      </a:pPr>
                      <a:r>
                        <a:rPr lang="en-US" sz="1100" b="0"/>
                        <a:t>Business Workshop | Sales &amp; Marketing (SME &amp; Large Accounts)</a:t>
                      </a:r>
                    </a:p>
                    <a:p>
                      <a:pPr marL="171450" indent="-171450">
                        <a:buFont typeface="Arial" panose="020B0604020202020204" pitchFamily="34" charset="0"/>
                        <a:buChar char="•"/>
                      </a:pPr>
                      <a:r>
                        <a:rPr lang="en-US" sz="1100" b="0"/>
                        <a:t>All remaining workshops are scheduled to be completed by July 16th.</a:t>
                      </a:r>
                    </a:p>
                  </a:txBody>
                  <a:tcPr marL="0" marR="0" marT="0" marB="0">
                    <a:lnL w="12700" cmpd="sng">
                      <a:solidFill>
                        <a:sysClr val="window" lastClr="FFFFFF"/>
                      </a:solidFill>
                    </a:lnL>
                    <a:lnR w="12700" cap="flat" cmpd="sng" algn="ctr">
                      <a:solidFill>
                        <a:sysClr val="window" lastClr="FFFFFF"/>
                      </a:solidFill>
                      <a:prstDash val="solid"/>
                      <a:round/>
                      <a:headEnd type="none" w="med" len="med"/>
                      <a:tailEnd type="none" w="med" len="med"/>
                    </a:lnR>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71450" marR="0" lvl="0" indent="-171450" algn="l" defTabSz="914400" rtl="0" eaLnBrk="1" latinLnBrk="0" hangingPunct="1">
                        <a:lnSpc>
                          <a:spcPct val="100000"/>
                        </a:lnSpc>
                        <a:spcBef>
                          <a:spcPts val="0"/>
                        </a:spcBef>
                        <a:spcAft>
                          <a:spcPts val="0"/>
                        </a:spcAft>
                        <a:buClrTx/>
                        <a:buSzTx/>
                        <a:buFont typeface="Arial" panose="020B0604020202020204" pitchFamily="34" charset="0"/>
                        <a:buChar char="•"/>
                      </a:pPr>
                      <a:r>
                        <a:rPr lang="en-US" sz="1100" kern="1200">
                          <a:solidFill>
                            <a:schemeClr val="dk1"/>
                          </a:solidFill>
                          <a:latin typeface="+mn-lt"/>
                          <a:ea typeface="+mn-ea"/>
                          <a:cs typeface="+mn-cs"/>
                        </a:rPr>
                        <a:t>Technical integration with SAP.</a:t>
                      </a:r>
                    </a:p>
                    <a:p>
                      <a:pPr marL="171450" marR="0" lvl="0" indent="-171450" algn="l" defTabSz="914400" rtl="0" eaLnBrk="1" latinLnBrk="0" hangingPunct="1">
                        <a:lnSpc>
                          <a:spcPct val="100000"/>
                        </a:lnSpc>
                        <a:spcBef>
                          <a:spcPts val="0"/>
                        </a:spcBef>
                        <a:spcAft>
                          <a:spcPts val="0"/>
                        </a:spcAft>
                        <a:buClrTx/>
                        <a:buSzTx/>
                        <a:buFont typeface="Arial" panose="020B0604020202020204" pitchFamily="34" charset="0"/>
                        <a:buChar char="•"/>
                      </a:pPr>
                      <a:r>
                        <a:rPr lang="en-US" sz="1100" kern="1200">
                          <a:solidFill>
                            <a:schemeClr val="dk1"/>
                          </a:solidFill>
                          <a:latin typeface="+mn-lt"/>
                          <a:ea typeface="+mn-ea"/>
                          <a:cs typeface="+mn-cs"/>
                        </a:rPr>
                        <a:t>Salesforce and Collection data ingestion.</a:t>
                      </a:r>
                    </a:p>
                    <a:p>
                      <a:pPr marL="171450" marR="0" lvl="0" indent="-171450" algn="l" defTabSz="914400" rtl="0" eaLnBrk="1" latinLnBrk="0" hangingPunct="1">
                        <a:lnSpc>
                          <a:spcPct val="100000"/>
                        </a:lnSpc>
                        <a:spcBef>
                          <a:spcPts val="0"/>
                        </a:spcBef>
                        <a:spcAft>
                          <a:spcPts val="0"/>
                        </a:spcAft>
                        <a:buClrTx/>
                        <a:buSzTx/>
                        <a:buFont typeface="Arial" panose="020B0604020202020204" pitchFamily="34" charset="0"/>
                        <a:buChar char="•"/>
                      </a:pPr>
                      <a:r>
                        <a:rPr lang="en-US" sz="1100" kern="1200">
                          <a:solidFill>
                            <a:schemeClr val="dk1"/>
                          </a:solidFill>
                          <a:latin typeface="+mn-lt"/>
                          <a:ea typeface="+mn-ea"/>
                          <a:cs typeface="+mn-cs"/>
                        </a:rPr>
                        <a:t>IT Workshop focused on Salesforce and Billing.</a:t>
                      </a:r>
                    </a:p>
                    <a:p>
                      <a:pPr marL="171450" marR="0" lvl="0" indent="-171450" algn="l" defTabSz="914400" rtl="0" eaLnBrk="1" latinLnBrk="0" hangingPunct="1">
                        <a:lnSpc>
                          <a:spcPct val="100000"/>
                        </a:lnSpc>
                        <a:spcBef>
                          <a:spcPts val="0"/>
                        </a:spcBef>
                        <a:spcAft>
                          <a:spcPts val="0"/>
                        </a:spcAft>
                        <a:buClrTx/>
                        <a:buSzTx/>
                        <a:buFont typeface="Arial" panose="020B0604020202020204" pitchFamily="34" charset="0"/>
                        <a:buChar char="•"/>
                      </a:pPr>
                      <a:r>
                        <a:rPr lang="en-US" sz="1100" kern="1200">
                          <a:solidFill>
                            <a:schemeClr val="dk1"/>
                          </a:solidFill>
                          <a:latin typeface="+mn-lt"/>
                          <a:ea typeface="+mn-ea"/>
                          <a:cs typeface="+mn-cs"/>
                        </a:rPr>
                        <a:t>Business Workshop covering Billing and Customer Care.</a:t>
                      </a:r>
                    </a:p>
                    <a:p>
                      <a:pPr marL="171450" marR="0" lvl="0" indent="-171450" algn="l" defTabSz="914400" rtl="0" eaLnBrk="1" latinLnBrk="0" hangingPunct="1">
                        <a:lnSpc>
                          <a:spcPct val="100000"/>
                        </a:lnSpc>
                        <a:spcBef>
                          <a:spcPts val="0"/>
                        </a:spcBef>
                        <a:spcAft>
                          <a:spcPts val="0"/>
                        </a:spcAft>
                        <a:buClrTx/>
                        <a:buSzTx/>
                        <a:buFont typeface="Arial" panose="020B0604020202020204" pitchFamily="34" charset="0"/>
                        <a:buChar char="•"/>
                      </a:pPr>
                      <a:r>
                        <a:rPr lang="en-US" sz="1100" kern="1200">
                          <a:solidFill>
                            <a:schemeClr val="dk1"/>
                          </a:solidFill>
                          <a:latin typeface="+mn-lt"/>
                          <a:ea typeface="+mn-ea"/>
                          <a:cs typeface="+mn-cs"/>
                        </a:rPr>
                        <a:t>Data Model workshops.</a:t>
                      </a:r>
                    </a:p>
                    <a:p>
                      <a:pPr marL="0" marR="0" lvl="0" indent="0" algn="l" defTabSz="914400" rtl="0" eaLnBrk="1" latinLnBrk="0" hangingPunct="1">
                        <a:lnSpc>
                          <a:spcPct val="100000"/>
                        </a:lnSpc>
                        <a:spcBef>
                          <a:spcPts val="0"/>
                        </a:spcBef>
                        <a:spcAft>
                          <a:spcPts val="0"/>
                        </a:spcAft>
                        <a:buClrTx/>
                        <a:buSzTx/>
                        <a:buFont typeface="Arial" panose="020B0604020202020204" pitchFamily="34" charset="0"/>
                        <a:buNone/>
                      </a:pPr>
                      <a:r>
                        <a:rPr lang="en-US" sz="1100" b="1" kern="1200">
                          <a:solidFill>
                            <a:schemeClr val="dk1"/>
                          </a:solidFill>
                          <a:latin typeface="+mn-lt"/>
                          <a:ea typeface="+mn-ea"/>
                          <a:cs typeface="+mn-cs"/>
                        </a:rPr>
                        <a:t>Additional Actions:</a:t>
                      </a:r>
                    </a:p>
                    <a:p>
                      <a:pPr marL="171450" marR="0" lvl="0" indent="-171450" algn="l" defTabSz="914400" rtl="0" eaLnBrk="1" latinLnBrk="0" hangingPunct="1">
                        <a:lnSpc>
                          <a:spcPct val="100000"/>
                        </a:lnSpc>
                        <a:spcBef>
                          <a:spcPts val="0"/>
                        </a:spcBef>
                        <a:spcAft>
                          <a:spcPts val="0"/>
                        </a:spcAft>
                        <a:buClrTx/>
                        <a:buSzTx/>
                        <a:buFont typeface="Arial" panose="020B0604020202020204" pitchFamily="34" charset="0"/>
                        <a:buChar char="•"/>
                      </a:pPr>
                      <a:r>
                        <a:rPr lang="en-US" sz="1100" kern="1200">
                          <a:solidFill>
                            <a:schemeClr val="dk1"/>
                          </a:solidFill>
                          <a:latin typeface="+mn-lt"/>
                          <a:ea typeface="+mn-ea"/>
                          <a:cs typeface="+mn-cs"/>
                        </a:rPr>
                        <a:t>Monitor and manage any rescheduling of workshops to prevent further delays.</a:t>
                      </a:r>
                    </a:p>
                    <a:p>
                      <a:pPr marL="171450" marR="0" lvl="0" indent="-171450" algn="l" defTabSz="914400" rtl="0" eaLnBrk="1" latinLnBrk="0" hangingPunct="1">
                        <a:lnSpc>
                          <a:spcPct val="100000"/>
                        </a:lnSpc>
                        <a:spcBef>
                          <a:spcPts val="0"/>
                        </a:spcBef>
                        <a:spcAft>
                          <a:spcPts val="0"/>
                        </a:spcAft>
                        <a:buClrTx/>
                        <a:buSzTx/>
                        <a:buFont typeface="Arial" panose="020B0604020202020204" pitchFamily="34" charset="0"/>
                        <a:buChar char="•"/>
                      </a:pPr>
                      <a:r>
                        <a:rPr lang="en-US" sz="1100" kern="1200">
                          <a:solidFill>
                            <a:schemeClr val="dk1"/>
                          </a:solidFill>
                          <a:latin typeface="+mn-lt"/>
                          <a:ea typeface="+mn-ea"/>
                          <a:cs typeface="+mn-cs"/>
                        </a:rPr>
                        <a:t>Prepare and distribute all necessary workshop materials to ensure productive sessions.</a:t>
                      </a:r>
                    </a:p>
                    <a:p>
                      <a:pPr marL="171450" marR="0" lvl="0" indent="-171450" algn="l" defTabSz="914400" rtl="0" eaLnBrk="1" latinLnBrk="0" hangingPunct="1">
                        <a:lnSpc>
                          <a:spcPct val="100000"/>
                        </a:lnSpc>
                        <a:spcBef>
                          <a:spcPts val="0"/>
                        </a:spcBef>
                        <a:spcAft>
                          <a:spcPts val="0"/>
                        </a:spcAft>
                        <a:buClrTx/>
                        <a:buSzTx/>
                        <a:buFont typeface="Arial" panose="020B0604020202020204" pitchFamily="34" charset="0"/>
                        <a:buChar char="•"/>
                      </a:pPr>
                      <a:r>
                        <a:rPr lang="en-US" sz="1100" kern="1200">
                          <a:solidFill>
                            <a:schemeClr val="dk1"/>
                          </a:solidFill>
                          <a:latin typeface="+mn-lt"/>
                          <a:ea typeface="+mn-ea"/>
                          <a:cs typeface="+mn-cs"/>
                        </a:rPr>
                        <a:t>Begin consolidating and analyzing the inputs gathered from workshops starting after July 16th.</a:t>
                      </a:r>
                    </a:p>
                  </a:txBody>
                  <a:tcPr marL="0" marR="0" marT="0" marB="0">
                    <a:lnL w="12700" cap="flat" cmpd="sng" algn="ctr">
                      <a:solidFill>
                        <a:sysClr val="window" lastClr="FFFFFF"/>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val="2561788850"/>
                  </a:ext>
                </a:extLst>
              </a:tr>
            </a:tbl>
          </a:graphicData>
        </a:graphic>
      </p:graphicFrame>
      <p:graphicFrame>
        <p:nvGraphicFramePr>
          <p:cNvPr id="15" name="Table 14">
            <a:extLst>
              <a:ext uri="{FF2B5EF4-FFF2-40B4-BE49-F238E27FC236}">
                <a16:creationId xmlns:a16="http://schemas.microsoft.com/office/drawing/2014/main" id="{B67EFC1A-A600-7F6A-15A9-5BF294EC4413}"/>
              </a:ext>
            </a:extLst>
          </p:cNvPr>
          <p:cNvGraphicFramePr>
            <a:graphicFrameLocks noGrp="1"/>
          </p:cNvGraphicFramePr>
          <p:nvPr>
            <p:extLst>
              <p:ext uri="{D42A27DB-BD31-4B8C-83A1-F6EECF244321}">
                <p14:modId xmlns:p14="http://schemas.microsoft.com/office/powerpoint/2010/main" val="2988326322"/>
              </p:ext>
            </p:extLst>
          </p:nvPr>
        </p:nvGraphicFramePr>
        <p:xfrm>
          <a:off x="226880" y="4949447"/>
          <a:ext cx="11708140" cy="1837710"/>
        </p:xfrm>
        <a:graphic>
          <a:graphicData uri="http://schemas.openxmlformats.org/drawingml/2006/table">
            <a:tbl>
              <a:tblPr>
                <a:tableStyleId>{5C22544A-7EE6-4342-B048-85BDC9FD1C3A}</a:tableStyleId>
              </a:tblPr>
              <a:tblGrid>
                <a:gridCol w="3640609">
                  <a:extLst>
                    <a:ext uri="{9D8B030D-6E8A-4147-A177-3AD203B41FA5}">
                      <a16:colId xmlns:a16="http://schemas.microsoft.com/office/drawing/2014/main" val="2003250863"/>
                    </a:ext>
                  </a:extLst>
                </a:gridCol>
                <a:gridCol w="930848">
                  <a:extLst>
                    <a:ext uri="{9D8B030D-6E8A-4147-A177-3AD203B41FA5}">
                      <a16:colId xmlns:a16="http://schemas.microsoft.com/office/drawing/2014/main" val="2445968811"/>
                    </a:ext>
                  </a:extLst>
                </a:gridCol>
                <a:gridCol w="7136683">
                  <a:extLst>
                    <a:ext uri="{9D8B030D-6E8A-4147-A177-3AD203B41FA5}">
                      <a16:colId xmlns:a16="http://schemas.microsoft.com/office/drawing/2014/main" val="187998877"/>
                    </a:ext>
                  </a:extLst>
                </a:gridCol>
              </a:tblGrid>
              <a:tr h="23409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Risk</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Risk Assessment</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Control</a:t>
                      </a:r>
                    </a:p>
                  </a:txBody>
                  <a:tcPr marL="0" marR="0" marT="0" marB="0" anchor="ctr">
                    <a:solidFill>
                      <a:schemeClr val="accent1"/>
                    </a:solidFill>
                  </a:tcPr>
                </a:tc>
                <a:extLst>
                  <a:ext uri="{0D108BD9-81ED-4DB2-BD59-A6C34878D82A}">
                    <a16:rowId xmlns:a16="http://schemas.microsoft.com/office/drawing/2014/main" val="2763828571"/>
                  </a:ext>
                </a:extLst>
              </a:tr>
              <a:tr h="470330">
                <a:tc>
                  <a:txBody>
                    <a:bodyPr/>
                    <a:lstStyle/>
                    <a:p>
                      <a:pPr marL="0" indent="0">
                        <a:buFont typeface="Arial"/>
                        <a:buNone/>
                      </a:pPr>
                      <a:r>
                        <a:rPr lang="en-US" sz="1100">
                          <a:effectLst/>
                        </a:rPr>
                        <a:t>Resource Availability</a:t>
                      </a:r>
                    </a:p>
                  </a:txBody>
                  <a:tcPr marL="38100" marR="38100" marT="38100" marB="38100" anchor="ctr">
                    <a:solidFill>
                      <a:schemeClr val="accent4">
                        <a:lumMod val="20000"/>
                        <a:lumOff val="80000"/>
                      </a:schemeClr>
                    </a:solidFill>
                  </a:tcPr>
                </a:tc>
                <a:tc>
                  <a:txBody>
                    <a:bodyPr/>
                    <a:lstStyle/>
                    <a:p>
                      <a:pPr algn="ctr"/>
                      <a:r>
                        <a:rPr lang="en-US" sz="1100" b="0">
                          <a:solidFill>
                            <a:schemeClr val="bg1"/>
                          </a:solidFill>
                          <a:effectLst/>
                        </a:rPr>
                        <a:t>M</a:t>
                      </a:r>
                    </a:p>
                  </a:txBody>
                  <a:tcPr marL="38100" marR="38100" marT="38100" marB="38100" anchor="ctr">
                    <a:solidFill>
                      <a:srgbClr val="EE7F00"/>
                    </a:solidFill>
                  </a:tcPr>
                </a:tc>
                <a:tc>
                  <a:txBody>
                    <a:bodyPr/>
                    <a:lstStyle/>
                    <a:p>
                      <a:r>
                        <a:rPr lang="en-US" sz="1100">
                          <a:effectLst/>
                        </a:rPr>
                        <a:t>Assign backup participants who can represent their functions.</a:t>
                      </a:r>
                    </a:p>
                  </a:txBody>
                  <a:tcPr marL="38100" marR="38100" marT="38100" marB="38100" anchor="ctr">
                    <a:solidFill>
                      <a:schemeClr val="accent4">
                        <a:lumMod val="20000"/>
                        <a:lumOff val="80000"/>
                      </a:schemeClr>
                    </a:solidFill>
                  </a:tcPr>
                </a:tc>
                <a:extLst>
                  <a:ext uri="{0D108BD9-81ED-4DB2-BD59-A6C34878D82A}">
                    <a16:rowId xmlns:a16="http://schemas.microsoft.com/office/drawing/2014/main" val="2561788850"/>
                  </a:ext>
                </a:extLst>
              </a:tr>
              <a:tr h="470330">
                <a:tc>
                  <a:txBody>
                    <a:bodyPr/>
                    <a:lstStyle/>
                    <a:p>
                      <a:pPr marL="0" lvl="0" indent="0">
                        <a:buFont typeface="Arial"/>
                        <a:buNone/>
                      </a:pPr>
                      <a:r>
                        <a:rPr lang="en-US" sz="1100">
                          <a:effectLst/>
                        </a:rPr>
                        <a:t>Potential delays due to external vendors availability </a:t>
                      </a:r>
                    </a:p>
                  </a:txBody>
                  <a:tcPr marL="38099" marR="38099" marT="38099" marB="38099" anchor="ctr">
                    <a:solidFill>
                      <a:schemeClr val="accent4">
                        <a:lumMod val="20000"/>
                        <a:lumOff val="80000"/>
                      </a:schemeClr>
                    </a:solidFill>
                  </a:tcPr>
                </a:tc>
                <a:tc>
                  <a:txBody>
                    <a:bodyPr/>
                    <a:lstStyle/>
                    <a:p>
                      <a:pPr lvl="0" algn="ctr">
                        <a:buNone/>
                      </a:pPr>
                      <a:r>
                        <a:rPr lang="en-US" sz="1100" b="0">
                          <a:solidFill>
                            <a:schemeClr val="bg1"/>
                          </a:solidFill>
                          <a:effectLst/>
                        </a:rPr>
                        <a:t>M</a:t>
                      </a:r>
                    </a:p>
                  </a:txBody>
                  <a:tcPr marL="38099" marR="38099" marT="38099" marB="38099" anchor="ctr">
                    <a:solidFill>
                      <a:srgbClr val="EE7F00"/>
                    </a:solidFill>
                  </a:tcPr>
                </a:tc>
                <a:tc>
                  <a:txBody>
                    <a:bodyPr/>
                    <a:lstStyle/>
                    <a:p>
                      <a:pPr lvl="0">
                        <a:buNone/>
                      </a:pPr>
                      <a:r>
                        <a:rPr lang="en-US" sz="1100">
                          <a:effectLst/>
                        </a:rPr>
                        <a:t>Ensure engagement with external vendors for consultation sessions.</a:t>
                      </a:r>
                    </a:p>
                  </a:txBody>
                  <a:tcPr marL="38099" marR="38099" marT="38099" marB="38099" anchor="ctr">
                    <a:solidFill>
                      <a:schemeClr val="accent4">
                        <a:lumMod val="20000"/>
                        <a:lumOff val="80000"/>
                      </a:schemeClr>
                    </a:solidFill>
                  </a:tcPr>
                </a:tc>
                <a:extLst>
                  <a:ext uri="{0D108BD9-81ED-4DB2-BD59-A6C34878D82A}">
                    <a16:rowId xmlns:a16="http://schemas.microsoft.com/office/drawing/2014/main" val="730929934"/>
                  </a:ext>
                </a:extLst>
              </a:tr>
              <a:tr h="470330">
                <a:tc>
                  <a:txBody>
                    <a:bodyPr/>
                    <a:lstStyle/>
                    <a:p>
                      <a:pPr marL="0" lvl="0" indent="0">
                        <a:buFont typeface="Arial"/>
                        <a:buNone/>
                      </a:pPr>
                      <a:r>
                        <a:rPr lang="en-US" sz="1100">
                          <a:effectLst/>
                        </a:rPr>
                        <a:t>Stakeholder Misalignment</a:t>
                      </a:r>
                    </a:p>
                  </a:txBody>
                  <a:tcPr marL="38099" marR="38099" marT="38099" marB="38099" anchor="ctr">
                    <a:solidFill>
                      <a:schemeClr val="accent4">
                        <a:lumMod val="20000"/>
                        <a:lumOff val="80000"/>
                      </a:schemeClr>
                    </a:solidFill>
                  </a:tcPr>
                </a:tc>
                <a:tc>
                  <a:txBody>
                    <a:bodyPr/>
                    <a:lstStyle/>
                    <a:p>
                      <a:pPr lvl="0" algn="ctr">
                        <a:buNone/>
                      </a:pPr>
                      <a:r>
                        <a:rPr lang="en-US" sz="1100" b="0">
                          <a:solidFill>
                            <a:schemeClr val="bg1"/>
                          </a:solidFill>
                          <a:effectLst/>
                        </a:rPr>
                        <a:t>M</a:t>
                      </a:r>
                    </a:p>
                  </a:txBody>
                  <a:tcPr marL="38099" marR="38099" marT="38099" marB="38099" anchor="ctr">
                    <a:solidFill>
                      <a:srgbClr val="EE7F00"/>
                    </a:solidFill>
                  </a:tcPr>
                </a:tc>
                <a:tc>
                  <a:txBody>
                    <a:bodyPr/>
                    <a:lstStyle/>
                    <a:p>
                      <a:pPr lvl="0">
                        <a:buNone/>
                      </a:pPr>
                      <a:r>
                        <a:rPr lang="en-US" sz="1100">
                          <a:effectLst/>
                        </a:rPr>
                        <a:t>Conduct regular stakeholder alignment meetings to clarify goals and manage expectations.</a:t>
                      </a:r>
                    </a:p>
                  </a:txBody>
                  <a:tcPr marL="38099" marR="38099" marT="38099" marB="38099" anchor="ctr">
                    <a:solidFill>
                      <a:schemeClr val="accent4">
                        <a:lumMod val="20000"/>
                        <a:lumOff val="80000"/>
                      </a:schemeClr>
                    </a:solidFill>
                  </a:tcPr>
                </a:tc>
                <a:extLst>
                  <a:ext uri="{0D108BD9-81ED-4DB2-BD59-A6C34878D82A}">
                    <a16:rowId xmlns:a16="http://schemas.microsoft.com/office/drawing/2014/main" val="994776590"/>
                  </a:ext>
                </a:extLst>
              </a:tr>
            </a:tbl>
          </a:graphicData>
        </a:graphic>
      </p:graphicFrame>
      <p:graphicFrame>
        <p:nvGraphicFramePr>
          <p:cNvPr id="16" name="Table 15">
            <a:extLst>
              <a:ext uri="{FF2B5EF4-FFF2-40B4-BE49-F238E27FC236}">
                <a16:creationId xmlns:a16="http://schemas.microsoft.com/office/drawing/2014/main" id="{ED283D2A-1735-6271-CE08-A18547E18B03}"/>
              </a:ext>
            </a:extLst>
          </p:cNvPr>
          <p:cNvGraphicFramePr>
            <a:graphicFrameLocks noGrp="1"/>
          </p:cNvGraphicFramePr>
          <p:nvPr>
            <p:extLst>
              <p:ext uri="{D42A27DB-BD31-4B8C-83A1-F6EECF244321}">
                <p14:modId xmlns:p14="http://schemas.microsoft.com/office/powerpoint/2010/main" val="2380647430"/>
              </p:ext>
            </p:extLst>
          </p:nvPr>
        </p:nvGraphicFramePr>
        <p:xfrm>
          <a:off x="251440" y="441143"/>
          <a:ext cx="4958665" cy="1582862"/>
        </p:xfrm>
        <a:graphic>
          <a:graphicData uri="http://schemas.openxmlformats.org/drawingml/2006/table">
            <a:tbl>
              <a:tblPr firstRow="1" bandRow="1"/>
              <a:tblGrid>
                <a:gridCol w="1253919">
                  <a:extLst>
                    <a:ext uri="{9D8B030D-6E8A-4147-A177-3AD203B41FA5}">
                      <a16:colId xmlns:a16="http://schemas.microsoft.com/office/drawing/2014/main" val="110687116"/>
                    </a:ext>
                  </a:extLst>
                </a:gridCol>
                <a:gridCol w="3704746">
                  <a:extLst>
                    <a:ext uri="{9D8B030D-6E8A-4147-A177-3AD203B41FA5}">
                      <a16:colId xmlns:a16="http://schemas.microsoft.com/office/drawing/2014/main" val="3314271387"/>
                    </a:ext>
                  </a:extLst>
                </a:gridCol>
              </a:tblGrid>
              <a:tr h="158286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a:t>
                      </a:r>
                      <a:r>
                        <a:rPr lang="en-US" sz="1400" b="1" i="0" u="none" strike="noStrike" kern="1200" cap="none" spc="0" normalizeH="0" baseline="0" noProof="0">
                          <a:ln>
                            <a:noFill/>
                          </a:ln>
                          <a:solidFill>
                            <a:srgbClr val="FFFFFF"/>
                          </a:solidFill>
                          <a:effectLst/>
                          <a:uLnTx/>
                          <a:uFillTx/>
                          <a:latin typeface="+mn-lt"/>
                          <a:ea typeface="+mn-ea"/>
                          <a:cs typeface="+mn-cs"/>
                        </a:rPr>
                        <a:t>Scope</a:t>
                      </a:r>
                      <a:endParaRPr kumimoji="0" lang="en-US" sz="1400" b="1" i="0" u="none" strike="noStrike" kern="1200" cap="none" spc="0" normalizeH="0" baseline="0" noProof="0">
                        <a:ln>
                          <a:noFill/>
                        </a:ln>
                        <a:solidFill>
                          <a:srgbClr val="FFFFFF"/>
                        </a:solidFill>
                        <a:effectLst/>
                        <a:uLnTx/>
                        <a:uFillTx/>
                        <a:latin typeface="+mn-lt"/>
                        <a:ea typeface="+mn-ea"/>
                        <a:cs typeface="+mn-cs"/>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lvl="0" indent="0" algn="l">
                        <a:buFont typeface="Arial" panose="020B0604020202020204" pitchFamily="34" charset="0"/>
                        <a:buNone/>
                      </a:pPr>
                      <a:r>
                        <a:rPr lang="en-US" sz="1200" b="0" i="0" kern="1200">
                          <a:solidFill>
                            <a:schemeClr val="dk1"/>
                          </a:solidFill>
                          <a:effectLst/>
                          <a:latin typeface="+mn-lt"/>
                          <a:ea typeface="+mn-ea"/>
                          <a:cs typeface="+mn-cs"/>
                        </a:rPr>
                        <a:t>To enhance Elpedison's data integration, governance, and analytics capabilities by adopting Microsoft Fabric Data and Advanced Analytics Platform. This initiative aims to create a unified architecture that addresses the organization's growing data needs and supports digital transformation.</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sp>
        <p:nvSpPr>
          <p:cNvPr id="3" name="Oval 2">
            <a:extLst>
              <a:ext uri="{FF2B5EF4-FFF2-40B4-BE49-F238E27FC236}">
                <a16:creationId xmlns:a16="http://schemas.microsoft.com/office/drawing/2014/main" id="{BDE16D66-2D5C-4E67-4542-B97B78955719}"/>
              </a:ext>
            </a:extLst>
          </p:cNvPr>
          <p:cNvSpPr>
            <a:spLocks noChangeAspect="1"/>
          </p:cNvSpPr>
          <p:nvPr/>
        </p:nvSpPr>
        <p:spPr>
          <a:xfrm>
            <a:off x="7658044" y="1042303"/>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9461247F-4B8D-EDC1-19AF-294F8AA45B34}"/>
              </a:ext>
            </a:extLst>
          </p:cNvPr>
          <p:cNvSpPr>
            <a:spLocks noChangeAspect="1"/>
          </p:cNvSpPr>
          <p:nvPr/>
        </p:nvSpPr>
        <p:spPr>
          <a:xfrm>
            <a:off x="10964907" y="103611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B1CF12A7-D9B2-55E1-62BD-7587AF48D40E}"/>
              </a:ext>
            </a:extLst>
          </p:cNvPr>
          <p:cNvSpPr>
            <a:spLocks noChangeAspect="1"/>
          </p:cNvSpPr>
          <p:nvPr/>
        </p:nvSpPr>
        <p:spPr>
          <a:xfrm>
            <a:off x="9343106" y="104568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BCFD9819-D819-D723-B2A0-504061043718}"/>
              </a:ext>
            </a:extLst>
          </p:cNvPr>
          <p:cNvSpPr>
            <a:spLocks noChangeAspect="1"/>
          </p:cNvSpPr>
          <p:nvPr/>
        </p:nvSpPr>
        <p:spPr>
          <a:xfrm>
            <a:off x="6004612" y="1050222"/>
            <a:ext cx="214068" cy="20521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0984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D7F65-D62C-F816-BEE0-EA1A873A756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F0AB04-DA1C-5CE1-854C-39003DE4C684}"/>
              </a:ext>
            </a:extLst>
          </p:cNvPr>
          <p:cNvSpPr>
            <a:spLocks noGrp="1"/>
          </p:cNvSpPr>
          <p:nvPr>
            <p:ph type="sldNum" idx="12"/>
          </p:nvPr>
        </p:nvSpPr>
        <p:spPr>
          <a:xfrm>
            <a:off x="8610600" y="6057598"/>
            <a:ext cx="2743200" cy="365125"/>
          </a:xfrm>
        </p:spPr>
        <p:txBody>
          <a:bodyPr/>
          <a:lstStyle/>
          <a:p>
            <a:pPr marL="0" lvl="0" indent="0" algn="r" rtl="0">
              <a:spcBef>
                <a:spcPts val="0"/>
              </a:spcBef>
              <a:spcAft>
                <a:spcPts val="0"/>
              </a:spcAft>
              <a:buNone/>
            </a:pPr>
            <a:fld id="{00000000-1234-1234-1234-123412341234}" type="slidenum">
              <a:rPr lang="en-US"/>
              <a:t>2</a:t>
            </a:fld>
            <a:endParaRPr lang="en-US"/>
          </a:p>
        </p:txBody>
      </p:sp>
      <p:sp>
        <p:nvSpPr>
          <p:cNvPr id="4" name="Slide Number Placeholder 1">
            <a:extLst>
              <a:ext uri="{FF2B5EF4-FFF2-40B4-BE49-F238E27FC236}">
                <a16:creationId xmlns:a16="http://schemas.microsoft.com/office/drawing/2014/main" id="{5A603D8F-75DA-7A38-AD1A-56E4A8FE4801}"/>
              </a:ext>
            </a:extLst>
          </p:cNvPr>
          <p:cNvSpPr txBox="1">
            <a:spLocks/>
          </p:cNvSpPr>
          <p:nvPr/>
        </p:nvSpPr>
        <p:spPr>
          <a:xfrm>
            <a:off x="8610600" y="6057598"/>
            <a:ext cx="2743200" cy="365125"/>
          </a:xfrm>
          <a:prstGeom prst="rect">
            <a:avLst/>
          </a:prstGeom>
          <a:noFill/>
          <a:ln>
            <a:noFill/>
          </a:ln>
        </p:spPr>
        <p:txBody>
          <a:bodyPr spcFirstLastPara="1" vert="horz" wrap="square" lIns="91425" tIns="45700" rIns="91425" bIns="45700" rtlCol="0" anchor="ctr" anchorCtr="0">
            <a:noAutofit/>
          </a:bodyPr>
          <a:lstStyle>
            <a:defPPr>
              <a:defRPr lang="en-US"/>
            </a:defPPr>
            <a:lvl1pPr marL="0" lvl="0" indent="0" algn="r" defTabSz="914400" rtl="0" eaLnBrk="1" latinLnBrk="0" hangingPunct="1">
              <a:spcBef>
                <a:spcPts val="0"/>
              </a:spcBef>
              <a:buNone/>
              <a:defRPr sz="1200" kern="1200">
                <a:solidFill>
                  <a:schemeClr val="tx1">
                    <a:tint val="75000"/>
                  </a:schemeClr>
                </a:solidFill>
                <a:latin typeface="+mn-lt"/>
                <a:ea typeface="+mn-ea"/>
                <a:cs typeface="+mn-cs"/>
              </a:defRPr>
            </a:lvl1pPr>
            <a:lvl2pPr marL="0" lvl="1" indent="0" algn="r" defTabSz="914400" rtl="0" eaLnBrk="1" latinLnBrk="0" hangingPunct="1">
              <a:spcBef>
                <a:spcPts val="0"/>
              </a:spcBef>
              <a:buNone/>
              <a:defRPr sz="1800" kern="1200">
                <a:solidFill>
                  <a:schemeClr val="tx1"/>
                </a:solidFill>
                <a:latin typeface="+mn-lt"/>
                <a:ea typeface="+mn-ea"/>
                <a:cs typeface="+mn-cs"/>
              </a:defRPr>
            </a:lvl2pPr>
            <a:lvl3pPr marL="0" lvl="2" indent="0" algn="r" defTabSz="914400" rtl="0" eaLnBrk="1" latinLnBrk="0" hangingPunct="1">
              <a:spcBef>
                <a:spcPts val="0"/>
              </a:spcBef>
              <a:buNone/>
              <a:defRPr sz="1800" kern="1200">
                <a:solidFill>
                  <a:schemeClr val="tx1"/>
                </a:solidFill>
                <a:latin typeface="+mn-lt"/>
                <a:ea typeface="+mn-ea"/>
                <a:cs typeface="+mn-cs"/>
              </a:defRPr>
            </a:lvl3pPr>
            <a:lvl4pPr marL="0" lvl="3" indent="0" algn="r" defTabSz="914400" rtl="0" eaLnBrk="1" latinLnBrk="0" hangingPunct="1">
              <a:spcBef>
                <a:spcPts val="0"/>
              </a:spcBef>
              <a:buNone/>
              <a:defRPr sz="1800" kern="1200">
                <a:solidFill>
                  <a:schemeClr val="tx1"/>
                </a:solidFill>
                <a:latin typeface="+mn-lt"/>
                <a:ea typeface="+mn-ea"/>
                <a:cs typeface="+mn-cs"/>
              </a:defRPr>
            </a:lvl4pPr>
            <a:lvl5pPr marL="0" lvl="4" indent="0" algn="r" defTabSz="914400" rtl="0" eaLnBrk="1" latinLnBrk="0" hangingPunct="1">
              <a:spcBef>
                <a:spcPts val="0"/>
              </a:spcBef>
              <a:buNone/>
              <a:defRPr sz="1800" kern="1200">
                <a:solidFill>
                  <a:schemeClr val="tx1"/>
                </a:solidFill>
                <a:latin typeface="+mn-lt"/>
                <a:ea typeface="+mn-ea"/>
                <a:cs typeface="+mn-cs"/>
              </a:defRPr>
            </a:lvl5pPr>
            <a:lvl6pPr marL="0" lvl="5" indent="0" algn="r" defTabSz="914400" rtl="0" eaLnBrk="1" latinLnBrk="0" hangingPunct="1">
              <a:spcBef>
                <a:spcPts val="0"/>
              </a:spcBef>
              <a:buNone/>
              <a:defRPr sz="1800" kern="1200">
                <a:solidFill>
                  <a:schemeClr val="tx1"/>
                </a:solidFill>
                <a:latin typeface="+mn-lt"/>
                <a:ea typeface="+mn-ea"/>
                <a:cs typeface="+mn-cs"/>
              </a:defRPr>
            </a:lvl6pPr>
            <a:lvl7pPr marL="0" lvl="6" indent="0" algn="r" defTabSz="914400" rtl="0" eaLnBrk="1" latinLnBrk="0" hangingPunct="1">
              <a:spcBef>
                <a:spcPts val="0"/>
              </a:spcBef>
              <a:buNone/>
              <a:defRPr sz="1800" kern="1200">
                <a:solidFill>
                  <a:schemeClr val="tx1"/>
                </a:solidFill>
                <a:latin typeface="+mn-lt"/>
                <a:ea typeface="+mn-ea"/>
                <a:cs typeface="+mn-cs"/>
              </a:defRPr>
            </a:lvl7pPr>
            <a:lvl8pPr marL="0" lvl="7" indent="0" algn="r" defTabSz="914400" rtl="0" eaLnBrk="1" latinLnBrk="0" hangingPunct="1">
              <a:spcBef>
                <a:spcPts val="0"/>
              </a:spcBef>
              <a:buNone/>
              <a:defRPr sz="1800" kern="1200">
                <a:solidFill>
                  <a:schemeClr val="tx1"/>
                </a:solidFill>
                <a:latin typeface="+mn-lt"/>
                <a:ea typeface="+mn-ea"/>
                <a:cs typeface="+mn-cs"/>
              </a:defRPr>
            </a:lvl8pPr>
            <a:lvl9pPr marL="0" lvl="8" indent="0" algn="r" defTabSz="914400" rtl="0" eaLnBrk="1" latinLnBrk="0" hangingPunct="1">
              <a:spcBef>
                <a:spcPts val="0"/>
              </a:spcBef>
              <a:buNone/>
              <a:defRPr sz="1800" kern="1200">
                <a:solidFill>
                  <a:schemeClr val="tx1"/>
                </a:solidFill>
                <a:latin typeface="+mn-lt"/>
                <a:ea typeface="+mn-ea"/>
                <a:cs typeface="+mn-cs"/>
              </a:defRPr>
            </a:lvl9pPr>
          </a:lstStyle>
          <a:p>
            <a:pPr>
              <a:defRPr/>
            </a:pPr>
            <a:fld id="{00000000-1234-1234-1234-123412341234}" type="slidenum">
              <a:rPr lang="en-US" smtClean="0">
                <a:solidFill>
                  <a:srgbClr val="2E5684">
                    <a:tint val="75000"/>
                  </a:srgbClr>
                </a:solidFill>
                <a:latin typeface="Calibri" panose="020F0502020204030204"/>
              </a:rPr>
              <a:pPr>
                <a:defRPr/>
              </a:pPr>
              <a:t>2</a:t>
            </a:fld>
            <a:endParaRPr lang="en-US">
              <a:solidFill>
                <a:srgbClr val="2E5684">
                  <a:tint val="75000"/>
                </a:srgbClr>
              </a:solidFill>
              <a:latin typeface="Calibri" panose="020F0502020204030204"/>
            </a:endParaRPr>
          </a:p>
        </p:txBody>
      </p:sp>
      <p:graphicFrame>
        <p:nvGraphicFramePr>
          <p:cNvPr id="5" name="Content Placeholder 4">
            <a:extLst>
              <a:ext uri="{FF2B5EF4-FFF2-40B4-BE49-F238E27FC236}">
                <a16:creationId xmlns:a16="http://schemas.microsoft.com/office/drawing/2014/main" id="{510DF4DC-0F75-D2F8-0260-5B7DE7A9A893}"/>
              </a:ext>
            </a:extLst>
          </p:cNvPr>
          <p:cNvGraphicFramePr>
            <a:graphicFrameLocks/>
          </p:cNvGraphicFramePr>
          <p:nvPr>
            <p:extLst>
              <p:ext uri="{D42A27DB-BD31-4B8C-83A1-F6EECF244321}">
                <p14:modId xmlns:p14="http://schemas.microsoft.com/office/powerpoint/2010/main" val="3264774008"/>
              </p:ext>
            </p:extLst>
          </p:nvPr>
        </p:nvGraphicFramePr>
        <p:xfrm>
          <a:off x="5304063" y="23586"/>
          <a:ext cx="6613073" cy="695077"/>
        </p:xfrm>
        <a:graphic>
          <a:graphicData uri="http://schemas.openxmlformats.org/drawingml/2006/table">
            <a:tbl>
              <a:tblPr firstRow="1" bandRow="1"/>
              <a:tblGrid>
                <a:gridCol w="724595">
                  <a:extLst>
                    <a:ext uri="{9D8B030D-6E8A-4147-A177-3AD203B41FA5}">
                      <a16:colId xmlns:a16="http://schemas.microsoft.com/office/drawing/2014/main" val="20000"/>
                    </a:ext>
                  </a:extLst>
                </a:gridCol>
                <a:gridCol w="739303">
                  <a:extLst>
                    <a:ext uri="{9D8B030D-6E8A-4147-A177-3AD203B41FA5}">
                      <a16:colId xmlns:a16="http://schemas.microsoft.com/office/drawing/2014/main" val="20001"/>
                    </a:ext>
                  </a:extLst>
                </a:gridCol>
                <a:gridCol w="1712068">
                  <a:extLst>
                    <a:ext uri="{9D8B030D-6E8A-4147-A177-3AD203B41FA5}">
                      <a16:colId xmlns:a16="http://schemas.microsoft.com/office/drawing/2014/main" val="20002"/>
                    </a:ext>
                  </a:extLst>
                </a:gridCol>
                <a:gridCol w="2033080">
                  <a:extLst>
                    <a:ext uri="{9D8B030D-6E8A-4147-A177-3AD203B41FA5}">
                      <a16:colId xmlns:a16="http://schemas.microsoft.com/office/drawing/2014/main" val="3624839458"/>
                    </a:ext>
                  </a:extLst>
                </a:gridCol>
                <a:gridCol w="1404027">
                  <a:extLst>
                    <a:ext uri="{9D8B030D-6E8A-4147-A177-3AD203B41FA5}">
                      <a16:colId xmlns:a16="http://schemas.microsoft.com/office/drawing/2014/main" val="2847559459"/>
                    </a:ext>
                  </a:extLst>
                </a:gridCol>
              </a:tblGrid>
              <a:tr h="20602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SAP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JIRA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PM/BP</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Business Owner</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Involved Divisions</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435997">
                <a:tc>
                  <a:txBody>
                    <a:bodyPr/>
                    <a:lstStyle/>
                    <a:p>
                      <a:pPr algn="ctr"/>
                      <a:r>
                        <a:rPr lang="en-US" sz="1100" b="1" kern="1200">
                          <a:solidFill>
                            <a:schemeClr val="dk1"/>
                          </a:solidFill>
                          <a:latin typeface="+mn-lt"/>
                          <a:ea typeface="+mn-ea"/>
                          <a:cs typeface="+mn-cs"/>
                        </a:rPr>
                        <a:t>H/00050</a:t>
                      </a:r>
                    </a:p>
                  </a:txBody>
                  <a:tcPr marL="68580" marR="68580" marT="0" marB="0"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100" b="1" kern="1200">
                          <a:solidFill>
                            <a:schemeClr val="dk1"/>
                          </a:solidFill>
                          <a:latin typeface="+mn-lt"/>
                          <a:ea typeface="+mn-ea"/>
                          <a:cs typeface="+mn-cs"/>
                        </a:rPr>
                        <a:t>PMO-198</a:t>
                      </a:r>
                    </a:p>
                  </a:txBody>
                  <a:tcPr marL="9525" marR="9525" marT="9525" marB="0" anchor="ctr">
                    <a:lnL w="12700" cap="flat" cmpd="sng" algn="ctr">
                      <a:solidFill>
                        <a:schemeClr val="bg1"/>
                      </a:solidFill>
                      <a:prstDash val="solid"/>
                      <a:round/>
                      <a:headEnd type="none" w="med" len="med"/>
                      <a:tailEnd type="none" w="med" len="med"/>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rtl="0" eaLnBrk="1" latinLnBrk="0" hangingPunct="1"/>
                      <a:r>
                        <a:rPr lang="en-US" sz="1100" b="1" kern="1200">
                          <a:solidFill>
                            <a:schemeClr val="dk1"/>
                          </a:solidFill>
                          <a:latin typeface="+mn-lt"/>
                          <a:ea typeface="+mn-ea"/>
                          <a:cs typeface="+mn-cs"/>
                        </a:rPr>
                        <a:t>Papoutsi Stella</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Commercial</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DDDE, IT, Commercial</a:t>
                      </a:r>
                    </a:p>
                  </a:txBody>
                  <a:tcPr marL="84406" marR="84406" anchor="ctr">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C7F920C3-8869-8D66-269D-CB08524BF2CE}"/>
              </a:ext>
            </a:extLst>
          </p:cNvPr>
          <p:cNvGraphicFramePr>
            <a:graphicFrameLocks/>
          </p:cNvGraphicFramePr>
          <p:nvPr/>
        </p:nvGraphicFramePr>
        <p:xfrm>
          <a:off x="5313134" y="740228"/>
          <a:ext cx="6604003" cy="566675"/>
        </p:xfrm>
        <a:graphic>
          <a:graphicData uri="http://schemas.openxmlformats.org/drawingml/2006/table">
            <a:tbl>
              <a:tblPr firstRow="1" bandRow="1"/>
              <a:tblGrid>
                <a:gridCol w="1651001">
                  <a:extLst>
                    <a:ext uri="{9D8B030D-6E8A-4147-A177-3AD203B41FA5}">
                      <a16:colId xmlns:a16="http://schemas.microsoft.com/office/drawing/2014/main" val="20000"/>
                    </a:ext>
                  </a:extLst>
                </a:gridCol>
                <a:gridCol w="1686788">
                  <a:extLst>
                    <a:ext uri="{9D8B030D-6E8A-4147-A177-3AD203B41FA5}">
                      <a16:colId xmlns:a16="http://schemas.microsoft.com/office/drawing/2014/main" val="20001"/>
                    </a:ext>
                  </a:extLst>
                </a:gridCol>
                <a:gridCol w="1615213">
                  <a:extLst>
                    <a:ext uri="{9D8B030D-6E8A-4147-A177-3AD203B41FA5}">
                      <a16:colId xmlns:a16="http://schemas.microsoft.com/office/drawing/2014/main" val="20002"/>
                    </a:ext>
                  </a:extLst>
                </a:gridCol>
                <a:gridCol w="1651001">
                  <a:extLst>
                    <a:ext uri="{9D8B030D-6E8A-4147-A177-3AD203B41FA5}">
                      <a16:colId xmlns:a16="http://schemas.microsoft.com/office/drawing/2014/main" val="20003"/>
                    </a:ext>
                  </a:extLst>
                </a:gridCol>
              </a:tblGrid>
              <a:tr h="227035">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Overall</a:t>
                      </a:r>
                    </a:p>
                  </a:txBody>
                  <a:tcPr marL="84406" marR="84406">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Schedule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Cost</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Scope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07595">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solidFill>
                          <a:schemeClr val="bg2"/>
                        </a:solidFill>
                      </a:endParaRPr>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27047014"/>
                  </a:ext>
                </a:extLst>
              </a:tr>
            </a:tbl>
          </a:graphicData>
        </a:graphic>
      </p:graphicFrame>
      <p:graphicFrame>
        <p:nvGraphicFramePr>
          <p:cNvPr id="7" name="Content Placeholder 4">
            <a:extLst>
              <a:ext uri="{FF2B5EF4-FFF2-40B4-BE49-F238E27FC236}">
                <a16:creationId xmlns:a16="http://schemas.microsoft.com/office/drawing/2014/main" id="{3774731F-82E9-8714-923F-B03BEBC3448B}"/>
              </a:ext>
            </a:extLst>
          </p:cNvPr>
          <p:cNvGraphicFramePr>
            <a:graphicFrameLocks/>
          </p:cNvGraphicFramePr>
          <p:nvPr>
            <p:extLst>
              <p:ext uri="{D42A27DB-BD31-4B8C-83A1-F6EECF244321}">
                <p14:modId xmlns:p14="http://schemas.microsoft.com/office/powerpoint/2010/main" val="423896391"/>
              </p:ext>
            </p:extLst>
          </p:nvPr>
        </p:nvGraphicFramePr>
        <p:xfrm>
          <a:off x="5304063" y="1293585"/>
          <a:ext cx="6613074" cy="774259"/>
        </p:xfrm>
        <a:graphic>
          <a:graphicData uri="http://schemas.openxmlformats.org/drawingml/2006/table">
            <a:tbl>
              <a:tblPr firstRow="1" bandRow="1"/>
              <a:tblGrid>
                <a:gridCol w="1322615">
                  <a:extLst>
                    <a:ext uri="{9D8B030D-6E8A-4147-A177-3AD203B41FA5}">
                      <a16:colId xmlns:a16="http://schemas.microsoft.com/office/drawing/2014/main" val="20000"/>
                    </a:ext>
                  </a:extLst>
                </a:gridCol>
                <a:gridCol w="1165775">
                  <a:extLst>
                    <a:ext uri="{9D8B030D-6E8A-4147-A177-3AD203B41FA5}">
                      <a16:colId xmlns:a16="http://schemas.microsoft.com/office/drawing/2014/main" val="20001"/>
                    </a:ext>
                  </a:extLst>
                </a:gridCol>
                <a:gridCol w="1479454">
                  <a:extLst>
                    <a:ext uri="{9D8B030D-6E8A-4147-A177-3AD203B41FA5}">
                      <a16:colId xmlns:a16="http://schemas.microsoft.com/office/drawing/2014/main" val="20002"/>
                    </a:ext>
                  </a:extLst>
                </a:gridCol>
                <a:gridCol w="1322615">
                  <a:extLst>
                    <a:ext uri="{9D8B030D-6E8A-4147-A177-3AD203B41FA5}">
                      <a16:colId xmlns:a16="http://schemas.microsoft.com/office/drawing/2014/main" val="20003"/>
                    </a:ext>
                  </a:extLst>
                </a:gridCol>
                <a:gridCol w="1322615">
                  <a:extLst>
                    <a:ext uri="{9D8B030D-6E8A-4147-A177-3AD203B41FA5}">
                      <a16:colId xmlns:a16="http://schemas.microsoft.com/office/drawing/2014/main" val="1179070743"/>
                    </a:ext>
                  </a:extLst>
                </a:gridCol>
              </a:tblGrid>
              <a:tr h="347539">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baseline="0">
                          <a:latin typeface="Calibri"/>
                        </a:rPr>
                        <a:t>Project  Status</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Work Completed</a:t>
                      </a:r>
                      <a:r>
                        <a:rPr lang="en-US" sz="1100" baseline="0">
                          <a:latin typeface="Calibri"/>
                        </a:rPr>
                        <a:t> (%)</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Baseline</a:t>
                      </a:r>
                      <a:r>
                        <a:rPr lang="en-US" sz="1100" baseline="0">
                          <a:latin typeface="Calibri"/>
                        </a:rPr>
                        <a:t> Budget</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 Start Date</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Planned/Estimated Completion Date</a:t>
                      </a:r>
                    </a:p>
                  </a:txBody>
                  <a:tcPr marL="84406" marR="84406">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47539">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b="0" kern="1200">
                          <a:solidFill>
                            <a:schemeClr val="dk1"/>
                          </a:solidFill>
                          <a:latin typeface="+mn-lt"/>
                          <a:ea typeface="+mn-ea"/>
                          <a:cs typeface="+mn-cs"/>
                        </a:rPr>
                        <a:t>Planning</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b="0" kern="1200">
                          <a:solidFill>
                            <a:schemeClr val="dk1"/>
                          </a:solidFill>
                          <a:latin typeface="+mn-lt"/>
                          <a:ea typeface="+mn-ea"/>
                          <a:cs typeface="+mn-cs"/>
                        </a:rPr>
                        <a:t>40</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457198" rtl="0" eaLnBrk="1" latinLnBrk="0" hangingPunct="1"/>
                      <a:r>
                        <a:rPr lang="en-US" sz="1100" b="0" kern="1200">
                          <a:solidFill>
                            <a:schemeClr val="dk1"/>
                          </a:solidFill>
                          <a:latin typeface="+mn-lt"/>
                          <a:ea typeface="+mn-ea"/>
                          <a:cs typeface="+mn-cs"/>
                        </a:rPr>
                        <a:t>50K</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b="0" kern="1200">
                          <a:solidFill>
                            <a:schemeClr val="dk1"/>
                          </a:solidFill>
                          <a:latin typeface="+mn-lt"/>
                          <a:ea typeface="+mn-ea"/>
                          <a:cs typeface="+mn-cs"/>
                        </a:rPr>
                        <a:t>1 July 2025</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100" b="0" kern="1200">
                          <a:solidFill>
                            <a:schemeClr val="dk1"/>
                          </a:solidFill>
                          <a:latin typeface="+mn-lt"/>
                          <a:ea typeface="+mn-ea"/>
                          <a:cs typeface="+mn-cs"/>
                        </a:rPr>
                        <a:t>28 Nov 2025</a:t>
                      </a:r>
                    </a:p>
                  </a:txBody>
                  <a:tcPr marL="84406" marR="84406">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13" name="Table 12">
            <a:extLst>
              <a:ext uri="{FF2B5EF4-FFF2-40B4-BE49-F238E27FC236}">
                <a16:creationId xmlns:a16="http://schemas.microsoft.com/office/drawing/2014/main" id="{FBF36F2B-4FC9-516E-231D-80A8D14DDCAB}"/>
              </a:ext>
            </a:extLst>
          </p:cNvPr>
          <p:cNvGraphicFramePr>
            <a:graphicFrameLocks noGrp="1"/>
          </p:cNvGraphicFramePr>
          <p:nvPr>
            <p:extLst>
              <p:ext uri="{D42A27DB-BD31-4B8C-83A1-F6EECF244321}">
                <p14:modId xmlns:p14="http://schemas.microsoft.com/office/powerpoint/2010/main" val="1007557918"/>
              </p:ext>
            </p:extLst>
          </p:nvPr>
        </p:nvGraphicFramePr>
        <p:xfrm>
          <a:off x="251442" y="32930"/>
          <a:ext cx="4958664" cy="406005"/>
        </p:xfrm>
        <a:graphic>
          <a:graphicData uri="http://schemas.openxmlformats.org/drawingml/2006/table">
            <a:tbl>
              <a:tblPr firstRow="1" bandRow="1"/>
              <a:tblGrid>
                <a:gridCol w="1254142">
                  <a:extLst>
                    <a:ext uri="{9D8B030D-6E8A-4147-A177-3AD203B41FA5}">
                      <a16:colId xmlns:a16="http://schemas.microsoft.com/office/drawing/2014/main" val="110687116"/>
                    </a:ext>
                  </a:extLst>
                </a:gridCol>
                <a:gridCol w="3704522">
                  <a:extLst>
                    <a:ext uri="{9D8B030D-6E8A-4147-A177-3AD203B41FA5}">
                      <a16:colId xmlns:a16="http://schemas.microsoft.com/office/drawing/2014/main" val="3314271387"/>
                    </a:ext>
                  </a:extLst>
                </a:gridCol>
              </a:tblGrid>
              <a:tr h="40600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Name</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lvl="0" algn="ctr">
                        <a:buNone/>
                      </a:pPr>
                      <a:r>
                        <a:rPr lang="en-GB" sz="1400" b="1" i="0" kern="1200">
                          <a:solidFill>
                            <a:schemeClr val="dk1"/>
                          </a:solidFill>
                          <a:effectLst/>
                          <a:latin typeface="+mn-lt"/>
                          <a:ea typeface="+mn-ea"/>
                          <a:cs typeface="+mn-cs"/>
                        </a:rPr>
                        <a:t>Connection with egov-KYC</a:t>
                      </a:r>
                      <a:endParaRPr lang="en-US" sz="1400" b="1" i="0" kern="1200">
                        <a:solidFill>
                          <a:schemeClr val="dk1"/>
                        </a:solidFill>
                        <a:effectLst/>
                        <a:latin typeface="+mn-lt"/>
                        <a:ea typeface="+mn-ea"/>
                        <a:cs typeface="+mn-cs"/>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graphicFrame>
        <p:nvGraphicFramePr>
          <p:cNvPr id="14" name="Table 13">
            <a:extLst>
              <a:ext uri="{FF2B5EF4-FFF2-40B4-BE49-F238E27FC236}">
                <a16:creationId xmlns:a16="http://schemas.microsoft.com/office/drawing/2014/main" id="{AA2A9D1F-33A2-BFCD-B546-7F02C7E7E4EC}"/>
              </a:ext>
            </a:extLst>
          </p:cNvPr>
          <p:cNvGraphicFramePr>
            <a:graphicFrameLocks noGrp="1"/>
          </p:cNvGraphicFramePr>
          <p:nvPr>
            <p:extLst>
              <p:ext uri="{D42A27DB-BD31-4B8C-83A1-F6EECF244321}">
                <p14:modId xmlns:p14="http://schemas.microsoft.com/office/powerpoint/2010/main" val="1206256819"/>
              </p:ext>
            </p:extLst>
          </p:nvPr>
        </p:nvGraphicFramePr>
        <p:xfrm>
          <a:off x="251440" y="3787088"/>
          <a:ext cx="11652103" cy="1232872"/>
        </p:xfrm>
        <a:graphic>
          <a:graphicData uri="http://schemas.openxmlformats.org/drawingml/2006/table">
            <a:tbl>
              <a:tblPr>
                <a:tableStyleId>{5C22544A-7EE6-4342-B048-85BDC9FD1C3A}</a:tableStyleId>
              </a:tblPr>
              <a:tblGrid>
                <a:gridCol w="5825693">
                  <a:extLst>
                    <a:ext uri="{9D8B030D-6E8A-4147-A177-3AD203B41FA5}">
                      <a16:colId xmlns:a16="http://schemas.microsoft.com/office/drawing/2014/main" val="3768886055"/>
                    </a:ext>
                  </a:extLst>
                </a:gridCol>
                <a:gridCol w="5826410">
                  <a:extLst>
                    <a:ext uri="{9D8B030D-6E8A-4147-A177-3AD203B41FA5}">
                      <a16:colId xmlns:a16="http://schemas.microsoft.com/office/drawing/2014/main" val="2712732260"/>
                    </a:ext>
                  </a:extLst>
                </a:gridCol>
              </a:tblGrid>
              <a:tr h="187878">
                <a:tc>
                  <a:txBody>
                    <a:bodyPr/>
                    <a:lstStyle/>
                    <a:p>
                      <a:pPr algn="ctr" fontAlgn="ctr"/>
                      <a:r>
                        <a:rPr lang="en-US" sz="1400" b="1" u="none" strike="noStrike">
                          <a:effectLst/>
                        </a:rPr>
                        <a:t>Activities Performed &amp; Milestones Achieved</a:t>
                      </a:r>
                      <a:endParaRPr lang="en-US" sz="14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tc>
                  <a:txBody>
                    <a:bodyPr/>
                    <a:lstStyle/>
                    <a:p>
                      <a:pPr algn="ctr" fontAlgn="ctr"/>
                      <a:r>
                        <a:rPr lang="en-US" sz="1400" b="1" u="none" strike="noStrike">
                          <a:effectLst/>
                        </a:rPr>
                        <a:t>Major Action Items - Upcoming Activities - Comments</a:t>
                      </a:r>
                      <a:endParaRPr lang="en-US" sz="14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extLst>
                  <a:ext uri="{0D108BD9-81ED-4DB2-BD59-A6C34878D82A}">
                    <a16:rowId xmlns:a16="http://schemas.microsoft.com/office/drawing/2014/main" val="2763828571"/>
                  </a:ext>
                </a:extLst>
              </a:tr>
              <a:tr h="1019512">
                <a:tc>
                  <a:txBody>
                    <a:bodyPr/>
                    <a:lstStyle/>
                    <a:p>
                      <a:pPr marL="171450" indent="-171450">
                        <a:buFont typeface="Arial" panose="020B0604020202020204" pitchFamily="34" charset="0"/>
                        <a:buChar char="•"/>
                      </a:pPr>
                      <a:r>
                        <a:rPr lang="en-US" sz="1100"/>
                        <a:t>Project investment was officially approved </a:t>
                      </a:r>
                      <a:r>
                        <a:rPr lang="en-US" sz="1100" b="1"/>
                        <a:t>on March 17th</a:t>
                      </a:r>
                    </a:p>
                    <a:p>
                      <a:pPr marL="171450" indent="-171450">
                        <a:buFont typeface="Arial" panose="020B0604020202020204" pitchFamily="34" charset="0"/>
                        <a:buChar char="•"/>
                      </a:pPr>
                      <a:r>
                        <a:rPr lang="en-US" sz="1100"/>
                        <a:t>Phase A (MVP implementation in Salesforce) has been successfully completed.</a:t>
                      </a:r>
                    </a:p>
                    <a:p>
                      <a:pPr marL="171450" indent="-171450">
                        <a:buFont typeface="Arial" panose="020B0604020202020204" pitchFamily="34" charset="0"/>
                        <a:buChar char="•"/>
                      </a:pPr>
                      <a:r>
                        <a:rPr lang="en-US" sz="1100"/>
                        <a:t>The Project Scope Document (</a:t>
                      </a:r>
                      <a:r>
                        <a:rPr lang="en-US" sz="1100" b="1"/>
                        <a:t>PSD</a:t>
                      </a:r>
                      <a:r>
                        <a:rPr lang="en-US" sz="1100"/>
                        <a:t>) was delivered </a:t>
                      </a:r>
                      <a:r>
                        <a:rPr lang="en-US" sz="1100" b="1"/>
                        <a:t>on June 13th</a:t>
                      </a:r>
                      <a:r>
                        <a:rPr lang="en-US" sz="1100"/>
                        <a:t>, following the completion of business requirements.</a:t>
                      </a:r>
                    </a:p>
                    <a:p>
                      <a:pPr marL="171450" indent="-171450">
                        <a:buFont typeface="Arial" panose="020B0604020202020204" pitchFamily="34" charset="0"/>
                        <a:buChar char="•"/>
                      </a:pPr>
                      <a:r>
                        <a:rPr lang="en-US" sz="1100" b="1"/>
                        <a:t>Project Plan </a:t>
                      </a:r>
                      <a:r>
                        <a:rPr lang="en-US" sz="1100"/>
                        <a:t>was delivered on </a:t>
                      </a:r>
                      <a:r>
                        <a:rPr lang="en-US" sz="1100" b="1"/>
                        <a:t>June 30th </a:t>
                      </a:r>
                      <a:r>
                        <a:rPr lang="en-US" sz="1100"/>
                        <a:t>after alignment with IT, Business &amp; Vendor.</a:t>
                      </a:r>
                    </a:p>
                    <a:p>
                      <a:pPr marL="0" lvl="0" indent="0" algn="ctr">
                        <a:buFont typeface="Arial"/>
                        <a:buNone/>
                      </a:pPr>
                      <a:endParaRPr lang="el-GR" sz="1100" u="none" strike="noStrike">
                        <a:effectLst/>
                      </a:endParaRPr>
                    </a:p>
                  </a:txBody>
                  <a:tcPr marL="0" marR="0" marT="0" marB="0">
                    <a:lnL w="12700" cmpd="sng">
                      <a:solidFill>
                        <a:sysClr val="window" lastClr="FFFFFF"/>
                      </a:solidFill>
                    </a:lnL>
                    <a:lnR w="12700" cap="flat" cmpd="sng" algn="ctr">
                      <a:solidFill>
                        <a:sysClr val="window" lastClr="FFFFFF"/>
                      </a:solidFill>
                      <a:prstDash val="solid"/>
                      <a:round/>
                      <a:headEnd type="none" w="med" len="med"/>
                      <a:tailEnd type="none" w="med" len="med"/>
                    </a:lnR>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l" defTabSz="914400" rtl="0" eaLnBrk="1" latinLnBrk="0" hangingPunct="1">
                        <a:lnSpc>
                          <a:spcPct val="100000"/>
                        </a:lnSpc>
                        <a:spcBef>
                          <a:spcPts val="0"/>
                        </a:spcBef>
                        <a:spcAft>
                          <a:spcPts val="0"/>
                        </a:spcAft>
                        <a:buClrTx/>
                        <a:buSzTx/>
                        <a:buFont typeface="Wingdings" panose="05000000000000000000" pitchFamily="2" charset="2"/>
                        <a:buNone/>
                      </a:pPr>
                      <a:r>
                        <a:rPr lang="en-US" sz="1150" kern="1200">
                          <a:solidFill>
                            <a:schemeClr val="tx1"/>
                          </a:solidFill>
                          <a:latin typeface="+mn-lt"/>
                          <a:ea typeface="+mn-ea"/>
                          <a:cs typeface="+mn-cs"/>
                        </a:rPr>
                        <a:t>It was agreed that the Change Ticket (CT) to Singular would be split into two parts:</a:t>
                      </a:r>
                    </a:p>
                    <a:p>
                      <a:pPr marL="228600" marR="0" lvl="0" indent="-228600" algn="l" defTabSz="914400" rtl="0" eaLnBrk="1" latinLnBrk="0" hangingPunct="1">
                        <a:lnSpc>
                          <a:spcPct val="100000"/>
                        </a:lnSpc>
                        <a:spcBef>
                          <a:spcPts val="0"/>
                        </a:spcBef>
                        <a:spcAft>
                          <a:spcPts val="0"/>
                        </a:spcAft>
                        <a:buClrTx/>
                        <a:buSzTx/>
                        <a:buFont typeface="+mj-lt"/>
                        <a:buAutoNum type="arabicPeriod"/>
                      </a:pPr>
                      <a:r>
                        <a:rPr lang="en-US" sz="1150" kern="1200">
                          <a:solidFill>
                            <a:schemeClr val="tx1"/>
                          </a:solidFill>
                          <a:latin typeface="+mn-lt"/>
                          <a:ea typeface="+mn-ea"/>
                          <a:cs typeface="+mn-cs"/>
                        </a:rPr>
                        <a:t>The first CT, involving the addition of a New Meter/Supply Request, will be implemented and go live by July 29th, 2025.</a:t>
                      </a:r>
                    </a:p>
                    <a:p>
                      <a:pPr marL="228600" marR="0" lvl="0" indent="-228600" algn="l" defTabSz="914400" rtl="0" eaLnBrk="1" latinLnBrk="0" hangingPunct="1">
                        <a:lnSpc>
                          <a:spcPct val="100000"/>
                        </a:lnSpc>
                        <a:spcBef>
                          <a:spcPts val="0"/>
                        </a:spcBef>
                        <a:spcAft>
                          <a:spcPts val="0"/>
                        </a:spcAft>
                        <a:buClrTx/>
                        <a:buSzTx/>
                        <a:buFont typeface="+mj-lt"/>
                        <a:buAutoNum type="arabicPeriod"/>
                      </a:pPr>
                      <a:r>
                        <a:rPr lang="en-US" sz="1150" kern="1200">
                          <a:solidFill>
                            <a:schemeClr val="tx1"/>
                          </a:solidFill>
                          <a:latin typeface="+mn-lt"/>
                          <a:ea typeface="+mn-ea"/>
                          <a:cs typeface="+mn-cs"/>
                        </a:rPr>
                        <a:t>The remaining CTs, are scheduled for implementation and go-live by November 28th, 2025.</a:t>
                      </a:r>
                    </a:p>
                    <a:p>
                      <a:pPr marL="228600" marR="0" lvl="0" indent="-228600" algn="l" defTabSz="914400" rtl="0" eaLnBrk="1" latinLnBrk="0" hangingPunct="1">
                        <a:lnSpc>
                          <a:spcPct val="100000"/>
                        </a:lnSpc>
                        <a:spcBef>
                          <a:spcPts val="0"/>
                        </a:spcBef>
                        <a:spcAft>
                          <a:spcPts val="0"/>
                        </a:spcAft>
                        <a:buClrTx/>
                        <a:buSzTx/>
                        <a:buFont typeface="+mj-lt"/>
                        <a:buAutoNum type="arabicPeriod"/>
                      </a:pPr>
                      <a:r>
                        <a:rPr lang="en-US" sz="1150" kern="1200">
                          <a:solidFill>
                            <a:schemeClr val="tx1"/>
                          </a:solidFill>
                          <a:latin typeface="+mn-lt"/>
                          <a:ea typeface="+mn-ea"/>
                          <a:cs typeface="+mn-cs"/>
                        </a:rPr>
                        <a:t>Pending procurement actions in finalizing Vendor financial offer</a:t>
                      </a:r>
                    </a:p>
                  </a:txBody>
                  <a:tcPr marL="0" marR="0" marT="0" marB="0" anchor="ctr">
                    <a:lnL w="12700" cap="flat" cmpd="sng" algn="ctr">
                      <a:solidFill>
                        <a:sysClr val="window" lastClr="FFFFFF"/>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val="2561788850"/>
                  </a:ext>
                </a:extLst>
              </a:tr>
            </a:tbl>
          </a:graphicData>
        </a:graphic>
      </p:graphicFrame>
      <p:graphicFrame>
        <p:nvGraphicFramePr>
          <p:cNvPr id="15" name="Table 14">
            <a:extLst>
              <a:ext uri="{FF2B5EF4-FFF2-40B4-BE49-F238E27FC236}">
                <a16:creationId xmlns:a16="http://schemas.microsoft.com/office/drawing/2014/main" id="{F0E217B4-D7EC-BA5E-1990-EA345018EB07}"/>
              </a:ext>
            </a:extLst>
          </p:cNvPr>
          <p:cNvGraphicFramePr>
            <a:graphicFrameLocks noGrp="1"/>
          </p:cNvGraphicFramePr>
          <p:nvPr>
            <p:extLst>
              <p:ext uri="{D42A27DB-BD31-4B8C-83A1-F6EECF244321}">
                <p14:modId xmlns:p14="http://schemas.microsoft.com/office/powerpoint/2010/main" val="836915405"/>
              </p:ext>
            </p:extLst>
          </p:nvPr>
        </p:nvGraphicFramePr>
        <p:xfrm>
          <a:off x="226880" y="4994478"/>
          <a:ext cx="11708140" cy="1837710"/>
        </p:xfrm>
        <a:graphic>
          <a:graphicData uri="http://schemas.openxmlformats.org/drawingml/2006/table">
            <a:tbl>
              <a:tblPr>
                <a:tableStyleId>{5C22544A-7EE6-4342-B048-85BDC9FD1C3A}</a:tableStyleId>
              </a:tblPr>
              <a:tblGrid>
                <a:gridCol w="3640609">
                  <a:extLst>
                    <a:ext uri="{9D8B030D-6E8A-4147-A177-3AD203B41FA5}">
                      <a16:colId xmlns:a16="http://schemas.microsoft.com/office/drawing/2014/main" val="2003250863"/>
                    </a:ext>
                  </a:extLst>
                </a:gridCol>
                <a:gridCol w="930848">
                  <a:extLst>
                    <a:ext uri="{9D8B030D-6E8A-4147-A177-3AD203B41FA5}">
                      <a16:colId xmlns:a16="http://schemas.microsoft.com/office/drawing/2014/main" val="2445968811"/>
                    </a:ext>
                  </a:extLst>
                </a:gridCol>
                <a:gridCol w="7136683">
                  <a:extLst>
                    <a:ext uri="{9D8B030D-6E8A-4147-A177-3AD203B41FA5}">
                      <a16:colId xmlns:a16="http://schemas.microsoft.com/office/drawing/2014/main" val="187998877"/>
                    </a:ext>
                  </a:extLst>
                </a:gridCol>
              </a:tblGrid>
              <a:tr h="23409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Risk</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Risk Assessment</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Control</a:t>
                      </a:r>
                    </a:p>
                  </a:txBody>
                  <a:tcPr marL="0" marR="0" marT="0" marB="0" anchor="ctr">
                    <a:solidFill>
                      <a:schemeClr val="accent1"/>
                    </a:solidFill>
                  </a:tcPr>
                </a:tc>
                <a:extLst>
                  <a:ext uri="{0D108BD9-81ED-4DB2-BD59-A6C34878D82A}">
                    <a16:rowId xmlns:a16="http://schemas.microsoft.com/office/drawing/2014/main" val="2763828571"/>
                  </a:ext>
                </a:extLst>
              </a:tr>
              <a:tr h="470330">
                <a:tc>
                  <a:txBody>
                    <a:bodyPr/>
                    <a:lstStyle/>
                    <a:p>
                      <a:pPr marL="0" indent="0">
                        <a:buFont typeface="Arial"/>
                        <a:buNone/>
                      </a:pPr>
                      <a:r>
                        <a:rPr lang="en-US" sz="1100">
                          <a:effectLst/>
                        </a:rPr>
                        <a:t>Increase demand for IT &amp; DD&amp;DE resources due to concurrent projects.</a:t>
                      </a:r>
                    </a:p>
                  </a:txBody>
                  <a:tcPr marL="38100" marR="38100" marT="38100" marB="38100" anchor="ctr">
                    <a:solidFill>
                      <a:schemeClr val="accent4">
                        <a:lumMod val="20000"/>
                        <a:lumOff val="80000"/>
                      </a:schemeClr>
                    </a:solidFill>
                  </a:tcPr>
                </a:tc>
                <a:tc>
                  <a:txBody>
                    <a:bodyPr/>
                    <a:lstStyle/>
                    <a:p>
                      <a:pPr algn="ctr"/>
                      <a:r>
                        <a:rPr lang="el-GR" sz="1100" b="0">
                          <a:solidFill>
                            <a:schemeClr val="bg1"/>
                          </a:solidFill>
                          <a:effectLst/>
                        </a:rPr>
                        <a:t>Μ</a:t>
                      </a:r>
                      <a:endParaRPr lang="en-US" sz="1100" b="0">
                        <a:solidFill>
                          <a:schemeClr val="bg1"/>
                        </a:solidFill>
                        <a:effectLst/>
                      </a:endParaRPr>
                    </a:p>
                  </a:txBody>
                  <a:tcPr marL="38100" marR="38100" marT="38100" marB="38100" anchor="ctr">
                    <a:solidFill>
                      <a:srgbClr val="EE7F00"/>
                    </a:solidFill>
                  </a:tcPr>
                </a:tc>
                <a:tc>
                  <a:txBody>
                    <a:bodyPr/>
                    <a:lstStyle/>
                    <a:p>
                      <a:r>
                        <a:rPr lang="en-US" sz="1100">
                          <a:effectLst/>
                        </a:rPr>
                        <a:t>Perform detailed project planning and align with other projects. Carry out preparatory activities in parallel to avoid resource strain.</a:t>
                      </a:r>
                    </a:p>
                  </a:txBody>
                  <a:tcPr marL="38100" marR="38100" marT="38100" marB="38100" anchor="ctr">
                    <a:solidFill>
                      <a:schemeClr val="accent4">
                        <a:lumMod val="20000"/>
                        <a:lumOff val="80000"/>
                      </a:schemeClr>
                    </a:solidFill>
                  </a:tcPr>
                </a:tc>
                <a:extLst>
                  <a:ext uri="{0D108BD9-81ED-4DB2-BD59-A6C34878D82A}">
                    <a16:rowId xmlns:a16="http://schemas.microsoft.com/office/drawing/2014/main" val="2561788850"/>
                  </a:ext>
                </a:extLst>
              </a:tr>
              <a:tr h="470330">
                <a:tc>
                  <a:txBody>
                    <a:bodyPr/>
                    <a:lstStyle/>
                    <a:p>
                      <a:pPr marL="0" lvl="0" indent="0">
                        <a:buFont typeface="Arial"/>
                        <a:buNone/>
                      </a:pPr>
                      <a:r>
                        <a:rPr lang="en-US" sz="1100"/>
                        <a:t>Limited engagement from vendor due to resource allocation</a:t>
                      </a:r>
                      <a:endParaRPr lang="en-US" sz="1100">
                        <a:effectLst/>
                      </a:endParaRPr>
                    </a:p>
                  </a:txBody>
                  <a:tcPr marL="38099" marR="38099" marT="38099" marB="38099" anchor="ctr">
                    <a:solidFill>
                      <a:schemeClr val="accent4">
                        <a:lumMod val="20000"/>
                        <a:lumOff val="80000"/>
                      </a:schemeClr>
                    </a:solidFill>
                  </a:tcPr>
                </a:tc>
                <a:tc>
                  <a:txBody>
                    <a:bodyPr/>
                    <a:lstStyle/>
                    <a:p>
                      <a:pPr marL="0" lvl="0" algn="ctr" defTabSz="914400" rtl="0" eaLnBrk="1" latinLnBrk="0" hangingPunct="1">
                        <a:buNone/>
                      </a:pPr>
                      <a:r>
                        <a:rPr lang="en-US" sz="1100" b="0" kern="1200">
                          <a:solidFill>
                            <a:schemeClr val="bg1"/>
                          </a:solidFill>
                          <a:effectLst/>
                          <a:latin typeface="+mn-lt"/>
                          <a:ea typeface="+mn-ea"/>
                          <a:cs typeface="+mn-cs"/>
                        </a:rPr>
                        <a:t>M</a:t>
                      </a:r>
                    </a:p>
                  </a:txBody>
                  <a:tcPr marL="38099" marR="38099" marT="38099" marB="38099" anchor="ctr">
                    <a:solidFill>
                      <a:srgbClr val="EE7F00"/>
                    </a:solidFill>
                  </a:tcPr>
                </a:tc>
                <a:tc>
                  <a:txBody>
                    <a:bodyPr/>
                    <a:lstStyle/>
                    <a:p>
                      <a:pPr lvl="0">
                        <a:buNone/>
                      </a:pPr>
                      <a:r>
                        <a:rPr lang="en-US" sz="1100">
                          <a:effectLst/>
                        </a:rPr>
                        <a:t>Conduct follow-up meetings with the vendor to ensure future availability and adjust the timeline based on the agreed plan.</a:t>
                      </a:r>
                    </a:p>
                  </a:txBody>
                  <a:tcPr marL="38099" marR="38099" marT="38099" marB="38099" anchor="ctr">
                    <a:solidFill>
                      <a:schemeClr val="accent4">
                        <a:lumMod val="20000"/>
                        <a:lumOff val="80000"/>
                      </a:schemeClr>
                    </a:solidFill>
                  </a:tcPr>
                </a:tc>
                <a:extLst>
                  <a:ext uri="{0D108BD9-81ED-4DB2-BD59-A6C34878D82A}">
                    <a16:rowId xmlns:a16="http://schemas.microsoft.com/office/drawing/2014/main" val="2413030400"/>
                  </a:ext>
                </a:extLst>
              </a:tr>
              <a:tr h="470330">
                <a:tc>
                  <a:txBody>
                    <a:bodyPr/>
                    <a:lstStyle/>
                    <a:p>
                      <a:pPr marL="0" lvl="0" indent="0">
                        <a:buFont typeface="Arial"/>
                        <a:buNone/>
                      </a:pPr>
                      <a:r>
                        <a:rPr lang="en-US" sz="1100">
                          <a:effectLst/>
                        </a:rPr>
                        <a:t>Technical Challenges in API Integration</a:t>
                      </a:r>
                    </a:p>
                  </a:txBody>
                  <a:tcPr marL="38099" marR="38099" marT="38099" marB="38099" anchor="ctr">
                    <a:solidFill>
                      <a:schemeClr val="accent4">
                        <a:lumMod val="20000"/>
                        <a:lumOff val="80000"/>
                      </a:schemeClr>
                    </a:solidFill>
                  </a:tcPr>
                </a:tc>
                <a:tc>
                  <a:txBody>
                    <a:bodyPr/>
                    <a:lstStyle/>
                    <a:p>
                      <a:pPr lvl="0" algn="ctr">
                        <a:buNone/>
                      </a:pPr>
                      <a:r>
                        <a:rPr lang="el-GR" sz="1100" b="0">
                          <a:solidFill>
                            <a:schemeClr val="bg1"/>
                          </a:solidFill>
                          <a:effectLst/>
                        </a:rPr>
                        <a:t>Μ</a:t>
                      </a:r>
                      <a:endParaRPr lang="en-US" sz="1100" b="0">
                        <a:solidFill>
                          <a:schemeClr val="bg1"/>
                        </a:solidFill>
                        <a:effectLst/>
                      </a:endParaRPr>
                    </a:p>
                  </a:txBody>
                  <a:tcPr marL="38099" marR="38099" marT="38099" marB="38099" anchor="ctr">
                    <a:solidFill>
                      <a:srgbClr val="EE7F00"/>
                    </a:solidFill>
                  </a:tcPr>
                </a:tc>
                <a:tc>
                  <a:txBody>
                    <a:bodyPr/>
                    <a:lstStyle/>
                    <a:p>
                      <a:pPr lvl="0">
                        <a:buNone/>
                      </a:pPr>
                      <a:r>
                        <a:rPr lang="en-US" sz="1100">
                          <a:effectLst/>
                        </a:rPr>
                        <a:t>Issues in data retrieval from external sources (Greek IRS, GSIS, Hellenic Police) may delay system implementation. Perform early-stage testing and involve technical teams from both sides for seamless integration troubleshooting.</a:t>
                      </a:r>
                    </a:p>
                  </a:txBody>
                  <a:tcPr marL="38099" marR="38099" marT="38099" marB="38099" anchor="ctr">
                    <a:solidFill>
                      <a:schemeClr val="accent4">
                        <a:lumMod val="20000"/>
                        <a:lumOff val="80000"/>
                      </a:schemeClr>
                    </a:solidFill>
                  </a:tcPr>
                </a:tc>
                <a:extLst>
                  <a:ext uri="{0D108BD9-81ED-4DB2-BD59-A6C34878D82A}">
                    <a16:rowId xmlns:a16="http://schemas.microsoft.com/office/drawing/2014/main" val="994776590"/>
                  </a:ext>
                </a:extLst>
              </a:tr>
            </a:tbl>
          </a:graphicData>
        </a:graphic>
      </p:graphicFrame>
      <p:graphicFrame>
        <p:nvGraphicFramePr>
          <p:cNvPr id="16" name="Table 15">
            <a:extLst>
              <a:ext uri="{FF2B5EF4-FFF2-40B4-BE49-F238E27FC236}">
                <a16:creationId xmlns:a16="http://schemas.microsoft.com/office/drawing/2014/main" id="{8F3BEA03-03E2-F04A-EDA1-5E3162EBEB73}"/>
              </a:ext>
            </a:extLst>
          </p:cNvPr>
          <p:cNvGraphicFramePr>
            <a:graphicFrameLocks noGrp="1"/>
          </p:cNvGraphicFramePr>
          <p:nvPr>
            <p:extLst>
              <p:ext uri="{D42A27DB-BD31-4B8C-83A1-F6EECF244321}">
                <p14:modId xmlns:p14="http://schemas.microsoft.com/office/powerpoint/2010/main" val="1007219590"/>
              </p:ext>
            </p:extLst>
          </p:nvPr>
        </p:nvGraphicFramePr>
        <p:xfrm>
          <a:off x="251440" y="441143"/>
          <a:ext cx="4958665" cy="1575486"/>
        </p:xfrm>
        <a:graphic>
          <a:graphicData uri="http://schemas.openxmlformats.org/drawingml/2006/table">
            <a:tbl>
              <a:tblPr firstRow="1" bandRow="1"/>
              <a:tblGrid>
                <a:gridCol w="1253919">
                  <a:extLst>
                    <a:ext uri="{9D8B030D-6E8A-4147-A177-3AD203B41FA5}">
                      <a16:colId xmlns:a16="http://schemas.microsoft.com/office/drawing/2014/main" val="110687116"/>
                    </a:ext>
                  </a:extLst>
                </a:gridCol>
                <a:gridCol w="3704746">
                  <a:extLst>
                    <a:ext uri="{9D8B030D-6E8A-4147-A177-3AD203B41FA5}">
                      <a16:colId xmlns:a16="http://schemas.microsoft.com/office/drawing/2014/main" val="3314271387"/>
                    </a:ext>
                  </a:extLst>
                </a:gridCol>
              </a:tblGrid>
              <a:tr h="1575486">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a:t>
                      </a:r>
                      <a:r>
                        <a:rPr lang="en-US" sz="1400" b="1" i="0" u="none" strike="noStrike" kern="1200" cap="none" spc="0" normalizeH="0" baseline="0" noProof="0">
                          <a:ln>
                            <a:noFill/>
                          </a:ln>
                          <a:solidFill>
                            <a:srgbClr val="FFFFFF"/>
                          </a:solidFill>
                          <a:effectLst/>
                          <a:uLnTx/>
                          <a:uFillTx/>
                          <a:latin typeface="+mn-lt"/>
                          <a:ea typeface="+mn-ea"/>
                          <a:cs typeface="+mn-cs"/>
                        </a:rPr>
                        <a:t>Scope</a:t>
                      </a:r>
                      <a:endParaRPr kumimoji="0" lang="en-US" sz="1400" b="1" i="0" u="none" strike="noStrike" kern="1200" cap="none" spc="0" normalizeH="0" baseline="0" noProof="0">
                        <a:ln>
                          <a:noFill/>
                        </a:ln>
                        <a:solidFill>
                          <a:srgbClr val="FFFFFF"/>
                        </a:solidFill>
                        <a:effectLst/>
                        <a:uLnTx/>
                        <a:uFillTx/>
                        <a:latin typeface="+mn-lt"/>
                        <a:ea typeface="+mn-ea"/>
                        <a:cs typeface="+mn-cs"/>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lvl="0" indent="0" algn="l">
                        <a:buFont typeface="Arial" panose="020B0604020202020204" pitchFamily="34" charset="0"/>
                        <a:buNone/>
                      </a:pPr>
                      <a:r>
                        <a:rPr lang="en-US" sz="1200" b="0" i="0" kern="1200">
                          <a:solidFill>
                            <a:schemeClr val="dk1"/>
                          </a:solidFill>
                          <a:effectLst/>
                          <a:latin typeface="+mn-lt"/>
                          <a:ea typeface="+mn-ea"/>
                          <a:cs typeface="+mn-cs"/>
                        </a:rPr>
                        <a:t>Develop a digital infrastructure that enables sales agents and back-office users to securely obtain customer identification data through a government web service.</a:t>
                      </a:r>
                      <a:r>
                        <a:rPr lang="el-GR" sz="1200" b="0" i="0" kern="1200">
                          <a:solidFill>
                            <a:schemeClr val="dk1"/>
                          </a:solidFill>
                          <a:effectLst/>
                          <a:latin typeface="+mn-lt"/>
                          <a:ea typeface="+mn-ea"/>
                          <a:cs typeface="+mn-cs"/>
                        </a:rPr>
                        <a:t> </a:t>
                      </a:r>
                      <a:r>
                        <a:rPr lang="en-US" sz="1200" b="0" i="0" kern="1200">
                          <a:solidFill>
                            <a:schemeClr val="dk1"/>
                          </a:solidFill>
                          <a:effectLst/>
                          <a:latin typeface="+mn-lt"/>
                          <a:ea typeface="+mn-ea"/>
                          <a:cs typeface="+mn-cs"/>
                        </a:rPr>
                        <a:t>The expected Outcome is a fully digital, paperless, and efficient method for verifying customer identity, streamlining the application process for all stakeholders</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sp>
        <p:nvSpPr>
          <p:cNvPr id="3" name="Oval 2">
            <a:extLst>
              <a:ext uri="{FF2B5EF4-FFF2-40B4-BE49-F238E27FC236}">
                <a16:creationId xmlns:a16="http://schemas.microsoft.com/office/drawing/2014/main" id="{B897C966-6E33-FE67-83EF-B19578E99CB7}"/>
              </a:ext>
            </a:extLst>
          </p:cNvPr>
          <p:cNvSpPr>
            <a:spLocks noChangeAspect="1"/>
          </p:cNvSpPr>
          <p:nvPr/>
        </p:nvSpPr>
        <p:spPr>
          <a:xfrm>
            <a:off x="7658044" y="1042303"/>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469A5E40-22B1-4DA0-F97C-D0A59F9CF109}"/>
              </a:ext>
            </a:extLst>
          </p:cNvPr>
          <p:cNvSpPr>
            <a:spLocks noChangeAspect="1"/>
          </p:cNvSpPr>
          <p:nvPr/>
        </p:nvSpPr>
        <p:spPr>
          <a:xfrm>
            <a:off x="10964907" y="103611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1C8E3A0-8E3E-6C4B-D657-EE99ADB0ACD4}"/>
              </a:ext>
            </a:extLst>
          </p:cNvPr>
          <p:cNvSpPr>
            <a:spLocks noChangeAspect="1"/>
          </p:cNvSpPr>
          <p:nvPr/>
        </p:nvSpPr>
        <p:spPr>
          <a:xfrm>
            <a:off x="9343106" y="104568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38B1F611-2AC3-9ED7-12FE-8AF4382B50E3}"/>
              </a:ext>
            </a:extLst>
          </p:cNvPr>
          <p:cNvSpPr>
            <a:spLocks noChangeAspect="1"/>
          </p:cNvSpPr>
          <p:nvPr/>
        </p:nvSpPr>
        <p:spPr>
          <a:xfrm>
            <a:off x="6004612" y="1050222"/>
            <a:ext cx="214068" cy="20521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Slide Number Placeholder 14">
            <a:extLst>
              <a:ext uri="{FF2B5EF4-FFF2-40B4-BE49-F238E27FC236}">
                <a16:creationId xmlns:a16="http://schemas.microsoft.com/office/drawing/2014/main" id="{BF56FBCC-E5F0-E148-F781-611766DDB8E5}"/>
              </a:ext>
            </a:extLst>
          </p:cNvPr>
          <p:cNvSpPr txBox="1">
            <a:spLocks/>
          </p:cNvSpPr>
          <p:nvPr/>
        </p:nvSpPr>
        <p:spPr>
          <a:xfrm>
            <a:off x="11158502" y="6122714"/>
            <a:ext cx="629427" cy="365125"/>
          </a:xfrm>
          <a:prstGeom prst="rect">
            <a:avLst/>
          </a:prstGeom>
        </p:spPr>
        <p:txBody>
          <a:bodyPr vert="horz" lIns="91440" tIns="45720" rIns="91440" bIns="45720" rtlCol="0" anchor="ctr"/>
          <a:lstStyle>
            <a:defPPr>
              <a:defRPr lang="el-GR"/>
            </a:defPPr>
            <a:lvl1pPr marL="0" algn="r" defTabSz="914400" rtl="0" eaLnBrk="1" latinLnBrk="0" hangingPunct="1">
              <a:defRPr sz="12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34D5E84-50F9-4E8A-902D-8ADBB9AEA009}" type="slidenum">
              <a:rPr lang="el-GR"/>
              <a:pPr/>
              <a:t>2</a:t>
            </a:fld>
            <a:r>
              <a:rPr lang="en-US"/>
              <a:t>/21</a:t>
            </a:r>
            <a:endParaRPr lang="el-GR"/>
          </a:p>
        </p:txBody>
      </p:sp>
      <p:graphicFrame>
        <p:nvGraphicFramePr>
          <p:cNvPr id="12" name="Table 11">
            <a:extLst>
              <a:ext uri="{FF2B5EF4-FFF2-40B4-BE49-F238E27FC236}">
                <a16:creationId xmlns:a16="http://schemas.microsoft.com/office/drawing/2014/main" id="{1B933455-3B59-2A65-59AD-75031D7F7E96}"/>
              </a:ext>
            </a:extLst>
          </p:cNvPr>
          <p:cNvGraphicFramePr>
            <a:graphicFrameLocks noGrp="1"/>
          </p:cNvGraphicFramePr>
          <p:nvPr>
            <p:extLst>
              <p:ext uri="{D42A27DB-BD31-4B8C-83A1-F6EECF244321}">
                <p14:modId xmlns:p14="http://schemas.microsoft.com/office/powerpoint/2010/main" val="4245025800"/>
              </p:ext>
            </p:extLst>
          </p:nvPr>
        </p:nvGraphicFramePr>
        <p:xfrm>
          <a:off x="235160" y="1977002"/>
          <a:ext cx="11683580" cy="1813906"/>
        </p:xfrm>
        <a:graphic>
          <a:graphicData uri="http://schemas.openxmlformats.org/drawingml/2006/table">
            <a:tbl>
              <a:tblPr firstRow="1" bandRow="1"/>
              <a:tblGrid>
                <a:gridCol w="3493300">
                  <a:extLst>
                    <a:ext uri="{9D8B030D-6E8A-4147-A177-3AD203B41FA5}">
                      <a16:colId xmlns:a16="http://schemas.microsoft.com/office/drawing/2014/main" val="20000"/>
                    </a:ext>
                  </a:extLst>
                </a:gridCol>
                <a:gridCol w="885137">
                  <a:extLst>
                    <a:ext uri="{9D8B030D-6E8A-4147-A177-3AD203B41FA5}">
                      <a16:colId xmlns:a16="http://schemas.microsoft.com/office/drawing/2014/main" val="20001"/>
                    </a:ext>
                  </a:extLst>
                </a:gridCol>
                <a:gridCol w="2040473">
                  <a:extLst>
                    <a:ext uri="{9D8B030D-6E8A-4147-A177-3AD203B41FA5}">
                      <a16:colId xmlns:a16="http://schemas.microsoft.com/office/drawing/2014/main" val="20002"/>
                    </a:ext>
                  </a:extLst>
                </a:gridCol>
                <a:gridCol w="5264670">
                  <a:extLst>
                    <a:ext uri="{9D8B030D-6E8A-4147-A177-3AD203B41FA5}">
                      <a16:colId xmlns:a16="http://schemas.microsoft.com/office/drawing/2014/main" val="20005"/>
                    </a:ext>
                  </a:extLst>
                </a:gridCol>
              </a:tblGrid>
              <a:tr h="25141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400" b="1">
                          <a:effectLst/>
                        </a:rPr>
                        <a:t>Phases/Milestones/Deliverables</a:t>
                      </a:r>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R/A/G</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Estimated Delivery Date</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Remarks on progress</a:t>
                      </a:r>
                      <a:endParaRPr lang="en-US" sz="1400"/>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224564">
                <a:tc>
                  <a:txBody>
                    <a:bodyPr/>
                    <a:lstStyle/>
                    <a:p>
                      <a:pPr lvl="0" algn="l">
                        <a:lnSpc>
                          <a:spcPct val="100000"/>
                        </a:lnSpc>
                        <a:spcBef>
                          <a:spcPts val="0"/>
                        </a:spcBef>
                        <a:spcAft>
                          <a:spcPts val="0"/>
                        </a:spcAft>
                        <a:buNone/>
                      </a:pPr>
                      <a:r>
                        <a:rPr lang="en-US" sz="1150" kern="1200" noProof="0">
                          <a:solidFill>
                            <a:schemeClr val="tx1"/>
                          </a:solidFill>
                          <a:latin typeface="+mn-lt"/>
                          <a:ea typeface="+mn-ea"/>
                          <a:cs typeface="+mn-cs"/>
                        </a:rPr>
                        <a:t>PSD Finalization </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20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1150" kern="1200">
                          <a:solidFill>
                            <a:schemeClr val="tx1"/>
                          </a:solidFill>
                          <a:latin typeface="+mn-lt"/>
                          <a:ea typeface="+mn-ea"/>
                          <a:cs typeface="+mn-cs"/>
                        </a:rPr>
                        <a:t>13/6/2025</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lvl="0" algn="ctr">
                        <a:buNone/>
                      </a:pPr>
                      <a:r>
                        <a:rPr lang="en-US" sz="1150" b="0" i="0" u="none" strike="noStrike" kern="1200">
                          <a:solidFill>
                            <a:srgbClr val="2E5684"/>
                          </a:solidFill>
                          <a:latin typeface="Calibri"/>
                          <a:ea typeface="+mn-ea"/>
                          <a:cs typeface="+mn-cs"/>
                        </a:rPr>
                        <a:t>Completed</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838194855"/>
                  </a:ext>
                </a:extLst>
              </a:tr>
              <a:tr h="224564">
                <a:tc>
                  <a:txBody>
                    <a:bodyPr/>
                    <a:lstStyle/>
                    <a:p>
                      <a:pPr lvl="0" algn="l">
                        <a:lnSpc>
                          <a:spcPct val="100000"/>
                        </a:lnSpc>
                        <a:spcBef>
                          <a:spcPts val="0"/>
                        </a:spcBef>
                        <a:spcAft>
                          <a:spcPts val="0"/>
                        </a:spcAft>
                        <a:buNone/>
                      </a:pPr>
                      <a:r>
                        <a:rPr lang="en-US" sz="1150" kern="1200" noProof="0">
                          <a:solidFill>
                            <a:schemeClr val="tx1"/>
                          </a:solidFill>
                          <a:latin typeface="+mn-lt"/>
                          <a:ea typeface="+mn-ea"/>
                          <a:cs typeface="+mn-cs"/>
                        </a:rPr>
                        <a:t>Phase B Kick-off</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20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1150" kern="1200">
                          <a:solidFill>
                            <a:schemeClr val="tx1"/>
                          </a:solidFill>
                          <a:latin typeface="+mn-lt"/>
                          <a:ea typeface="+mn-ea"/>
                          <a:cs typeface="+mn-cs"/>
                        </a:rPr>
                        <a:t>TBD</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rowSpan="5">
                  <a:txBody>
                    <a:bodyPr/>
                    <a:lstStyle/>
                    <a:p>
                      <a:pPr lvl="0" algn="ctr">
                        <a:buNone/>
                      </a:pPr>
                      <a:endParaRPr lang="en-US" sz="1150" b="0" i="0" u="none" strike="noStrike" kern="1200">
                        <a:solidFill>
                          <a:srgbClr val="2E5684"/>
                        </a:solidFill>
                        <a:latin typeface="+mn-lt"/>
                        <a:ea typeface="+mn-ea"/>
                        <a:cs typeface="+mn-cs"/>
                      </a:endParaRPr>
                    </a:p>
                    <a:p>
                      <a:pPr lvl="0" algn="ctr">
                        <a:buNone/>
                      </a:pPr>
                      <a:endParaRPr lang="en-US" sz="1150" b="0" i="0" u="none" strike="noStrike" kern="1200">
                        <a:solidFill>
                          <a:srgbClr val="2E5684"/>
                        </a:solidFill>
                        <a:latin typeface="+mn-lt"/>
                        <a:ea typeface="+mn-ea"/>
                        <a:cs typeface="+mn-cs"/>
                      </a:endParaRPr>
                    </a:p>
                    <a:p>
                      <a:pPr lvl="0" algn="ctr">
                        <a:buNone/>
                      </a:pPr>
                      <a:endParaRPr lang="en-US" sz="1150" b="0" i="0" u="none" strike="noStrike" kern="1200">
                        <a:solidFill>
                          <a:srgbClr val="2E5684"/>
                        </a:solidFill>
                        <a:latin typeface="+mn-lt"/>
                        <a:ea typeface="+mn-ea"/>
                        <a:cs typeface="+mn-cs"/>
                      </a:endParaRPr>
                    </a:p>
                    <a:p>
                      <a:pPr lvl="0" algn="ctr">
                        <a:buNone/>
                      </a:pPr>
                      <a:r>
                        <a:rPr lang="en-US" sz="1150" b="0" i="0" u="none" strike="noStrike" kern="1200">
                          <a:solidFill>
                            <a:srgbClr val="2E5684"/>
                          </a:solidFill>
                          <a:latin typeface="+mn-lt"/>
                          <a:ea typeface="+mn-ea"/>
                          <a:cs typeface="+mn-cs"/>
                        </a:rPr>
                        <a:t>TBD</a:t>
                      </a:r>
                      <a:endParaRPr lang="en-US"/>
                    </a:p>
                    <a:p>
                      <a:pPr lvl="0" algn="ctr">
                        <a:buNone/>
                      </a:pPr>
                      <a:endParaRPr lang="en-US" sz="1150" b="0" i="0" u="none" strike="noStrike" kern="1200">
                        <a:solidFill>
                          <a:srgbClr val="2E5684"/>
                        </a:solidFill>
                        <a:latin typeface="Calibri"/>
                        <a:ea typeface="+mn-ea"/>
                        <a:cs typeface="+mn-cs"/>
                      </a:endParaRP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441431829"/>
                  </a:ext>
                </a:extLst>
              </a:tr>
              <a:tr h="22456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lnSpc>
                          <a:spcPct val="100000"/>
                        </a:lnSpc>
                        <a:spcBef>
                          <a:spcPts val="0"/>
                        </a:spcBef>
                        <a:spcAft>
                          <a:spcPts val="0"/>
                        </a:spcAft>
                        <a:buNone/>
                      </a:pPr>
                      <a:r>
                        <a:rPr lang="en-US" sz="1150" kern="1200" noProof="0">
                          <a:solidFill>
                            <a:schemeClr val="tx1"/>
                          </a:solidFill>
                          <a:latin typeface="+mn-lt"/>
                          <a:ea typeface="+mn-ea"/>
                          <a:cs typeface="+mn-cs"/>
                        </a:rPr>
                        <a:t>System Integration Kick-off</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150" kern="1200">
                          <a:solidFill>
                            <a:schemeClr val="tx1"/>
                          </a:solidFill>
                          <a:latin typeface="Calibri"/>
                          <a:ea typeface="+mn-ea"/>
                          <a:cs typeface="+mn-cs"/>
                        </a:rPr>
                        <a:t>TBD</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US" sz="1150" b="0" i="0" u="none" strike="noStrike" kern="1200">
                        <a:solidFill>
                          <a:srgbClr val="2E5684"/>
                        </a:solidFill>
                        <a:latin typeface="Calibri"/>
                        <a:ea typeface="+mn-ea"/>
                        <a:cs typeface="+mn-cs"/>
                      </a:endParaRP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2038214"/>
                  </a:ext>
                </a:extLst>
              </a:tr>
              <a:tr h="269386">
                <a:tc>
                  <a:txBody>
                    <a:bodyPr/>
                    <a:lstStyle/>
                    <a:p>
                      <a:pPr lvl="0" algn="l">
                        <a:lnSpc>
                          <a:spcPct val="100000"/>
                        </a:lnSpc>
                        <a:spcBef>
                          <a:spcPts val="0"/>
                        </a:spcBef>
                        <a:spcAft>
                          <a:spcPts val="0"/>
                        </a:spcAft>
                        <a:buNone/>
                      </a:pPr>
                      <a:r>
                        <a:rPr lang="en-US" sz="1150" kern="1200" noProof="0">
                          <a:solidFill>
                            <a:schemeClr val="tx1"/>
                          </a:solidFill>
                          <a:latin typeface="+mn-lt"/>
                          <a:ea typeface="+mn-ea"/>
                          <a:cs typeface="+mn-cs"/>
                        </a:rPr>
                        <a:t>Development of backend services</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15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1150" kern="1200">
                          <a:solidFill>
                            <a:schemeClr val="tx1"/>
                          </a:solidFill>
                          <a:latin typeface="+mn-lt"/>
                          <a:ea typeface="+mn-ea"/>
                          <a:cs typeface="+mn-cs"/>
                        </a:rPr>
                        <a:t>TBD</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p>
                      <a:endParaRPr lang="en-US" sz="1150" b="0" i="0" u="none" strike="noStrike" kern="1200">
                        <a:solidFill>
                          <a:srgbClr val="2E5684"/>
                        </a:solidFill>
                        <a:latin typeface="+mn-lt"/>
                        <a:ea typeface="+mn-ea"/>
                        <a:cs typeface="+mn-cs"/>
                      </a:endParaRP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499105613"/>
                  </a:ext>
                </a:extLst>
              </a:tr>
              <a:tr h="21785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lnSpc>
                          <a:spcPct val="100000"/>
                        </a:lnSpc>
                        <a:spcBef>
                          <a:spcPts val="0"/>
                        </a:spcBef>
                        <a:spcAft>
                          <a:spcPts val="0"/>
                        </a:spcAft>
                        <a:buNone/>
                      </a:pPr>
                      <a:r>
                        <a:rPr lang="en-US" sz="1100" b="0" i="0" u="none" strike="noStrike" kern="1200" noProof="0">
                          <a:solidFill>
                            <a:srgbClr val="2E5684"/>
                          </a:solidFill>
                          <a:latin typeface="Calibri"/>
                        </a:rPr>
                        <a:t>Testing &amp; Quality Assurance (UAT)</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15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150" kern="1200">
                          <a:solidFill>
                            <a:schemeClr val="tx1"/>
                          </a:solidFill>
                          <a:latin typeface="Calibri"/>
                          <a:ea typeface="+mn-ea"/>
                          <a:cs typeface="+mn-cs"/>
                        </a:rPr>
                        <a:t>TBD</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US" sz="1150" b="0" i="0" u="none" strike="noStrike" kern="1200">
                        <a:solidFill>
                          <a:srgbClr val="2E5684"/>
                        </a:solidFill>
                        <a:latin typeface="Calibri"/>
                        <a:ea typeface="+mn-ea"/>
                        <a:cs typeface="+mn-cs"/>
                      </a:endParaRP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174709326"/>
                  </a:ext>
                </a:extLst>
              </a:tr>
              <a:tr h="217850">
                <a:tc>
                  <a:txBody>
                    <a:bodyPr/>
                    <a:lstStyle/>
                    <a:p>
                      <a:pPr lvl="0" algn="l">
                        <a:lnSpc>
                          <a:spcPct val="100000"/>
                        </a:lnSpc>
                        <a:spcBef>
                          <a:spcPts val="0"/>
                        </a:spcBef>
                        <a:spcAft>
                          <a:spcPts val="0"/>
                        </a:spcAft>
                        <a:buNone/>
                      </a:pPr>
                      <a:r>
                        <a:rPr lang="en-US" sz="1100"/>
                        <a:t>Go-Live</a:t>
                      </a:r>
                      <a:endParaRPr lang="en-US" sz="1100" b="0" i="0" u="none" strike="noStrike" kern="1200" noProof="0">
                        <a:solidFill>
                          <a:srgbClr val="2E5684"/>
                        </a:solidFill>
                        <a:latin typeface="Calibri"/>
                      </a:endParaRP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15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1150" kern="1200">
                          <a:solidFill>
                            <a:schemeClr val="tx1"/>
                          </a:solidFill>
                          <a:latin typeface="+mn-lt"/>
                          <a:ea typeface="+mn-ea"/>
                          <a:cs typeface="+mn-cs"/>
                        </a:rPr>
                        <a:t>TBD</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vMerge="1">
                  <a:txBody>
                    <a:bodyPr/>
                    <a:lstStyle/>
                    <a:p>
                      <a:endParaRPr lang="en-US" sz="1150" b="0" i="0" u="none" strike="noStrike" kern="1200">
                        <a:solidFill>
                          <a:srgbClr val="2E5684"/>
                        </a:solidFill>
                        <a:latin typeface="+mn-lt"/>
                        <a:ea typeface="+mn-ea"/>
                        <a:cs typeface="+mn-cs"/>
                      </a:endParaRP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670965992"/>
                  </a:ext>
                </a:extLst>
              </a:tr>
            </a:tbl>
          </a:graphicData>
        </a:graphic>
      </p:graphicFrame>
    </p:spTree>
    <p:extLst>
      <p:ext uri="{BB962C8B-B14F-4D97-AF65-F5344CB8AC3E}">
        <p14:creationId xmlns:p14="http://schemas.microsoft.com/office/powerpoint/2010/main" val="3479418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B3080-4045-8779-6E5E-34FA2DB98F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94E34A-4109-D709-24F6-FCAC985318BC}"/>
              </a:ext>
            </a:extLst>
          </p:cNvPr>
          <p:cNvSpPr>
            <a:spLocks noGrp="1"/>
          </p:cNvSpPr>
          <p:nvPr>
            <p:ph type="sldNum" idx="12"/>
          </p:nvPr>
        </p:nvSpPr>
        <p:spPr>
          <a:xfrm>
            <a:off x="8610600" y="6057598"/>
            <a:ext cx="2743200" cy="365125"/>
          </a:xfrm>
        </p:spPr>
        <p:txBody>
          <a:bodyPr/>
          <a:lstStyle/>
          <a:p>
            <a:pPr marL="0" lvl="0" indent="0" algn="r" rtl="0">
              <a:spcBef>
                <a:spcPts val="0"/>
              </a:spcBef>
              <a:spcAft>
                <a:spcPts val="0"/>
              </a:spcAft>
              <a:buNone/>
            </a:pPr>
            <a:fld id="{00000000-1234-1234-1234-123412341234}" type="slidenum">
              <a:rPr lang="en-US"/>
              <a:t>3</a:t>
            </a:fld>
            <a:endParaRPr lang="en-US"/>
          </a:p>
        </p:txBody>
      </p:sp>
      <p:sp>
        <p:nvSpPr>
          <p:cNvPr id="4" name="Slide Number Placeholder 1">
            <a:extLst>
              <a:ext uri="{FF2B5EF4-FFF2-40B4-BE49-F238E27FC236}">
                <a16:creationId xmlns:a16="http://schemas.microsoft.com/office/drawing/2014/main" id="{0F0CAA37-467C-7EBB-CCD7-A9C97261DE73}"/>
              </a:ext>
            </a:extLst>
          </p:cNvPr>
          <p:cNvSpPr txBox="1">
            <a:spLocks/>
          </p:cNvSpPr>
          <p:nvPr/>
        </p:nvSpPr>
        <p:spPr>
          <a:xfrm>
            <a:off x="8610600" y="6057598"/>
            <a:ext cx="2743200" cy="365125"/>
          </a:xfrm>
          <a:prstGeom prst="rect">
            <a:avLst/>
          </a:prstGeom>
          <a:noFill/>
          <a:ln>
            <a:noFill/>
          </a:ln>
        </p:spPr>
        <p:txBody>
          <a:bodyPr spcFirstLastPara="1" vert="horz" wrap="square" lIns="91425" tIns="45700" rIns="91425" bIns="45700" rtlCol="0" anchor="ctr" anchorCtr="0">
            <a:noAutofit/>
          </a:bodyPr>
          <a:lstStyle>
            <a:defPPr>
              <a:defRPr lang="en-US"/>
            </a:defPPr>
            <a:lvl1pPr marL="0" lvl="0" indent="0" algn="r" defTabSz="914400" rtl="0" eaLnBrk="1" latinLnBrk="0" hangingPunct="1">
              <a:spcBef>
                <a:spcPts val="0"/>
              </a:spcBef>
              <a:buNone/>
              <a:defRPr sz="1200" kern="1200">
                <a:solidFill>
                  <a:schemeClr val="tx1">
                    <a:tint val="75000"/>
                  </a:schemeClr>
                </a:solidFill>
                <a:latin typeface="+mn-lt"/>
                <a:ea typeface="+mn-ea"/>
                <a:cs typeface="+mn-cs"/>
              </a:defRPr>
            </a:lvl1pPr>
            <a:lvl2pPr marL="0" lvl="1" indent="0" algn="r" defTabSz="914400" rtl="0" eaLnBrk="1" latinLnBrk="0" hangingPunct="1">
              <a:spcBef>
                <a:spcPts val="0"/>
              </a:spcBef>
              <a:buNone/>
              <a:defRPr sz="1800" kern="1200">
                <a:solidFill>
                  <a:schemeClr val="tx1"/>
                </a:solidFill>
                <a:latin typeface="+mn-lt"/>
                <a:ea typeface="+mn-ea"/>
                <a:cs typeface="+mn-cs"/>
              </a:defRPr>
            </a:lvl2pPr>
            <a:lvl3pPr marL="0" lvl="2" indent="0" algn="r" defTabSz="914400" rtl="0" eaLnBrk="1" latinLnBrk="0" hangingPunct="1">
              <a:spcBef>
                <a:spcPts val="0"/>
              </a:spcBef>
              <a:buNone/>
              <a:defRPr sz="1800" kern="1200">
                <a:solidFill>
                  <a:schemeClr val="tx1"/>
                </a:solidFill>
                <a:latin typeface="+mn-lt"/>
                <a:ea typeface="+mn-ea"/>
                <a:cs typeface="+mn-cs"/>
              </a:defRPr>
            </a:lvl3pPr>
            <a:lvl4pPr marL="0" lvl="3" indent="0" algn="r" defTabSz="914400" rtl="0" eaLnBrk="1" latinLnBrk="0" hangingPunct="1">
              <a:spcBef>
                <a:spcPts val="0"/>
              </a:spcBef>
              <a:buNone/>
              <a:defRPr sz="1800" kern="1200">
                <a:solidFill>
                  <a:schemeClr val="tx1"/>
                </a:solidFill>
                <a:latin typeface="+mn-lt"/>
                <a:ea typeface="+mn-ea"/>
                <a:cs typeface="+mn-cs"/>
              </a:defRPr>
            </a:lvl4pPr>
            <a:lvl5pPr marL="0" lvl="4" indent="0" algn="r" defTabSz="914400" rtl="0" eaLnBrk="1" latinLnBrk="0" hangingPunct="1">
              <a:spcBef>
                <a:spcPts val="0"/>
              </a:spcBef>
              <a:buNone/>
              <a:defRPr sz="1800" kern="1200">
                <a:solidFill>
                  <a:schemeClr val="tx1"/>
                </a:solidFill>
                <a:latin typeface="+mn-lt"/>
                <a:ea typeface="+mn-ea"/>
                <a:cs typeface="+mn-cs"/>
              </a:defRPr>
            </a:lvl5pPr>
            <a:lvl6pPr marL="0" lvl="5" indent="0" algn="r" defTabSz="914400" rtl="0" eaLnBrk="1" latinLnBrk="0" hangingPunct="1">
              <a:spcBef>
                <a:spcPts val="0"/>
              </a:spcBef>
              <a:buNone/>
              <a:defRPr sz="1800" kern="1200">
                <a:solidFill>
                  <a:schemeClr val="tx1"/>
                </a:solidFill>
                <a:latin typeface="+mn-lt"/>
                <a:ea typeface="+mn-ea"/>
                <a:cs typeface="+mn-cs"/>
              </a:defRPr>
            </a:lvl6pPr>
            <a:lvl7pPr marL="0" lvl="6" indent="0" algn="r" defTabSz="914400" rtl="0" eaLnBrk="1" latinLnBrk="0" hangingPunct="1">
              <a:spcBef>
                <a:spcPts val="0"/>
              </a:spcBef>
              <a:buNone/>
              <a:defRPr sz="1800" kern="1200">
                <a:solidFill>
                  <a:schemeClr val="tx1"/>
                </a:solidFill>
                <a:latin typeface="+mn-lt"/>
                <a:ea typeface="+mn-ea"/>
                <a:cs typeface="+mn-cs"/>
              </a:defRPr>
            </a:lvl7pPr>
            <a:lvl8pPr marL="0" lvl="7" indent="0" algn="r" defTabSz="914400" rtl="0" eaLnBrk="1" latinLnBrk="0" hangingPunct="1">
              <a:spcBef>
                <a:spcPts val="0"/>
              </a:spcBef>
              <a:buNone/>
              <a:defRPr sz="1800" kern="1200">
                <a:solidFill>
                  <a:schemeClr val="tx1"/>
                </a:solidFill>
                <a:latin typeface="+mn-lt"/>
                <a:ea typeface="+mn-ea"/>
                <a:cs typeface="+mn-cs"/>
              </a:defRPr>
            </a:lvl8pPr>
            <a:lvl9pPr marL="0" lvl="8" indent="0" algn="r" defTabSz="914400" rtl="0" eaLnBrk="1" latinLnBrk="0" hangingPunct="1">
              <a:spcBef>
                <a:spcPts val="0"/>
              </a:spcBef>
              <a:buNone/>
              <a:defRPr sz="1800" kern="1200">
                <a:solidFill>
                  <a:schemeClr val="tx1"/>
                </a:solidFill>
                <a:latin typeface="+mn-lt"/>
                <a:ea typeface="+mn-ea"/>
                <a:cs typeface="+mn-cs"/>
              </a:defRPr>
            </a:lvl9pPr>
          </a:lstStyle>
          <a:p>
            <a:pPr>
              <a:defRPr/>
            </a:pPr>
            <a:fld id="{00000000-1234-1234-1234-123412341234}" type="slidenum">
              <a:rPr lang="en-US" smtClean="0">
                <a:solidFill>
                  <a:srgbClr val="2E5684">
                    <a:tint val="75000"/>
                  </a:srgbClr>
                </a:solidFill>
                <a:latin typeface="Calibri" panose="020F0502020204030204"/>
              </a:rPr>
              <a:pPr>
                <a:defRPr/>
              </a:pPr>
              <a:t>3</a:t>
            </a:fld>
            <a:endParaRPr lang="en-US">
              <a:solidFill>
                <a:srgbClr val="2E5684">
                  <a:tint val="75000"/>
                </a:srgbClr>
              </a:solidFill>
              <a:latin typeface="Calibri" panose="020F0502020204030204"/>
            </a:endParaRPr>
          </a:p>
        </p:txBody>
      </p:sp>
      <p:graphicFrame>
        <p:nvGraphicFramePr>
          <p:cNvPr id="5" name="Content Placeholder 4">
            <a:extLst>
              <a:ext uri="{FF2B5EF4-FFF2-40B4-BE49-F238E27FC236}">
                <a16:creationId xmlns:a16="http://schemas.microsoft.com/office/drawing/2014/main" id="{3A9431C8-42E3-DD2C-F2E6-5D239E82DDE1}"/>
              </a:ext>
            </a:extLst>
          </p:cNvPr>
          <p:cNvGraphicFramePr>
            <a:graphicFrameLocks/>
          </p:cNvGraphicFramePr>
          <p:nvPr>
            <p:extLst>
              <p:ext uri="{D42A27DB-BD31-4B8C-83A1-F6EECF244321}">
                <p14:modId xmlns:p14="http://schemas.microsoft.com/office/powerpoint/2010/main" val="1936179326"/>
              </p:ext>
            </p:extLst>
          </p:nvPr>
        </p:nvGraphicFramePr>
        <p:xfrm>
          <a:off x="5304063" y="23586"/>
          <a:ext cx="6613073" cy="695077"/>
        </p:xfrm>
        <a:graphic>
          <a:graphicData uri="http://schemas.openxmlformats.org/drawingml/2006/table">
            <a:tbl>
              <a:tblPr firstRow="1" bandRow="1"/>
              <a:tblGrid>
                <a:gridCol w="724595">
                  <a:extLst>
                    <a:ext uri="{9D8B030D-6E8A-4147-A177-3AD203B41FA5}">
                      <a16:colId xmlns:a16="http://schemas.microsoft.com/office/drawing/2014/main" val="20000"/>
                    </a:ext>
                  </a:extLst>
                </a:gridCol>
                <a:gridCol w="739303">
                  <a:extLst>
                    <a:ext uri="{9D8B030D-6E8A-4147-A177-3AD203B41FA5}">
                      <a16:colId xmlns:a16="http://schemas.microsoft.com/office/drawing/2014/main" val="20001"/>
                    </a:ext>
                  </a:extLst>
                </a:gridCol>
                <a:gridCol w="1712068">
                  <a:extLst>
                    <a:ext uri="{9D8B030D-6E8A-4147-A177-3AD203B41FA5}">
                      <a16:colId xmlns:a16="http://schemas.microsoft.com/office/drawing/2014/main" val="20002"/>
                    </a:ext>
                  </a:extLst>
                </a:gridCol>
                <a:gridCol w="2033080">
                  <a:extLst>
                    <a:ext uri="{9D8B030D-6E8A-4147-A177-3AD203B41FA5}">
                      <a16:colId xmlns:a16="http://schemas.microsoft.com/office/drawing/2014/main" val="3624839458"/>
                    </a:ext>
                  </a:extLst>
                </a:gridCol>
                <a:gridCol w="1404027">
                  <a:extLst>
                    <a:ext uri="{9D8B030D-6E8A-4147-A177-3AD203B41FA5}">
                      <a16:colId xmlns:a16="http://schemas.microsoft.com/office/drawing/2014/main" val="2847559459"/>
                    </a:ext>
                  </a:extLst>
                </a:gridCol>
              </a:tblGrid>
              <a:tr h="20602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SAP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JIRA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PM/BP</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Business Owner</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Involved Divisions</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435997">
                <a:tc>
                  <a:txBody>
                    <a:bodyPr/>
                    <a:lstStyle/>
                    <a:p>
                      <a:pPr algn="ctr"/>
                      <a:r>
                        <a:rPr lang="en-US" sz="1100" b="1" kern="1200">
                          <a:solidFill>
                            <a:schemeClr val="dk1"/>
                          </a:solidFill>
                          <a:latin typeface="+mn-lt"/>
                          <a:ea typeface="+mn-ea"/>
                          <a:cs typeface="+mn-cs"/>
                        </a:rPr>
                        <a:t>R/00036</a:t>
                      </a:r>
                    </a:p>
                  </a:txBody>
                  <a:tcPr marL="68580" marR="68580" marT="0" marB="0"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100" b="1" kern="1200">
                          <a:solidFill>
                            <a:schemeClr val="dk1"/>
                          </a:solidFill>
                          <a:latin typeface="+mn-lt"/>
                          <a:ea typeface="+mn-ea"/>
                          <a:cs typeface="+mn-cs"/>
                        </a:rPr>
                        <a:t>PMO-199</a:t>
                      </a:r>
                    </a:p>
                  </a:txBody>
                  <a:tcPr marL="9525" marR="9525" marT="9525" marB="0" anchor="ctr">
                    <a:lnL w="12700" cap="flat" cmpd="sng" algn="ctr">
                      <a:solidFill>
                        <a:schemeClr val="bg1"/>
                      </a:solidFill>
                      <a:prstDash val="solid"/>
                      <a:round/>
                      <a:headEnd type="none" w="med" len="med"/>
                      <a:tailEnd type="none" w="med" len="med"/>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rtl="0" eaLnBrk="1" latinLnBrk="0" hangingPunct="1"/>
                      <a:r>
                        <a:rPr lang="en-US" sz="1100" b="1" kern="1200">
                          <a:solidFill>
                            <a:schemeClr val="dk1"/>
                          </a:solidFill>
                          <a:latin typeface="+mn-lt"/>
                          <a:ea typeface="+mn-ea"/>
                          <a:cs typeface="+mn-cs"/>
                        </a:rPr>
                        <a:t>Papoutsi Stella</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Legal</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DDDE, IT, Legal, Commercial, EES</a:t>
                      </a:r>
                    </a:p>
                  </a:txBody>
                  <a:tcPr marL="84406" marR="84406" anchor="ctr">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D9D92DD6-3628-C68D-04DC-94D51A48DF86}"/>
              </a:ext>
            </a:extLst>
          </p:cNvPr>
          <p:cNvGraphicFramePr>
            <a:graphicFrameLocks/>
          </p:cNvGraphicFramePr>
          <p:nvPr/>
        </p:nvGraphicFramePr>
        <p:xfrm>
          <a:off x="5313134" y="740228"/>
          <a:ext cx="6604003" cy="566675"/>
        </p:xfrm>
        <a:graphic>
          <a:graphicData uri="http://schemas.openxmlformats.org/drawingml/2006/table">
            <a:tbl>
              <a:tblPr firstRow="1" bandRow="1"/>
              <a:tblGrid>
                <a:gridCol w="1651001">
                  <a:extLst>
                    <a:ext uri="{9D8B030D-6E8A-4147-A177-3AD203B41FA5}">
                      <a16:colId xmlns:a16="http://schemas.microsoft.com/office/drawing/2014/main" val="20000"/>
                    </a:ext>
                  </a:extLst>
                </a:gridCol>
                <a:gridCol w="1686788">
                  <a:extLst>
                    <a:ext uri="{9D8B030D-6E8A-4147-A177-3AD203B41FA5}">
                      <a16:colId xmlns:a16="http://schemas.microsoft.com/office/drawing/2014/main" val="20001"/>
                    </a:ext>
                  </a:extLst>
                </a:gridCol>
                <a:gridCol w="1615213">
                  <a:extLst>
                    <a:ext uri="{9D8B030D-6E8A-4147-A177-3AD203B41FA5}">
                      <a16:colId xmlns:a16="http://schemas.microsoft.com/office/drawing/2014/main" val="20002"/>
                    </a:ext>
                  </a:extLst>
                </a:gridCol>
                <a:gridCol w="1651001">
                  <a:extLst>
                    <a:ext uri="{9D8B030D-6E8A-4147-A177-3AD203B41FA5}">
                      <a16:colId xmlns:a16="http://schemas.microsoft.com/office/drawing/2014/main" val="20003"/>
                    </a:ext>
                  </a:extLst>
                </a:gridCol>
              </a:tblGrid>
              <a:tr h="227035">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Overall</a:t>
                      </a:r>
                    </a:p>
                  </a:txBody>
                  <a:tcPr marL="84406" marR="84406">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Schedule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Cost</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Scope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07595">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solidFill>
                          <a:schemeClr val="bg2"/>
                        </a:solidFill>
                      </a:endParaRPr>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27047014"/>
                  </a:ext>
                </a:extLst>
              </a:tr>
            </a:tbl>
          </a:graphicData>
        </a:graphic>
      </p:graphicFrame>
      <p:graphicFrame>
        <p:nvGraphicFramePr>
          <p:cNvPr id="7" name="Content Placeholder 4">
            <a:extLst>
              <a:ext uri="{FF2B5EF4-FFF2-40B4-BE49-F238E27FC236}">
                <a16:creationId xmlns:a16="http://schemas.microsoft.com/office/drawing/2014/main" id="{A324FF0F-342F-7802-CD5A-26A5A721C112}"/>
              </a:ext>
            </a:extLst>
          </p:cNvPr>
          <p:cNvGraphicFramePr>
            <a:graphicFrameLocks/>
          </p:cNvGraphicFramePr>
          <p:nvPr>
            <p:extLst>
              <p:ext uri="{D42A27DB-BD31-4B8C-83A1-F6EECF244321}">
                <p14:modId xmlns:p14="http://schemas.microsoft.com/office/powerpoint/2010/main" val="998792061"/>
              </p:ext>
            </p:extLst>
          </p:nvPr>
        </p:nvGraphicFramePr>
        <p:xfrm>
          <a:off x="5304063" y="1293585"/>
          <a:ext cx="6613074" cy="774259"/>
        </p:xfrm>
        <a:graphic>
          <a:graphicData uri="http://schemas.openxmlformats.org/drawingml/2006/table">
            <a:tbl>
              <a:tblPr firstRow="1" bandRow="1"/>
              <a:tblGrid>
                <a:gridCol w="1322615">
                  <a:extLst>
                    <a:ext uri="{9D8B030D-6E8A-4147-A177-3AD203B41FA5}">
                      <a16:colId xmlns:a16="http://schemas.microsoft.com/office/drawing/2014/main" val="20000"/>
                    </a:ext>
                  </a:extLst>
                </a:gridCol>
                <a:gridCol w="1165775">
                  <a:extLst>
                    <a:ext uri="{9D8B030D-6E8A-4147-A177-3AD203B41FA5}">
                      <a16:colId xmlns:a16="http://schemas.microsoft.com/office/drawing/2014/main" val="20001"/>
                    </a:ext>
                  </a:extLst>
                </a:gridCol>
                <a:gridCol w="1479454">
                  <a:extLst>
                    <a:ext uri="{9D8B030D-6E8A-4147-A177-3AD203B41FA5}">
                      <a16:colId xmlns:a16="http://schemas.microsoft.com/office/drawing/2014/main" val="20002"/>
                    </a:ext>
                  </a:extLst>
                </a:gridCol>
                <a:gridCol w="1322615">
                  <a:extLst>
                    <a:ext uri="{9D8B030D-6E8A-4147-A177-3AD203B41FA5}">
                      <a16:colId xmlns:a16="http://schemas.microsoft.com/office/drawing/2014/main" val="20003"/>
                    </a:ext>
                  </a:extLst>
                </a:gridCol>
                <a:gridCol w="1322615">
                  <a:extLst>
                    <a:ext uri="{9D8B030D-6E8A-4147-A177-3AD203B41FA5}">
                      <a16:colId xmlns:a16="http://schemas.microsoft.com/office/drawing/2014/main" val="1179070743"/>
                    </a:ext>
                  </a:extLst>
                </a:gridCol>
              </a:tblGrid>
              <a:tr h="347539">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baseline="0">
                          <a:latin typeface="Calibri"/>
                        </a:rPr>
                        <a:t>Project  Status</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Work Completed</a:t>
                      </a:r>
                      <a:r>
                        <a:rPr lang="en-US" sz="1100" baseline="0">
                          <a:latin typeface="Calibri"/>
                        </a:rPr>
                        <a:t> (%)</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Baseline</a:t>
                      </a:r>
                      <a:r>
                        <a:rPr lang="en-US" sz="1100" baseline="0">
                          <a:latin typeface="Calibri"/>
                        </a:rPr>
                        <a:t> Budget</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 Start Date</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Planned/Estimated Completion Date</a:t>
                      </a:r>
                    </a:p>
                  </a:txBody>
                  <a:tcPr marL="84406" marR="84406">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47539">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b="0" kern="1200">
                          <a:solidFill>
                            <a:schemeClr val="dk1"/>
                          </a:solidFill>
                          <a:latin typeface="+mn-lt"/>
                          <a:ea typeface="+mn-ea"/>
                          <a:cs typeface="+mn-cs"/>
                        </a:rPr>
                        <a:t>Planning</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b="0" kern="1200">
                          <a:solidFill>
                            <a:schemeClr val="dk1"/>
                          </a:solidFill>
                          <a:latin typeface="+mn-lt"/>
                          <a:ea typeface="+mn-ea"/>
                          <a:cs typeface="+mn-cs"/>
                        </a:rPr>
                        <a:t>5</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457198" rtl="0" eaLnBrk="1" latinLnBrk="0" hangingPunct="1"/>
                      <a:r>
                        <a:rPr lang="en-US" sz="1100" b="0" kern="1200">
                          <a:solidFill>
                            <a:schemeClr val="dk1"/>
                          </a:solidFill>
                          <a:latin typeface="+mn-lt"/>
                          <a:ea typeface="+mn-ea"/>
                          <a:cs typeface="+mn-cs"/>
                        </a:rPr>
                        <a:t>23K</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b="0" kern="1200">
                          <a:solidFill>
                            <a:schemeClr val="dk1"/>
                          </a:solidFill>
                          <a:latin typeface="+mn-lt"/>
                          <a:ea typeface="+mn-ea"/>
                          <a:cs typeface="+mn-cs"/>
                        </a:rPr>
                        <a:t>TBD</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100" b="0" kern="1200">
                          <a:solidFill>
                            <a:schemeClr val="dk1"/>
                          </a:solidFill>
                          <a:latin typeface="+mn-lt"/>
                          <a:ea typeface="+mn-ea"/>
                          <a:cs typeface="+mn-cs"/>
                        </a:rPr>
                        <a:t>TBD</a:t>
                      </a:r>
                    </a:p>
                  </a:txBody>
                  <a:tcPr marL="84406" marR="84406">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12" name="Table 11">
            <a:extLst>
              <a:ext uri="{FF2B5EF4-FFF2-40B4-BE49-F238E27FC236}">
                <a16:creationId xmlns:a16="http://schemas.microsoft.com/office/drawing/2014/main" id="{B841F9B9-FFF9-2EA3-4530-29B6A1B3E18E}"/>
              </a:ext>
            </a:extLst>
          </p:cNvPr>
          <p:cNvGraphicFramePr>
            <a:graphicFrameLocks noGrp="1"/>
          </p:cNvGraphicFramePr>
          <p:nvPr>
            <p:extLst>
              <p:ext uri="{D42A27DB-BD31-4B8C-83A1-F6EECF244321}">
                <p14:modId xmlns:p14="http://schemas.microsoft.com/office/powerpoint/2010/main" val="171087221"/>
              </p:ext>
            </p:extLst>
          </p:nvPr>
        </p:nvGraphicFramePr>
        <p:xfrm>
          <a:off x="254210" y="2053165"/>
          <a:ext cx="11683580" cy="2182454"/>
        </p:xfrm>
        <a:graphic>
          <a:graphicData uri="http://schemas.openxmlformats.org/drawingml/2006/table">
            <a:tbl>
              <a:tblPr firstRow="1" bandRow="1"/>
              <a:tblGrid>
                <a:gridCol w="3493300">
                  <a:extLst>
                    <a:ext uri="{9D8B030D-6E8A-4147-A177-3AD203B41FA5}">
                      <a16:colId xmlns:a16="http://schemas.microsoft.com/office/drawing/2014/main" val="20000"/>
                    </a:ext>
                  </a:extLst>
                </a:gridCol>
                <a:gridCol w="885137">
                  <a:extLst>
                    <a:ext uri="{9D8B030D-6E8A-4147-A177-3AD203B41FA5}">
                      <a16:colId xmlns:a16="http://schemas.microsoft.com/office/drawing/2014/main" val="20001"/>
                    </a:ext>
                  </a:extLst>
                </a:gridCol>
                <a:gridCol w="2040473">
                  <a:extLst>
                    <a:ext uri="{9D8B030D-6E8A-4147-A177-3AD203B41FA5}">
                      <a16:colId xmlns:a16="http://schemas.microsoft.com/office/drawing/2014/main" val="20002"/>
                    </a:ext>
                  </a:extLst>
                </a:gridCol>
                <a:gridCol w="5264670">
                  <a:extLst>
                    <a:ext uri="{9D8B030D-6E8A-4147-A177-3AD203B41FA5}">
                      <a16:colId xmlns:a16="http://schemas.microsoft.com/office/drawing/2014/main" val="20005"/>
                    </a:ext>
                  </a:extLst>
                </a:gridCol>
              </a:tblGrid>
              <a:tr h="35913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400" b="1">
                          <a:effectLst/>
                        </a:rPr>
                        <a:t>Phases/Milestones/Deliverables</a:t>
                      </a:r>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R/A/G</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Estimated Delivery Date</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Remarks on progress</a:t>
                      </a:r>
                      <a:endParaRPr lang="en-US" sz="1400"/>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303886">
                <a:tc>
                  <a:txBody>
                    <a:bodyPr/>
                    <a:lstStyle/>
                    <a:p>
                      <a:pPr lvl="0" algn="l">
                        <a:lnSpc>
                          <a:spcPct val="100000"/>
                        </a:lnSpc>
                        <a:spcBef>
                          <a:spcPts val="0"/>
                        </a:spcBef>
                        <a:spcAft>
                          <a:spcPts val="0"/>
                        </a:spcAft>
                        <a:buNone/>
                      </a:pPr>
                      <a:r>
                        <a:rPr lang="en-US" sz="1150" kern="1200" noProof="0">
                          <a:solidFill>
                            <a:schemeClr val="tx1"/>
                          </a:solidFill>
                          <a:latin typeface="+mn-lt"/>
                          <a:ea typeface="+mn-ea"/>
                          <a:cs typeface="+mn-cs"/>
                        </a:rPr>
                        <a:t>Project Kick-Off &amp; Scope Alignment</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1150" kern="1200">
                          <a:solidFill>
                            <a:schemeClr val="tx1"/>
                          </a:solidFill>
                          <a:latin typeface="+mn-lt"/>
                          <a:ea typeface="+mn-ea"/>
                          <a:cs typeface="+mn-cs"/>
                        </a:rPr>
                        <a:t>TBD (After vendor evaluation)</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lvl="0" algn="l">
                        <a:buNone/>
                      </a:pPr>
                      <a:r>
                        <a:rPr lang="en-US" sz="1150" b="0" i="0" u="none" strike="noStrike" kern="1200">
                          <a:solidFill>
                            <a:srgbClr val="2E5684"/>
                          </a:solidFill>
                          <a:latin typeface="Calibri"/>
                          <a:ea typeface="+mn-ea"/>
                          <a:cs typeface="+mn-cs"/>
                        </a:rPr>
                        <a:t>Pending</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763387381"/>
                  </a:ext>
                </a:extLst>
              </a:tr>
              <a:tr h="303886">
                <a:tc>
                  <a:txBody>
                    <a:bodyPr/>
                    <a:lstStyle/>
                    <a:p>
                      <a:pPr lvl="0" algn="l">
                        <a:lnSpc>
                          <a:spcPct val="100000"/>
                        </a:lnSpc>
                        <a:spcBef>
                          <a:spcPts val="0"/>
                        </a:spcBef>
                        <a:spcAft>
                          <a:spcPts val="0"/>
                        </a:spcAft>
                        <a:buNone/>
                      </a:pPr>
                      <a:r>
                        <a:rPr lang="en-US" sz="1150" kern="1200" noProof="0">
                          <a:solidFill>
                            <a:schemeClr val="tx1"/>
                          </a:solidFill>
                          <a:latin typeface="+mn-lt"/>
                          <a:ea typeface="+mn-ea"/>
                          <a:cs typeface="+mn-cs"/>
                        </a:rPr>
                        <a:t>Requirements Gathering &amp; Process Mapping</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1150" kern="1200">
                          <a:solidFill>
                            <a:schemeClr val="tx1"/>
                          </a:solidFill>
                          <a:latin typeface="+mn-lt"/>
                          <a:ea typeface="+mn-ea"/>
                          <a:cs typeface="+mn-cs"/>
                        </a:rPr>
                        <a:t>TBD (After vendor evaluation)</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lvl="0" algn="l">
                        <a:buNone/>
                      </a:pPr>
                      <a:r>
                        <a:rPr lang="en-US" sz="1150" b="0" i="0" u="none" strike="noStrike" kern="1200">
                          <a:solidFill>
                            <a:srgbClr val="2E5684"/>
                          </a:solidFill>
                          <a:latin typeface="Calibri"/>
                          <a:ea typeface="+mn-ea"/>
                          <a:cs typeface="+mn-cs"/>
                        </a:rPr>
                        <a:t>Pending</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332520244"/>
                  </a:ext>
                </a:extLst>
              </a:tr>
              <a:tr h="30388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lnSpc>
                          <a:spcPct val="100000"/>
                        </a:lnSpc>
                        <a:spcBef>
                          <a:spcPts val="0"/>
                        </a:spcBef>
                        <a:spcAft>
                          <a:spcPts val="0"/>
                        </a:spcAft>
                        <a:buNone/>
                      </a:pPr>
                      <a:r>
                        <a:rPr lang="en-US" sz="1150" kern="1200" noProof="0">
                          <a:solidFill>
                            <a:schemeClr val="tx1"/>
                          </a:solidFill>
                          <a:latin typeface="+mn-lt"/>
                          <a:ea typeface="+mn-ea"/>
                          <a:cs typeface="+mn-cs"/>
                        </a:rPr>
                        <a:t>Phase A: Customer Care Requests Management</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150" kern="1200">
                          <a:solidFill>
                            <a:schemeClr val="tx1"/>
                          </a:solidFill>
                          <a:latin typeface="Calibri"/>
                          <a:ea typeface="+mn-ea"/>
                          <a:cs typeface="+mn-cs"/>
                        </a:rPr>
                        <a:t>TBD (After vendor evaluation)</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buNone/>
                      </a:pPr>
                      <a:r>
                        <a:rPr lang="en-US" sz="1150" b="0" i="0" u="none" strike="noStrike" kern="1200">
                          <a:solidFill>
                            <a:srgbClr val="2E5684"/>
                          </a:solidFill>
                          <a:latin typeface="Calibri"/>
                          <a:ea typeface="+mn-ea"/>
                          <a:cs typeface="+mn-cs"/>
                        </a:rPr>
                        <a:t>Pending</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2038214"/>
                  </a:ext>
                </a:extLst>
              </a:tr>
              <a:tr h="303886">
                <a:tc>
                  <a:txBody>
                    <a:bodyPr/>
                    <a:lstStyle/>
                    <a:p>
                      <a:pPr lvl="0" algn="l">
                        <a:lnSpc>
                          <a:spcPct val="100000"/>
                        </a:lnSpc>
                        <a:spcBef>
                          <a:spcPts val="0"/>
                        </a:spcBef>
                        <a:spcAft>
                          <a:spcPts val="0"/>
                        </a:spcAft>
                        <a:buNone/>
                      </a:pPr>
                      <a:r>
                        <a:rPr lang="en-US" sz="1150" kern="1200" noProof="0">
                          <a:solidFill>
                            <a:schemeClr val="tx1"/>
                          </a:solidFill>
                          <a:latin typeface="+mn-lt"/>
                          <a:ea typeface="+mn-ea"/>
                          <a:cs typeface="+mn-cs"/>
                        </a:rPr>
                        <a:t>Phase B: EES Department Contracts</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15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1150" kern="1200">
                          <a:solidFill>
                            <a:schemeClr val="tx1"/>
                          </a:solidFill>
                          <a:latin typeface="+mn-lt"/>
                          <a:ea typeface="+mn-ea"/>
                          <a:cs typeface="+mn-cs"/>
                        </a:rPr>
                        <a:t>TBD (After vendor evaluation)</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lvl="0" algn="l">
                        <a:lnSpc>
                          <a:spcPct val="100000"/>
                        </a:lnSpc>
                        <a:spcBef>
                          <a:spcPts val="0"/>
                        </a:spcBef>
                        <a:spcAft>
                          <a:spcPts val="0"/>
                        </a:spcAft>
                        <a:buNone/>
                      </a:pPr>
                      <a:r>
                        <a:rPr lang="en-US" sz="1150" b="0" i="0" u="none" strike="noStrike" noProof="0">
                          <a:solidFill>
                            <a:srgbClr val="2E5684"/>
                          </a:solidFill>
                          <a:latin typeface="Calibri"/>
                        </a:rPr>
                        <a:t>Pending</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499105613"/>
                  </a:ext>
                </a:extLst>
              </a:tr>
              <a:tr h="303886">
                <a:tc>
                  <a:txBody>
                    <a:bodyPr/>
                    <a:lstStyle/>
                    <a:p>
                      <a:pPr lvl="0" algn="l">
                        <a:lnSpc>
                          <a:spcPct val="100000"/>
                        </a:lnSpc>
                        <a:spcBef>
                          <a:spcPts val="0"/>
                        </a:spcBef>
                        <a:spcAft>
                          <a:spcPts val="0"/>
                        </a:spcAft>
                        <a:buNone/>
                      </a:pPr>
                      <a:r>
                        <a:rPr lang="en-US" sz="1100"/>
                        <a:t>Testing &amp; Quality Assurance (UAT)</a:t>
                      </a:r>
                      <a:endParaRPr lang="en-US" sz="1100" b="0" i="0" u="none" strike="noStrike" kern="1200" noProof="0">
                        <a:solidFill>
                          <a:srgbClr val="2E5684"/>
                        </a:solidFill>
                        <a:latin typeface="Calibri"/>
                      </a:endParaRP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15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1150" kern="1200">
                          <a:solidFill>
                            <a:schemeClr val="tx1"/>
                          </a:solidFill>
                          <a:latin typeface="+mn-lt"/>
                          <a:ea typeface="+mn-ea"/>
                          <a:cs typeface="+mn-cs"/>
                        </a:rPr>
                        <a:t>TBD (After vendor evaluation)</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lvl="0" algn="l">
                        <a:lnSpc>
                          <a:spcPct val="100000"/>
                        </a:lnSpc>
                        <a:spcBef>
                          <a:spcPts val="0"/>
                        </a:spcBef>
                        <a:spcAft>
                          <a:spcPts val="0"/>
                        </a:spcAft>
                        <a:buNone/>
                      </a:pPr>
                      <a:r>
                        <a:rPr lang="en-US" sz="1150" b="0" i="0" u="none" strike="noStrike" kern="1200" noProof="0">
                          <a:solidFill>
                            <a:srgbClr val="2E5684"/>
                          </a:solidFill>
                          <a:latin typeface="Calibri"/>
                          <a:ea typeface="+mn-ea"/>
                          <a:cs typeface="+mn-cs"/>
                        </a:rPr>
                        <a:t>Pending</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150730296"/>
                  </a:ext>
                </a:extLst>
              </a:tr>
              <a:tr h="30388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lnSpc>
                          <a:spcPct val="100000"/>
                        </a:lnSpc>
                        <a:spcBef>
                          <a:spcPts val="0"/>
                        </a:spcBef>
                        <a:spcAft>
                          <a:spcPts val="0"/>
                        </a:spcAft>
                        <a:buNone/>
                      </a:pPr>
                      <a:r>
                        <a:rPr lang="en-US" sz="1100" b="0" i="0" u="none" strike="noStrike" kern="1200" noProof="0">
                          <a:solidFill>
                            <a:srgbClr val="2E5684"/>
                          </a:solidFill>
                          <a:latin typeface="Calibri"/>
                        </a:rPr>
                        <a:t>Final Review &amp; Go-Live</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15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150" kern="1200">
                          <a:solidFill>
                            <a:schemeClr val="tx1"/>
                          </a:solidFill>
                          <a:latin typeface="Calibri"/>
                          <a:ea typeface="+mn-ea"/>
                          <a:cs typeface="+mn-cs"/>
                        </a:rPr>
                        <a:t>TBD (After vendor evaluation)</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lnSpc>
                          <a:spcPct val="100000"/>
                        </a:lnSpc>
                        <a:spcBef>
                          <a:spcPts val="0"/>
                        </a:spcBef>
                        <a:spcAft>
                          <a:spcPts val="0"/>
                        </a:spcAft>
                        <a:buNone/>
                      </a:pPr>
                      <a:r>
                        <a:rPr lang="en-US" sz="1150" b="0" i="0" u="none" strike="noStrike" kern="1200" noProof="0">
                          <a:solidFill>
                            <a:srgbClr val="2E5684"/>
                          </a:solidFill>
                          <a:latin typeface="Calibri"/>
                          <a:ea typeface="+mn-ea"/>
                          <a:cs typeface="+mn-cs"/>
                        </a:rPr>
                        <a:t>Pending</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174709326"/>
                  </a:ext>
                </a:extLst>
              </a:tr>
            </a:tbl>
          </a:graphicData>
        </a:graphic>
      </p:graphicFrame>
      <p:graphicFrame>
        <p:nvGraphicFramePr>
          <p:cNvPr id="13" name="Table 12">
            <a:extLst>
              <a:ext uri="{FF2B5EF4-FFF2-40B4-BE49-F238E27FC236}">
                <a16:creationId xmlns:a16="http://schemas.microsoft.com/office/drawing/2014/main" id="{154E6721-2011-D58F-2F7B-1F7DAF5AD933}"/>
              </a:ext>
            </a:extLst>
          </p:cNvPr>
          <p:cNvGraphicFramePr>
            <a:graphicFrameLocks noGrp="1"/>
          </p:cNvGraphicFramePr>
          <p:nvPr>
            <p:extLst>
              <p:ext uri="{D42A27DB-BD31-4B8C-83A1-F6EECF244321}">
                <p14:modId xmlns:p14="http://schemas.microsoft.com/office/powerpoint/2010/main" val="2610894021"/>
              </p:ext>
            </p:extLst>
          </p:nvPr>
        </p:nvGraphicFramePr>
        <p:xfrm>
          <a:off x="251442" y="32930"/>
          <a:ext cx="4958664" cy="406005"/>
        </p:xfrm>
        <a:graphic>
          <a:graphicData uri="http://schemas.openxmlformats.org/drawingml/2006/table">
            <a:tbl>
              <a:tblPr firstRow="1" bandRow="1"/>
              <a:tblGrid>
                <a:gridCol w="1254142">
                  <a:extLst>
                    <a:ext uri="{9D8B030D-6E8A-4147-A177-3AD203B41FA5}">
                      <a16:colId xmlns:a16="http://schemas.microsoft.com/office/drawing/2014/main" val="110687116"/>
                    </a:ext>
                  </a:extLst>
                </a:gridCol>
                <a:gridCol w="3704522">
                  <a:extLst>
                    <a:ext uri="{9D8B030D-6E8A-4147-A177-3AD203B41FA5}">
                      <a16:colId xmlns:a16="http://schemas.microsoft.com/office/drawing/2014/main" val="3314271387"/>
                    </a:ext>
                  </a:extLst>
                </a:gridCol>
              </a:tblGrid>
              <a:tr h="40600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Name</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lvl="0" algn="ctr">
                        <a:buNone/>
                      </a:pPr>
                      <a:r>
                        <a:rPr lang="en-GB" sz="1400" b="1" i="0" kern="1200">
                          <a:solidFill>
                            <a:schemeClr val="dk1"/>
                          </a:solidFill>
                          <a:effectLst/>
                          <a:latin typeface="+mn-lt"/>
                          <a:ea typeface="+mn-ea"/>
                          <a:cs typeface="+mn-cs"/>
                        </a:rPr>
                        <a:t>Legal Portal</a:t>
                      </a:r>
                      <a:endParaRPr lang="en-US" sz="1400" b="1" i="0" kern="1200">
                        <a:solidFill>
                          <a:schemeClr val="dk1"/>
                        </a:solidFill>
                        <a:effectLst/>
                        <a:latin typeface="+mn-lt"/>
                        <a:ea typeface="+mn-ea"/>
                        <a:cs typeface="+mn-cs"/>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graphicFrame>
        <p:nvGraphicFramePr>
          <p:cNvPr id="14" name="Table 13">
            <a:extLst>
              <a:ext uri="{FF2B5EF4-FFF2-40B4-BE49-F238E27FC236}">
                <a16:creationId xmlns:a16="http://schemas.microsoft.com/office/drawing/2014/main" id="{7D8AF106-B23A-2303-F005-D0794B6A1123}"/>
              </a:ext>
            </a:extLst>
          </p:cNvPr>
          <p:cNvGraphicFramePr>
            <a:graphicFrameLocks noGrp="1"/>
          </p:cNvGraphicFramePr>
          <p:nvPr>
            <p:extLst>
              <p:ext uri="{D42A27DB-BD31-4B8C-83A1-F6EECF244321}">
                <p14:modId xmlns:p14="http://schemas.microsoft.com/office/powerpoint/2010/main" val="4108157914"/>
              </p:ext>
            </p:extLst>
          </p:nvPr>
        </p:nvGraphicFramePr>
        <p:xfrm>
          <a:off x="251440" y="4229297"/>
          <a:ext cx="11665696" cy="1706755"/>
        </p:xfrm>
        <a:graphic>
          <a:graphicData uri="http://schemas.openxmlformats.org/drawingml/2006/table">
            <a:tbl>
              <a:tblPr>
                <a:tableStyleId>{5C22544A-7EE6-4342-B048-85BDC9FD1C3A}</a:tableStyleId>
              </a:tblPr>
              <a:tblGrid>
                <a:gridCol w="5832489">
                  <a:extLst>
                    <a:ext uri="{9D8B030D-6E8A-4147-A177-3AD203B41FA5}">
                      <a16:colId xmlns:a16="http://schemas.microsoft.com/office/drawing/2014/main" val="3768886055"/>
                    </a:ext>
                  </a:extLst>
                </a:gridCol>
                <a:gridCol w="5833207">
                  <a:extLst>
                    <a:ext uri="{9D8B030D-6E8A-4147-A177-3AD203B41FA5}">
                      <a16:colId xmlns:a16="http://schemas.microsoft.com/office/drawing/2014/main" val="2712732260"/>
                    </a:ext>
                  </a:extLst>
                </a:gridCol>
              </a:tblGrid>
              <a:tr h="184207">
                <a:tc>
                  <a:txBody>
                    <a:bodyPr/>
                    <a:lstStyle/>
                    <a:p>
                      <a:pPr algn="ctr" fontAlgn="ctr"/>
                      <a:r>
                        <a:rPr lang="en-US" sz="1400" b="1" u="none" strike="noStrike">
                          <a:effectLst/>
                        </a:rPr>
                        <a:t>Activities Performed &amp; Milestones Achieved</a:t>
                      </a:r>
                      <a:endParaRPr lang="en-US" sz="14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tc>
                  <a:txBody>
                    <a:bodyPr/>
                    <a:lstStyle/>
                    <a:p>
                      <a:pPr algn="ctr" fontAlgn="ctr"/>
                      <a:r>
                        <a:rPr lang="en-US" sz="1400" b="1" u="none" strike="noStrike">
                          <a:effectLst/>
                        </a:rPr>
                        <a:t>Major Action Items - Upcoming Activities - Comments</a:t>
                      </a:r>
                      <a:endParaRPr lang="en-US" sz="14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extLst>
                  <a:ext uri="{0D108BD9-81ED-4DB2-BD59-A6C34878D82A}">
                    <a16:rowId xmlns:a16="http://schemas.microsoft.com/office/drawing/2014/main" val="2763828571"/>
                  </a:ext>
                </a:extLst>
              </a:tr>
              <a:tr h="1493395">
                <a:tc>
                  <a:txBody>
                    <a:bodyPr/>
                    <a:lstStyle/>
                    <a:p>
                      <a:pPr marL="171450" indent="-171450">
                        <a:buFont typeface="Wingdings" panose="05000000000000000000" pitchFamily="2" charset="2"/>
                        <a:buChar char="§"/>
                      </a:pPr>
                      <a:r>
                        <a:rPr lang="en-US" sz="1100"/>
                        <a:t>Project received </a:t>
                      </a:r>
                      <a:r>
                        <a:rPr lang="en-US" sz="1100" b="1"/>
                        <a:t>investment approval on March 17th</a:t>
                      </a:r>
                      <a:r>
                        <a:rPr lang="en-US" sz="1100"/>
                        <a:t>.</a:t>
                      </a:r>
                    </a:p>
                    <a:p>
                      <a:pPr marL="171450" indent="-171450">
                        <a:buFont typeface="Wingdings" panose="05000000000000000000" pitchFamily="2" charset="2"/>
                        <a:buChar char="§"/>
                      </a:pPr>
                      <a:r>
                        <a:rPr lang="en-US" sz="1100"/>
                        <a:t>Conducted a </a:t>
                      </a:r>
                      <a:r>
                        <a:rPr lang="en-US" sz="1100" b="1"/>
                        <a:t>meeting with the vendor </a:t>
                      </a:r>
                      <a:r>
                        <a:rPr lang="en-US" sz="1100" b="0"/>
                        <a:t>to </a:t>
                      </a:r>
                      <a:r>
                        <a:rPr lang="en-US" sz="1100"/>
                        <a:t>provide them with specifications related to the PSD.</a:t>
                      </a:r>
                    </a:p>
                    <a:p>
                      <a:pPr marL="171450" indent="-171450">
                        <a:buFont typeface="Wingdings" panose="05000000000000000000" pitchFamily="2" charset="2"/>
                        <a:buChar char="§"/>
                      </a:pPr>
                      <a:r>
                        <a:rPr lang="en-US" sz="1100"/>
                        <a:t>Agreement reached to proceed with the </a:t>
                      </a:r>
                      <a:r>
                        <a:rPr lang="en-US" sz="1100" b="1"/>
                        <a:t>current workflow for internal clients only</a:t>
                      </a:r>
                      <a:r>
                        <a:rPr lang="en-US" sz="1100"/>
                        <a:t>.</a:t>
                      </a:r>
                    </a:p>
                    <a:p>
                      <a:pPr marL="171450" indent="-171450">
                        <a:buFont typeface="Wingdings" panose="05000000000000000000" pitchFamily="2" charset="2"/>
                        <a:buChar char="§"/>
                      </a:pPr>
                      <a:r>
                        <a:rPr lang="en-US" sz="1100" b="1"/>
                        <a:t>Business Requirements Document submitted on May 7th</a:t>
                      </a:r>
                      <a:r>
                        <a:rPr lang="en-US" sz="1100"/>
                        <a:t>.</a:t>
                      </a:r>
                    </a:p>
                    <a:p>
                      <a:pPr marL="0" marR="0" lvl="0" indent="0" algn="l">
                        <a:lnSpc>
                          <a:spcPct val="100000"/>
                        </a:lnSpc>
                        <a:spcBef>
                          <a:spcPts val="0"/>
                        </a:spcBef>
                        <a:spcAft>
                          <a:spcPts val="0"/>
                        </a:spcAft>
                        <a:buClrTx/>
                        <a:buSzTx/>
                        <a:buFont typeface="+mj-lt"/>
                        <a:buNone/>
                      </a:pPr>
                      <a:endParaRPr lang="el-GR" sz="1100" u="none" strike="noStrike">
                        <a:effectLst/>
                      </a:endParaRPr>
                    </a:p>
                  </a:txBody>
                  <a:tcPr marL="0" marR="0" marT="0" marB="0">
                    <a:lnL w="12700" cmpd="sng">
                      <a:solidFill>
                        <a:sysClr val="window" lastClr="FFFFFF"/>
                      </a:solidFill>
                    </a:lnL>
                    <a:lnR w="12700" cap="flat" cmpd="sng" algn="ctr">
                      <a:solidFill>
                        <a:sysClr val="window" lastClr="FFFFFF"/>
                      </a:solidFill>
                      <a:prstDash val="solid"/>
                      <a:round/>
                      <a:headEnd type="none" w="med" len="med"/>
                      <a:tailEnd type="none" w="med" len="med"/>
                    </a:lnR>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71450" marR="0" lvl="0" indent="-171450" algn="l" defTabSz="914400" rtl="0" eaLnBrk="1" latinLnBrk="0" hangingPunct="1">
                        <a:lnSpc>
                          <a:spcPct val="100000"/>
                        </a:lnSpc>
                        <a:spcBef>
                          <a:spcPts val="0"/>
                        </a:spcBef>
                        <a:spcAft>
                          <a:spcPts val="0"/>
                        </a:spcAft>
                        <a:buClrTx/>
                        <a:buSzTx/>
                        <a:buFont typeface="Wingdings" panose="05000000000000000000" pitchFamily="2" charset="2"/>
                        <a:buChar char="§"/>
                      </a:pPr>
                      <a:r>
                        <a:rPr lang="en-US" sz="1100" kern="1200">
                          <a:solidFill>
                            <a:schemeClr val="dk1"/>
                          </a:solidFill>
                          <a:latin typeface="+mn-lt"/>
                          <a:ea typeface="+mn-ea"/>
                          <a:cs typeface="+mn-cs"/>
                        </a:rPr>
                        <a:t>Internal Project Kickoff - Hold a project kickoff meeting with internal stakeholders.</a:t>
                      </a:r>
                    </a:p>
                    <a:p>
                      <a:pPr marL="171450" indent="-171450">
                        <a:buFont typeface="Wingdings" panose="05000000000000000000" pitchFamily="2" charset="2"/>
                        <a:buChar char="§"/>
                      </a:pPr>
                      <a:r>
                        <a:rPr lang="en-US" sz="1100" kern="1200">
                          <a:solidFill>
                            <a:schemeClr val="dk1"/>
                          </a:solidFill>
                          <a:latin typeface="+mn-lt"/>
                          <a:ea typeface="+mn-ea"/>
                          <a:cs typeface="+mn-cs"/>
                        </a:rPr>
                        <a:t>Finalize and approve the project plan by mid-July.</a:t>
                      </a:r>
                    </a:p>
                    <a:p>
                      <a:pPr marL="171450" indent="-171450">
                        <a:buFont typeface="Wingdings" panose="05000000000000000000" pitchFamily="2" charset="2"/>
                        <a:buChar char="§"/>
                      </a:pPr>
                      <a:r>
                        <a:rPr lang="en-US" sz="1100" kern="1200">
                          <a:solidFill>
                            <a:schemeClr val="dk1"/>
                          </a:solidFill>
                          <a:latin typeface="+mn-lt"/>
                          <a:ea typeface="+mn-ea"/>
                          <a:cs typeface="+mn-cs"/>
                        </a:rPr>
                        <a:t>Pending procurement actions in finalizing financial offer from Vendor.</a:t>
                      </a:r>
                    </a:p>
                    <a:p>
                      <a:pPr marL="171450" marR="0" lvl="0" indent="-171450" algn="l" defTabSz="914400" rtl="0" eaLnBrk="1" latinLnBrk="0" hangingPunct="1">
                        <a:lnSpc>
                          <a:spcPct val="100000"/>
                        </a:lnSpc>
                        <a:spcBef>
                          <a:spcPts val="0"/>
                        </a:spcBef>
                        <a:spcAft>
                          <a:spcPts val="0"/>
                        </a:spcAft>
                        <a:buClrTx/>
                        <a:buSzTx/>
                        <a:buFont typeface="Wingdings" panose="05000000000000000000" pitchFamily="2" charset="2"/>
                        <a:buChar char="Ø"/>
                      </a:pPr>
                      <a:endParaRPr lang="en-US" sz="1150" kern="1200">
                        <a:solidFill>
                          <a:schemeClr val="tx1"/>
                        </a:solidFill>
                        <a:latin typeface="+mn-lt"/>
                        <a:ea typeface="+mn-ea"/>
                        <a:cs typeface="+mn-cs"/>
                      </a:endParaRPr>
                    </a:p>
                  </a:txBody>
                  <a:tcPr marL="0" marR="0" marT="180000" marB="0">
                    <a:lnL w="12700" cap="flat" cmpd="sng" algn="ctr">
                      <a:solidFill>
                        <a:sysClr val="window" lastClr="FFFFFF"/>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val="2561788850"/>
                  </a:ext>
                </a:extLst>
              </a:tr>
            </a:tbl>
          </a:graphicData>
        </a:graphic>
      </p:graphicFrame>
      <p:graphicFrame>
        <p:nvGraphicFramePr>
          <p:cNvPr id="15" name="Table 14">
            <a:extLst>
              <a:ext uri="{FF2B5EF4-FFF2-40B4-BE49-F238E27FC236}">
                <a16:creationId xmlns:a16="http://schemas.microsoft.com/office/drawing/2014/main" id="{1FCC7B8D-0591-816B-0AB4-B614EE3BF40B}"/>
              </a:ext>
            </a:extLst>
          </p:cNvPr>
          <p:cNvGraphicFramePr>
            <a:graphicFrameLocks noGrp="1"/>
          </p:cNvGraphicFramePr>
          <p:nvPr>
            <p:extLst>
              <p:ext uri="{D42A27DB-BD31-4B8C-83A1-F6EECF244321}">
                <p14:modId xmlns:p14="http://schemas.microsoft.com/office/powerpoint/2010/main" val="2344560437"/>
              </p:ext>
            </p:extLst>
          </p:nvPr>
        </p:nvGraphicFramePr>
        <p:xfrm>
          <a:off x="226880" y="5456191"/>
          <a:ext cx="11708140" cy="1367380"/>
        </p:xfrm>
        <a:graphic>
          <a:graphicData uri="http://schemas.openxmlformats.org/drawingml/2006/table">
            <a:tbl>
              <a:tblPr>
                <a:tableStyleId>{5C22544A-7EE6-4342-B048-85BDC9FD1C3A}</a:tableStyleId>
              </a:tblPr>
              <a:tblGrid>
                <a:gridCol w="3640609">
                  <a:extLst>
                    <a:ext uri="{9D8B030D-6E8A-4147-A177-3AD203B41FA5}">
                      <a16:colId xmlns:a16="http://schemas.microsoft.com/office/drawing/2014/main" val="2003250863"/>
                    </a:ext>
                  </a:extLst>
                </a:gridCol>
                <a:gridCol w="930848">
                  <a:extLst>
                    <a:ext uri="{9D8B030D-6E8A-4147-A177-3AD203B41FA5}">
                      <a16:colId xmlns:a16="http://schemas.microsoft.com/office/drawing/2014/main" val="2445968811"/>
                    </a:ext>
                  </a:extLst>
                </a:gridCol>
                <a:gridCol w="7136683">
                  <a:extLst>
                    <a:ext uri="{9D8B030D-6E8A-4147-A177-3AD203B41FA5}">
                      <a16:colId xmlns:a16="http://schemas.microsoft.com/office/drawing/2014/main" val="187998877"/>
                    </a:ext>
                  </a:extLst>
                </a:gridCol>
              </a:tblGrid>
              <a:tr h="23409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Risk</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Risk Assessment</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Control</a:t>
                      </a:r>
                    </a:p>
                  </a:txBody>
                  <a:tcPr marL="0" marR="0" marT="0" marB="0" anchor="ctr">
                    <a:solidFill>
                      <a:schemeClr val="accent1"/>
                    </a:solidFill>
                  </a:tcPr>
                </a:tc>
                <a:extLst>
                  <a:ext uri="{0D108BD9-81ED-4DB2-BD59-A6C34878D82A}">
                    <a16:rowId xmlns:a16="http://schemas.microsoft.com/office/drawing/2014/main" val="2763828571"/>
                  </a:ext>
                </a:extLst>
              </a:tr>
              <a:tr h="470330">
                <a:tc>
                  <a:txBody>
                    <a:bodyPr/>
                    <a:lstStyle/>
                    <a:p>
                      <a:pPr marL="0" indent="0">
                        <a:buFont typeface="Arial"/>
                        <a:buNone/>
                      </a:pPr>
                      <a:r>
                        <a:rPr lang="en-US" sz="1100"/>
                        <a:t>Vendor Performance Issues</a:t>
                      </a:r>
                      <a:endParaRPr lang="en-US" sz="1100">
                        <a:effectLst/>
                      </a:endParaRPr>
                    </a:p>
                  </a:txBody>
                  <a:tcPr marL="38100" marR="38100" marT="38100" marB="38100" anchor="ctr">
                    <a:solidFill>
                      <a:schemeClr val="accent4">
                        <a:lumMod val="20000"/>
                        <a:lumOff val="80000"/>
                      </a:schemeClr>
                    </a:solidFill>
                  </a:tcPr>
                </a:tc>
                <a:tc>
                  <a:txBody>
                    <a:bodyPr/>
                    <a:lstStyle/>
                    <a:p>
                      <a:pPr algn="ctr"/>
                      <a:r>
                        <a:rPr lang="en-US" sz="1100" b="0">
                          <a:solidFill>
                            <a:schemeClr val="bg1"/>
                          </a:solidFill>
                          <a:effectLst/>
                        </a:rPr>
                        <a:t>M</a:t>
                      </a:r>
                    </a:p>
                  </a:txBody>
                  <a:tcPr marL="38100" marR="38100" marT="38100" marB="38100" anchor="ctr">
                    <a:solidFill>
                      <a:srgbClr val="EE7F00"/>
                    </a:solidFill>
                  </a:tcPr>
                </a:tc>
                <a:tc>
                  <a:txBody>
                    <a:bodyPr/>
                    <a:lstStyle/>
                    <a:p>
                      <a:r>
                        <a:rPr lang="en-US" sz="1100"/>
                        <a:t>Ensure the vendor provides regular progress updates and maintains a buffer time in the timeline for unexpected delays</a:t>
                      </a:r>
                      <a:endParaRPr lang="en-US" sz="1100">
                        <a:effectLst/>
                      </a:endParaRPr>
                    </a:p>
                  </a:txBody>
                  <a:tcPr marL="38100" marR="38100" marT="38100" marB="38100" anchor="ctr">
                    <a:solidFill>
                      <a:schemeClr val="accent4">
                        <a:lumMod val="20000"/>
                        <a:lumOff val="80000"/>
                      </a:schemeClr>
                    </a:solidFill>
                  </a:tcPr>
                </a:tc>
                <a:extLst>
                  <a:ext uri="{0D108BD9-81ED-4DB2-BD59-A6C34878D82A}">
                    <a16:rowId xmlns:a16="http://schemas.microsoft.com/office/drawing/2014/main" val="2561788850"/>
                  </a:ext>
                </a:extLst>
              </a:tr>
              <a:tr h="470330">
                <a:tc>
                  <a:txBody>
                    <a:bodyPr/>
                    <a:lstStyle/>
                    <a:p>
                      <a:pPr marL="0" lvl="0" indent="0">
                        <a:buFont typeface="Arial"/>
                        <a:buNone/>
                      </a:pPr>
                      <a:r>
                        <a:rPr lang="en-US" sz="1100"/>
                        <a:t>Vendor Onboarding Delays</a:t>
                      </a:r>
                      <a:endParaRPr lang="en-US" sz="1100">
                        <a:effectLst/>
                      </a:endParaRPr>
                    </a:p>
                  </a:txBody>
                  <a:tcPr marL="38099" marR="38099" marT="38099" marB="38099" anchor="ctr">
                    <a:solidFill>
                      <a:schemeClr val="accent4">
                        <a:lumMod val="20000"/>
                        <a:lumOff val="80000"/>
                      </a:schemeClr>
                    </a:solidFill>
                  </a:tcPr>
                </a:tc>
                <a:tc>
                  <a:txBody>
                    <a:bodyPr/>
                    <a:lstStyle/>
                    <a:p>
                      <a:pPr lvl="0" algn="ctr">
                        <a:buNone/>
                      </a:pPr>
                      <a:r>
                        <a:rPr lang="en-US" sz="1100" b="0">
                          <a:solidFill>
                            <a:schemeClr val="bg1"/>
                          </a:solidFill>
                          <a:effectLst/>
                        </a:rPr>
                        <a:t>L</a:t>
                      </a:r>
                    </a:p>
                  </a:txBody>
                  <a:tcPr marL="38099" marR="38099" marT="38099" marB="38099" anchor="ctr">
                    <a:solidFill>
                      <a:srgbClr val="00B050"/>
                    </a:solidFill>
                  </a:tcPr>
                </a:tc>
                <a:tc>
                  <a:txBody>
                    <a:bodyPr/>
                    <a:lstStyle/>
                    <a:p>
                      <a:r>
                        <a:rPr lang="en-US" sz="1100"/>
                        <a:t>Initiate the selection process early and engage key stakeholders from the beginning. </a:t>
                      </a:r>
                    </a:p>
                  </a:txBody>
                  <a:tcPr marL="38099" marR="38099" marT="38099" marB="38099" anchor="ctr">
                    <a:solidFill>
                      <a:schemeClr val="accent4">
                        <a:lumMod val="20000"/>
                        <a:lumOff val="80000"/>
                      </a:schemeClr>
                    </a:solidFill>
                  </a:tcPr>
                </a:tc>
                <a:extLst>
                  <a:ext uri="{0D108BD9-81ED-4DB2-BD59-A6C34878D82A}">
                    <a16:rowId xmlns:a16="http://schemas.microsoft.com/office/drawing/2014/main" val="994776590"/>
                  </a:ext>
                </a:extLst>
              </a:tr>
            </a:tbl>
          </a:graphicData>
        </a:graphic>
      </p:graphicFrame>
      <p:graphicFrame>
        <p:nvGraphicFramePr>
          <p:cNvPr id="16" name="Table 15">
            <a:extLst>
              <a:ext uri="{FF2B5EF4-FFF2-40B4-BE49-F238E27FC236}">
                <a16:creationId xmlns:a16="http://schemas.microsoft.com/office/drawing/2014/main" id="{A5D1C228-2B9B-A367-9B9F-87153412B464}"/>
              </a:ext>
            </a:extLst>
          </p:cNvPr>
          <p:cNvGraphicFramePr>
            <a:graphicFrameLocks noGrp="1"/>
          </p:cNvGraphicFramePr>
          <p:nvPr>
            <p:extLst>
              <p:ext uri="{D42A27DB-BD31-4B8C-83A1-F6EECF244321}">
                <p14:modId xmlns:p14="http://schemas.microsoft.com/office/powerpoint/2010/main" val="3918900777"/>
              </p:ext>
            </p:extLst>
          </p:nvPr>
        </p:nvGraphicFramePr>
        <p:xfrm>
          <a:off x="251440" y="441143"/>
          <a:ext cx="4958665" cy="1582862"/>
        </p:xfrm>
        <a:graphic>
          <a:graphicData uri="http://schemas.openxmlformats.org/drawingml/2006/table">
            <a:tbl>
              <a:tblPr firstRow="1" bandRow="1"/>
              <a:tblGrid>
                <a:gridCol w="1253919">
                  <a:extLst>
                    <a:ext uri="{9D8B030D-6E8A-4147-A177-3AD203B41FA5}">
                      <a16:colId xmlns:a16="http://schemas.microsoft.com/office/drawing/2014/main" val="110687116"/>
                    </a:ext>
                  </a:extLst>
                </a:gridCol>
                <a:gridCol w="3704746">
                  <a:extLst>
                    <a:ext uri="{9D8B030D-6E8A-4147-A177-3AD203B41FA5}">
                      <a16:colId xmlns:a16="http://schemas.microsoft.com/office/drawing/2014/main" val="3314271387"/>
                    </a:ext>
                  </a:extLst>
                </a:gridCol>
              </a:tblGrid>
              <a:tr h="158286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a:t>
                      </a:r>
                      <a:r>
                        <a:rPr lang="en-US" sz="1400" b="1" i="0" u="none" strike="noStrike" kern="1200" cap="none" spc="0" normalizeH="0" baseline="0" noProof="0">
                          <a:ln>
                            <a:noFill/>
                          </a:ln>
                          <a:solidFill>
                            <a:srgbClr val="FFFFFF"/>
                          </a:solidFill>
                          <a:effectLst/>
                          <a:uLnTx/>
                          <a:uFillTx/>
                          <a:latin typeface="+mn-lt"/>
                          <a:ea typeface="+mn-ea"/>
                          <a:cs typeface="+mn-cs"/>
                        </a:rPr>
                        <a:t>Scope</a:t>
                      </a:r>
                      <a:endParaRPr kumimoji="0" lang="en-US" sz="1400" b="1" i="0" u="none" strike="noStrike" kern="1200" cap="none" spc="0" normalizeH="0" baseline="0" noProof="0">
                        <a:ln>
                          <a:noFill/>
                        </a:ln>
                        <a:solidFill>
                          <a:srgbClr val="FFFFFF"/>
                        </a:solidFill>
                        <a:effectLst/>
                        <a:uLnTx/>
                        <a:uFillTx/>
                        <a:latin typeface="+mn-lt"/>
                        <a:ea typeface="+mn-ea"/>
                        <a:cs typeface="+mn-cs"/>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lvl="0" indent="0" algn="l">
                        <a:buFont typeface="Arial" panose="020B0604020202020204" pitchFamily="34" charset="0"/>
                        <a:buNone/>
                      </a:pPr>
                      <a:r>
                        <a:rPr lang="en-US" sz="1200" b="0" i="0" kern="1200">
                          <a:solidFill>
                            <a:schemeClr val="dk1"/>
                          </a:solidFill>
                          <a:effectLst/>
                          <a:latin typeface="+mn-lt"/>
                          <a:ea typeface="+mn-ea"/>
                          <a:cs typeface="+mn-cs"/>
                        </a:rPr>
                        <a:t>Automate the Legal Department’s work processing to minimize human error. Improve response times based on the urgency of each matter. Enhance record management and overall efficiency of the legal team through a digital tool.</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sp>
        <p:nvSpPr>
          <p:cNvPr id="3" name="Oval 2">
            <a:extLst>
              <a:ext uri="{FF2B5EF4-FFF2-40B4-BE49-F238E27FC236}">
                <a16:creationId xmlns:a16="http://schemas.microsoft.com/office/drawing/2014/main" id="{AD4BE5CC-F096-77AE-2A45-D9F5B76C06A0}"/>
              </a:ext>
            </a:extLst>
          </p:cNvPr>
          <p:cNvSpPr>
            <a:spLocks noChangeAspect="1"/>
          </p:cNvSpPr>
          <p:nvPr/>
        </p:nvSpPr>
        <p:spPr>
          <a:xfrm>
            <a:off x="7658044" y="1042303"/>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E3A260B8-82B3-50F3-B030-168488DB39CE}"/>
              </a:ext>
            </a:extLst>
          </p:cNvPr>
          <p:cNvSpPr>
            <a:spLocks noChangeAspect="1"/>
          </p:cNvSpPr>
          <p:nvPr/>
        </p:nvSpPr>
        <p:spPr>
          <a:xfrm>
            <a:off x="10964907" y="103611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8EAD6EBF-C1B3-FCCA-6E67-489D5F8472F8}"/>
              </a:ext>
            </a:extLst>
          </p:cNvPr>
          <p:cNvSpPr>
            <a:spLocks noChangeAspect="1"/>
          </p:cNvSpPr>
          <p:nvPr/>
        </p:nvSpPr>
        <p:spPr>
          <a:xfrm>
            <a:off x="9343106" y="104568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3C5DE973-F6B0-7235-CE0C-91BC5CF57AC5}"/>
              </a:ext>
            </a:extLst>
          </p:cNvPr>
          <p:cNvSpPr>
            <a:spLocks noChangeAspect="1"/>
          </p:cNvSpPr>
          <p:nvPr/>
        </p:nvSpPr>
        <p:spPr>
          <a:xfrm>
            <a:off x="6004612" y="1050222"/>
            <a:ext cx="214068" cy="20521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Slide Number Placeholder 14">
            <a:extLst>
              <a:ext uri="{FF2B5EF4-FFF2-40B4-BE49-F238E27FC236}">
                <a16:creationId xmlns:a16="http://schemas.microsoft.com/office/drawing/2014/main" id="{846D5A5F-D8E2-42DF-69EB-BDFA0E155DE3}"/>
              </a:ext>
            </a:extLst>
          </p:cNvPr>
          <p:cNvSpPr txBox="1">
            <a:spLocks/>
          </p:cNvSpPr>
          <p:nvPr/>
        </p:nvSpPr>
        <p:spPr>
          <a:xfrm>
            <a:off x="11158502" y="6122714"/>
            <a:ext cx="629427" cy="365125"/>
          </a:xfrm>
          <a:prstGeom prst="rect">
            <a:avLst/>
          </a:prstGeom>
        </p:spPr>
        <p:txBody>
          <a:bodyPr vert="horz" lIns="91440" tIns="45720" rIns="91440" bIns="45720" rtlCol="0" anchor="ctr"/>
          <a:lstStyle>
            <a:defPPr>
              <a:defRPr lang="el-GR"/>
            </a:defPPr>
            <a:lvl1pPr marL="0" algn="r" defTabSz="914400" rtl="0" eaLnBrk="1" latinLnBrk="0" hangingPunct="1">
              <a:defRPr sz="12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34D5E84-50F9-4E8A-902D-8ADBB9AEA009}" type="slidenum">
              <a:rPr lang="el-GR"/>
              <a:pPr/>
              <a:t>3</a:t>
            </a:fld>
            <a:r>
              <a:rPr lang="en-US"/>
              <a:t>/21</a:t>
            </a:r>
            <a:endParaRPr lang="el-GR"/>
          </a:p>
        </p:txBody>
      </p:sp>
    </p:spTree>
    <p:extLst>
      <p:ext uri="{BB962C8B-B14F-4D97-AF65-F5344CB8AC3E}">
        <p14:creationId xmlns:p14="http://schemas.microsoft.com/office/powerpoint/2010/main" val="184374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CF3472-8FA4-8C4F-868D-2C759477A0D3}"/>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srgbClr val="2E5684">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srgbClr val="2E5684">
                  <a:tint val="75000"/>
                </a:srgbClr>
              </a:solidFill>
              <a:effectLst/>
              <a:uLnTx/>
              <a:uFillTx/>
              <a:latin typeface="Calibri" panose="020F0502020204030204"/>
              <a:ea typeface="+mn-ea"/>
              <a:cs typeface="+mn-cs"/>
            </a:endParaRPr>
          </a:p>
        </p:txBody>
      </p:sp>
      <p:sp>
        <p:nvSpPr>
          <p:cNvPr id="4" name="Slide Number Placeholder 1">
            <a:extLst>
              <a:ext uri="{FF2B5EF4-FFF2-40B4-BE49-F238E27FC236}">
                <a16:creationId xmlns:a16="http://schemas.microsoft.com/office/drawing/2014/main" id="{AEC4B26A-7BC3-42F8-65F1-55529F222BD4}"/>
              </a:ext>
            </a:extLst>
          </p:cNvPr>
          <p:cNvSpPr txBox="1">
            <a:spLocks/>
          </p:cNvSpPr>
          <p:nvPr/>
        </p:nvSpPr>
        <p:spPr>
          <a:xfrm>
            <a:off x="8610600" y="6356350"/>
            <a:ext cx="2743200" cy="365125"/>
          </a:xfrm>
          <a:prstGeom prst="rect">
            <a:avLst/>
          </a:prstGeom>
          <a:noFill/>
          <a:ln>
            <a:noFill/>
          </a:ln>
        </p:spPr>
        <p:txBody>
          <a:bodyPr spcFirstLastPara="1" vert="horz" wrap="square" lIns="91425" tIns="45700" rIns="91425" bIns="45700" rtlCol="0" anchor="ctr" anchorCtr="0">
            <a:noAutofit/>
          </a:bodyPr>
          <a:lstStyle>
            <a:defPPr>
              <a:defRPr lang="en-US"/>
            </a:defPPr>
            <a:lvl1pPr marL="0" lvl="0" indent="0" algn="r" defTabSz="914400" rtl="0" eaLnBrk="1" latinLnBrk="0" hangingPunct="1">
              <a:spcBef>
                <a:spcPts val="0"/>
              </a:spcBef>
              <a:buNone/>
              <a:defRPr sz="1200" kern="1200">
                <a:solidFill>
                  <a:schemeClr val="tx1">
                    <a:tint val="75000"/>
                  </a:schemeClr>
                </a:solidFill>
                <a:latin typeface="+mn-lt"/>
                <a:ea typeface="+mn-ea"/>
                <a:cs typeface="+mn-cs"/>
              </a:defRPr>
            </a:lvl1pPr>
            <a:lvl2pPr marL="0" lvl="1" indent="0" algn="r" defTabSz="914400" rtl="0" eaLnBrk="1" latinLnBrk="0" hangingPunct="1">
              <a:spcBef>
                <a:spcPts val="0"/>
              </a:spcBef>
              <a:buNone/>
              <a:defRPr sz="1800" kern="1200">
                <a:solidFill>
                  <a:schemeClr val="tx1"/>
                </a:solidFill>
                <a:latin typeface="+mn-lt"/>
                <a:ea typeface="+mn-ea"/>
                <a:cs typeface="+mn-cs"/>
              </a:defRPr>
            </a:lvl2pPr>
            <a:lvl3pPr marL="0" lvl="2" indent="0" algn="r" defTabSz="914400" rtl="0" eaLnBrk="1" latinLnBrk="0" hangingPunct="1">
              <a:spcBef>
                <a:spcPts val="0"/>
              </a:spcBef>
              <a:buNone/>
              <a:defRPr sz="1800" kern="1200">
                <a:solidFill>
                  <a:schemeClr val="tx1"/>
                </a:solidFill>
                <a:latin typeface="+mn-lt"/>
                <a:ea typeface="+mn-ea"/>
                <a:cs typeface="+mn-cs"/>
              </a:defRPr>
            </a:lvl3pPr>
            <a:lvl4pPr marL="0" lvl="3" indent="0" algn="r" defTabSz="914400" rtl="0" eaLnBrk="1" latinLnBrk="0" hangingPunct="1">
              <a:spcBef>
                <a:spcPts val="0"/>
              </a:spcBef>
              <a:buNone/>
              <a:defRPr sz="1800" kern="1200">
                <a:solidFill>
                  <a:schemeClr val="tx1"/>
                </a:solidFill>
                <a:latin typeface="+mn-lt"/>
                <a:ea typeface="+mn-ea"/>
                <a:cs typeface="+mn-cs"/>
              </a:defRPr>
            </a:lvl4pPr>
            <a:lvl5pPr marL="0" lvl="4" indent="0" algn="r" defTabSz="914400" rtl="0" eaLnBrk="1" latinLnBrk="0" hangingPunct="1">
              <a:spcBef>
                <a:spcPts val="0"/>
              </a:spcBef>
              <a:buNone/>
              <a:defRPr sz="1800" kern="1200">
                <a:solidFill>
                  <a:schemeClr val="tx1"/>
                </a:solidFill>
                <a:latin typeface="+mn-lt"/>
                <a:ea typeface="+mn-ea"/>
                <a:cs typeface="+mn-cs"/>
              </a:defRPr>
            </a:lvl5pPr>
            <a:lvl6pPr marL="0" lvl="5" indent="0" algn="r" defTabSz="914400" rtl="0" eaLnBrk="1" latinLnBrk="0" hangingPunct="1">
              <a:spcBef>
                <a:spcPts val="0"/>
              </a:spcBef>
              <a:buNone/>
              <a:defRPr sz="1800" kern="1200">
                <a:solidFill>
                  <a:schemeClr val="tx1"/>
                </a:solidFill>
                <a:latin typeface="+mn-lt"/>
                <a:ea typeface="+mn-ea"/>
                <a:cs typeface="+mn-cs"/>
              </a:defRPr>
            </a:lvl6pPr>
            <a:lvl7pPr marL="0" lvl="6" indent="0" algn="r" defTabSz="914400" rtl="0" eaLnBrk="1" latinLnBrk="0" hangingPunct="1">
              <a:spcBef>
                <a:spcPts val="0"/>
              </a:spcBef>
              <a:buNone/>
              <a:defRPr sz="1800" kern="1200">
                <a:solidFill>
                  <a:schemeClr val="tx1"/>
                </a:solidFill>
                <a:latin typeface="+mn-lt"/>
                <a:ea typeface="+mn-ea"/>
                <a:cs typeface="+mn-cs"/>
              </a:defRPr>
            </a:lvl7pPr>
            <a:lvl8pPr marL="0" lvl="7" indent="0" algn="r" defTabSz="914400" rtl="0" eaLnBrk="1" latinLnBrk="0" hangingPunct="1">
              <a:spcBef>
                <a:spcPts val="0"/>
              </a:spcBef>
              <a:buNone/>
              <a:defRPr sz="1800" kern="1200">
                <a:solidFill>
                  <a:schemeClr val="tx1"/>
                </a:solidFill>
                <a:latin typeface="+mn-lt"/>
                <a:ea typeface="+mn-ea"/>
                <a:cs typeface="+mn-cs"/>
              </a:defRPr>
            </a:lvl8pPr>
            <a:lvl9pPr marL="0" lvl="8" indent="0" algn="r" defTabSz="914400" rtl="0" eaLnBrk="1" latinLnBrk="0" hangingPunct="1">
              <a:spcBef>
                <a:spcPts val="0"/>
              </a:spcBef>
              <a:buNone/>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2E5684">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srgbClr val="2E5684">
                  <a:tint val="75000"/>
                </a:srgbClr>
              </a:solidFill>
              <a:effectLst/>
              <a:uLnTx/>
              <a:uFillTx/>
              <a:latin typeface="Calibri" panose="020F0502020204030204"/>
              <a:ea typeface="+mn-ea"/>
              <a:cs typeface="+mn-cs"/>
            </a:endParaRPr>
          </a:p>
        </p:txBody>
      </p:sp>
      <p:graphicFrame>
        <p:nvGraphicFramePr>
          <p:cNvPr id="5" name="Content Placeholder 4">
            <a:extLst>
              <a:ext uri="{FF2B5EF4-FFF2-40B4-BE49-F238E27FC236}">
                <a16:creationId xmlns:a16="http://schemas.microsoft.com/office/drawing/2014/main" id="{C611F14C-0E0E-C820-F65E-D9C0F0365070}"/>
              </a:ext>
            </a:extLst>
          </p:cNvPr>
          <p:cNvGraphicFramePr>
            <a:graphicFrameLocks/>
          </p:cNvGraphicFramePr>
          <p:nvPr>
            <p:extLst>
              <p:ext uri="{D42A27DB-BD31-4B8C-83A1-F6EECF244321}">
                <p14:modId xmlns:p14="http://schemas.microsoft.com/office/powerpoint/2010/main" val="261618572"/>
              </p:ext>
            </p:extLst>
          </p:nvPr>
        </p:nvGraphicFramePr>
        <p:xfrm>
          <a:off x="5304063" y="23586"/>
          <a:ext cx="6613073" cy="695077"/>
        </p:xfrm>
        <a:graphic>
          <a:graphicData uri="http://schemas.openxmlformats.org/drawingml/2006/table">
            <a:tbl>
              <a:tblPr firstRow="1" bandRow="1"/>
              <a:tblGrid>
                <a:gridCol w="724595">
                  <a:extLst>
                    <a:ext uri="{9D8B030D-6E8A-4147-A177-3AD203B41FA5}">
                      <a16:colId xmlns:a16="http://schemas.microsoft.com/office/drawing/2014/main" val="20000"/>
                    </a:ext>
                  </a:extLst>
                </a:gridCol>
                <a:gridCol w="739303">
                  <a:extLst>
                    <a:ext uri="{9D8B030D-6E8A-4147-A177-3AD203B41FA5}">
                      <a16:colId xmlns:a16="http://schemas.microsoft.com/office/drawing/2014/main" val="20001"/>
                    </a:ext>
                  </a:extLst>
                </a:gridCol>
                <a:gridCol w="1712068">
                  <a:extLst>
                    <a:ext uri="{9D8B030D-6E8A-4147-A177-3AD203B41FA5}">
                      <a16:colId xmlns:a16="http://schemas.microsoft.com/office/drawing/2014/main" val="20002"/>
                    </a:ext>
                  </a:extLst>
                </a:gridCol>
                <a:gridCol w="2033080">
                  <a:extLst>
                    <a:ext uri="{9D8B030D-6E8A-4147-A177-3AD203B41FA5}">
                      <a16:colId xmlns:a16="http://schemas.microsoft.com/office/drawing/2014/main" val="3624839458"/>
                    </a:ext>
                  </a:extLst>
                </a:gridCol>
                <a:gridCol w="1404027">
                  <a:extLst>
                    <a:ext uri="{9D8B030D-6E8A-4147-A177-3AD203B41FA5}">
                      <a16:colId xmlns:a16="http://schemas.microsoft.com/office/drawing/2014/main" val="2847559459"/>
                    </a:ext>
                  </a:extLst>
                </a:gridCol>
              </a:tblGrid>
              <a:tr h="20602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SAP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JIRA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PM/BP</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Business Owner</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Involved Divisions</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435997">
                <a:tc>
                  <a:txBody>
                    <a:bodyPr/>
                    <a:lstStyle/>
                    <a:p>
                      <a:pPr algn="ctr" fontAlgn="b"/>
                      <a:r>
                        <a:rPr lang="en-US" sz="1100" b="1" i="0" u="none" strike="noStrike" kern="1200">
                          <a:solidFill>
                            <a:schemeClr val="tx1"/>
                          </a:solidFill>
                          <a:effectLst/>
                          <a:latin typeface="Calibri" panose="020F0502020204030204" pitchFamily="34" charset="0"/>
                          <a:ea typeface="+mn-ea"/>
                          <a:cs typeface="+mn-cs"/>
                        </a:rPr>
                        <a:t>L/00089</a:t>
                      </a:r>
                    </a:p>
                  </a:txBody>
                  <a:tcPr marL="9525" marR="9525" marT="9525" marB="0"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100" b="1" i="0" u="none" strike="noStrike">
                          <a:solidFill>
                            <a:schemeClr val="tx1"/>
                          </a:solidFill>
                          <a:effectLst/>
                          <a:latin typeface="Calibri" panose="020F0502020204030204" pitchFamily="34" charset="0"/>
                        </a:rPr>
                        <a:t>ID-114</a:t>
                      </a:r>
                    </a:p>
                  </a:txBody>
                  <a:tcPr marL="9525" marR="9525" marT="9525" marB="0" anchor="ctr">
                    <a:lnL w="12700" cap="flat" cmpd="sng" algn="ctr">
                      <a:solidFill>
                        <a:schemeClr val="bg1"/>
                      </a:solidFill>
                      <a:prstDash val="solid"/>
                      <a:round/>
                      <a:headEnd type="none" w="med" len="med"/>
                      <a:tailEnd type="none" w="med" len="med"/>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457198" rtl="0" eaLnBrk="1" latinLnBrk="0" hangingPunct="1"/>
                      <a:r>
                        <a:rPr lang="en-US" sz="1100" b="1" kern="1200">
                          <a:solidFill>
                            <a:schemeClr val="dk1"/>
                          </a:solidFill>
                          <a:latin typeface="Arial" panose="020B0604020202020204"/>
                          <a:ea typeface="+mn-ea"/>
                          <a:cs typeface="+mn-cs"/>
                        </a:rPr>
                        <a:t>Spanou/Tsetsos</a:t>
                      </a:r>
                      <a:endParaRPr lang="en-US" sz="1100" b="1" kern="1200" err="1">
                        <a:solidFill>
                          <a:schemeClr val="dk1"/>
                        </a:solidFill>
                        <a:latin typeface="Arial" panose="020B0604020202020204"/>
                        <a:ea typeface="+mn-ea"/>
                        <a:cs typeface="+mn-cs"/>
                      </a:endParaRP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Commercial</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457198" rtl="0" eaLnBrk="1" latinLnBrk="0" hangingPunct="1"/>
                      <a:r>
                        <a:rPr lang="en-US" sz="1100" b="0" kern="1200">
                          <a:solidFill>
                            <a:schemeClr val="dk1"/>
                          </a:solidFill>
                          <a:latin typeface="+mn-lt"/>
                          <a:ea typeface="+mn-ea"/>
                          <a:cs typeface="+mn-cs"/>
                        </a:rPr>
                        <a:t>Commercial, DDDE,IT</a:t>
                      </a:r>
                    </a:p>
                  </a:txBody>
                  <a:tcPr marL="84406" marR="84406" anchor="ctr">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946C1F6C-9509-828E-1586-B0B857A0FD45}"/>
              </a:ext>
            </a:extLst>
          </p:cNvPr>
          <p:cNvGraphicFramePr>
            <a:graphicFrameLocks/>
          </p:cNvGraphicFramePr>
          <p:nvPr/>
        </p:nvGraphicFramePr>
        <p:xfrm>
          <a:off x="5313134" y="740228"/>
          <a:ext cx="6604003" cy="566675"/>
        </p:xfrm>
        <a:graphic>
          <a:graphicData uri="http://schemas.openxmlformats.org/drawingml/2006/table">
            <a:tbl>
              <a:tblPr firstRow="1" bandRow="1"/>
              <a:tblGrid>
                <a:gridCol w="1651001">
                  <a:extLst>
                    <a:ext uri="{9D8B030D-6E8A-4147-A177-3AD203B41FA5}">
                      <a16:colId xmlns:a16="http://schemas.microsoft.com/office/drawing/2014/main" val="20000"/>
                    </a:ext>
                  </a:extLst>
                </a:gridCol>
                <a:gridCol w="1686788">
                  <a:extLst>
                    <a:ext uri="{9D8B030D-6E8A-4147-A177-3AD203B41FA5}">
                      <a16:colId xmlns:a16="http://schemas.microsoft.com/office/drawing/2014/main" val="20001"/>
                    </a:ext>
                  </a:extLst>
                </a:gridCol>
                <a:gridCol w="1615213">
                  <a:extLst>
                    <a:ext uri="{9D8B030D-6E8A-4147-A177-3AD203B41FA5}">
                      <a16:colId xmlns:a16="http://schemas.microsoft.com/office/drawing/2014/main" val="20002"/>
                    </a:ext>
                  </a:extLst>
                </a:gridCol>
                <a:gridCol w="1651001">
                  <a:extLst>
                    <a:ext uri="{9D8B030D-6E8A-4147-A177-3AD203B41FA5}">
                      <a16:colId xmlns:a16="http://schemas.microsoft.com/office/drawing/2014/main" val="20003"/>
                    </a:ext>
                  </a:extLst>
                </a:gridCol>
              </a:tblGrid>
              <a:tr h="227035">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Overall</a:t>
                      </a:r>
                    </a:p>
                  </a:txBody>
                  <a:tcPr marL="84406" marR="84406">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Schedule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Cost</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Scope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07595">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solidFill>
                          <a:schemeClr val="bg2"/>
                        </a:solidFill>
                      </a:endParaRPr>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27047014"/>
                  </a:ext>
                </a:extLst>
              </a:tr>
            </a:tbl>
          </a:graphicData>
        </a:graphic>
      </p:graphicFrame>
      <p:graphicFrame>
        <p:nvGraphicFramePr>
          <p:cNvPr id="7" name="Content Placeholder 4">
            <a:extLst>
              <a:ext uri="{FF2B5EF4-FFF2-40B4-BE49-F238E27FC236}">
                <a16:creationId xmlns:a16="http://schemas.microsoft.com/office/drawing/2014/main" id="{EEAC4F3F-ABD5-A5BD-78B9-E83548BD8C45}"/>
              </a:ext>
            </a:extLst>
          </p:cNvPr>
          <p:cNvGraphicFramePr>
            <a:graphicFrameLocks/>
          </p:cNvGraphicFramePr>
          <p:nvPr>
            <p:extLst>
              <p:ext uri="{D42A27DB-BD31-4B8C-83A1-F6EECF244321}">
                <p14:modId xmlns:p14="http://schemas.microsoft.com/office/powerpoint/2010/main" val="183713143"/>
              </p:ext>
            </p:extLst>
          </p:nvPr>
        </p:nvGraphicFramePr>
        <p:xfrm>
          <a:off x="5304063" y="1293585"/>
          <a:ext cx="6613074" cy="853440"/>
        </p:xfrm>
        <a:graphic>
          <a:graphicData uri="http://schemas.openxmlformats.org/drawingml/2006/table">
            <a:tbl>
              <a:tblPr firstRow="1" bandRow="1"/>
              <a:tblGrid>
                <a:gridCol w="1322615">
                  <a:extLst>
                    <a:ext uri="{9D8B030D-6E8A-4147-A177-3AD203B41FA5}">
                      <a16:colId xmlns:a16="http://schemas.microsoft.com/office/drawing/2014/main" val="20000"/>
                    </a:ext>
                  </a:extLst>
                </a:gridCol>
                <a:gridCol w="1165775">
                  <a:extLst>
                    <a:ext uri="{9D8B030D-6E8A-4147-A177-3AD203B41FA5}">
                      <a16:colId xmlns:a16="http://schemas.microsoft.com/office/drawing/2014/main" val="20001"/>
                    </a:ext>
                  </a:extLst>
                </a:gridCol>
                <a:gridCol w="1479454">
                  <a:extLst>
                    <a:ext uri="{9D8B030D-6E8A-4147-A177-3AD203B41FA5}">
                      <a16:colId xmlns:a16="http://schemas.microsoft.com/office/drawing/2014/main" val="20002"/>
                    </a:ext>
                  </a:extLst>
                </a:gridCol>
                <a:gridCol w="1322615">
                  <a:extLst>
                    <a:ext uri="{9D8B030D-6E8A-4147-A177-3AD203B41FA5}">
                      <a16:colId xmlns:a16="http://schemas.microsoft.com/office/drawing/2014/main" val="20003"/>
                    </a:ext>
                  </a:extLst>
                </a:gridCol>
                <a:gridCol w="1322615">
                  <a:extLst>
                    <a:ext uri="{9D8B030D-6E8A-4147-A177-3AD203B41FA5}">
                      <a16:colId xmlns:a16="http://schemas.microsoft.com/office/drawing/2014/main" val="1179070743"/>
                    </a:ext>
                  </a:extLst>
                </a:gridCol>
              </a:tblGrid>
              <a:tr h="34119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baseline="0">
                          <a:latin typeface="Calibri"/>
                        </a:rPr>
                        <a:t>Project  Status</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Work Completed</a:t>
                      </a:r>
                      <a:r>
                        <a:rPr lang="en-US" sz="1100" baseline="0">
                          <a:latin typeface="Calibri"/>
                        </a:rPr>
                        <a:t> (%)</a:t>
                      </a: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Baseline</a:t>
                      </a:r>
                      <a:r>
                        <a:rPr lang="en-US" sz="1100" baseline="0">
                          <a:latin typeface="Calibri"/>
                        </a:rPr>
                        <a:t> Budget</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 Start Date</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Planned/Estimated Completion Date</a:t>
                      </a:r>
                    </a:p>
                  </a:txBody>
                  <a:tcPr marL="84406" marR="84406">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24452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a:latin typeface="+mn-lt"/>
                        </a:rPr>
                        <a:t>Implementation</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kern="1200">
                          <a:solidFill>
                            <a:schemeClr val="dk1"/>
                          </a:solidFill>
                          <a:latin typeface="+mn-lt"/>
                          <a:ea typeface="+mn-ea"/>
                          <a:cs typeface="+mn-cs"/>
                        </a:rPr>
                        <a:t>90</a:t>
                      </a:r>
                      <a:r>
                        <a:rPr lang="el-GR" sz="1100" kern="1200">
                          <a:solidFill>
                            <a:schemeClr val="dk1"/>
                          </a:solidFill>
                          <a:latin typeface="+mn-lt"/>
                          <a:ea typeface="+mn-ea"/>
                          <a:cs typeface="+mn-cs"/>
                        </a:rPr>
                        <a:t>%</a:t>
                      </a:r>
                      <a:endParaRPr lang="en-US" sz="1100" kern="1200">
                        <a:solidFill>
                          <a:schemeClr val="dk1"/>
                        </a:solidFill>
                        <a:latin typeface="+mn-lt"/>
                        <a:ea typeface="+mn-ea"/>
                        <a:cs typeface="+mn-cs"/>
                      </a:endParaRP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457198" rtl="0" eaLnBrk="1" latinLnBrk="0" hangingPunct="1"/>
                      <a:r>
                        <a:rPr lang="en-US" sz="1100" kern="1200">
                          <a:solidFill>
                            <a:schemeClr val="dk1"/>
                          </a:solidFill>
                          <a:latin typeface="+mn-lt"/>
                          <a:ea typeface="+mn-ea"/>
                          <a:cs typeface="+mn-cs"/>
                        </a:rPr>
                        <a:t>80K</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a:latin typeface="+mn-lt"/>
                        </a:rPr>
                        <a:t>15 May 2024</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457198" rtl="0" eaLnBrk="1" fontAlgn="auto" latinLnBrk="0" hangingPunct="1">
                        <a:lnSpc>
                          <a:spcPct val="100000"/>
                        </a:lnSpc>
                        <a:spcBef>
                          <a:spcPts val="0"/>
                        </a:spcBef>
                        <a:spcAft>
                          <a:spcPts val="0"/>
                        </a:spcAft>
                        <a:buClrTx/>
                        <a:buSzTx/>
                        <a:buFontTx/>
                        <a:buNone/>
                        <a:tabLst/>
                        <a:defRPr/>
                      </a:pPr>
                      <a:r>
                        <a:rPr lang="en-US" sz="1100" kern="1200">
                          <a:solidFill>
                            <a:schemeClr val="dk1"/>
                          </a:solidFill>
                          <a:latin typeface="+mn-lt"/>
                          <a:ea typeface="+mn-ea"/>
                          <a:cs typeface="+mn-cs"/>
                        </a:rPr>
                        <a:t> </a:t>
                      </a:r>
                      <a:r>
                        <a:rPr lang="el-GR" sz="1100" kern="1200">
                          <a:solidFill>
                            <a:schemeClr val="dk1"/>
                          </a:solidFill>
                          <a:latin typeface="+mn-lt"/>
                          <a:ea typeface="+mn-ea"/>
                          <a:cs typeface="+mn-cs"/>
                        </a:rPr>
                        <a:t>29</a:t>
                      </a:r>
                      <a:r>
                        <a:rPr lang="en-US" sz="1100" kern="1200">
                          <a:solidFill>
                            <a:schemeClr val="dk1"/>
                          </a:solidFill>
                          <a:latin typeface="+mn-lt"/>
                          <a:ea typeface="+mn-ea"/>
                          <a:cs typeface="+mn-cs"/>
                        </a:rPr>
                        <a:t> Jule 2025</a:t>
                      </a:r>
                    </a:p>
                    <a:p>
                      <a:pPr algn="ctr"/>
                      <a:endParaRPr lang="en-US" sz="1100">
                        <a:latin typeface="+mn-lt"/>
                      </a:endParaRPr>
                    </a:p>
                  </a:txBody>
                  <a:tcPr marL="84406" marR="84406">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13" name="Table 12">
            <a:extLst>
              <a:ext uri="{FF2B5EF4-FFF2-40B4-BE49-F238E27FC236}">
                <a16:creationId xmlns:a16="http://schemas.microsoft.com/office/drawing/2014/main" id="{BA107CB2-F91F-A476-5F23-18649D1030FC}"/>
              </a:ext>
            </a:extLst>
          </p:cNvPr>
          <p:cNvGraphicFramePr>
            <a:graphicFrameLocks noGrp="1"/>
          </p:cNvGraphicFramePr>
          <p:nvPr>
            <p:extLst>
              <p:ext uri="{D42A27DB-BD31-4B8C-83A1-F6EECF244321}">
                <p14:modId xmlns:p14="http://schemas.microsoft.com/office/powerpoint/2010/main" val="4190445188"/>
              </p:ext>
            </p:extLst>
          </p:nvPr>
        </p:nvGraphicFramePr>
        <p:xfrm>
          <a:off x="178812" y="19792"/>
          <a:ext cx="5133974" cy="660751"/>
        </p:xfrm>
        <a:graphic>
          <a:graphicData uri="http://schemas.openxmlformats.org/drawingml/2006/table">
            <a:tbl>
              <a:tblPr firstRow="1" bandRow="1"/>
              <a:tblGrid>
                <a:gridCol w="1298481">
                  <a:extLst>
                    <a:ext uri="{9D8B030D-6E8A-4147-A177-3AD203B41FA5}">
                      <a16:colId xmlns:a16="http://schemas.microsoft.com/office/drawing/2014/main" val="110687116"/>
                    </a:ext>
                  </a:extLst>
                </a:gridCol>
                <a:gridCol w="3835493">
                  <a:extLst>
                    <a:ext uri="{9D8B030D-6E8A-4147-A177-3AD203B41FA5}">
                      <a16:colId xmlns:a16="http://schemas.microsoft.com/office/drawing/2014/main" val="3314271387"/>
                    </a:ext>
                  </a:extLst>
                </a:gridCol>
              </a:tblGrid>
              <a:tr h="660751">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Name</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400" b="1" i="0" kern="1200">
                          <a:solidFill>
                            <a:schemeClr val="dk1"/>
                          </a:solidFill>
                          <a:effectLst/>
                          <a:latin typeface="Arial" panose="020B0604020202020204"/>
                          <a:ea typeface="+mn-ea"/>
                          <a:cs typeface="+mn-cs"/>
                        </a:rPr>
                        <a:t>My Elpedison Roadmap 2024</a:t>
                      </a:r>
                      <a:endParaRPr lang="en-US" sz="1200" b="1"/>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graphicFrame>
        <p:nvGraphicFramePr>
          <p:cNvPr id="16" name="Table 15">
            <a:extLst>
              <a:ext uri="{FF2B5EF4-FFF2-40B4-BE49-F238E27FC236}">
                <a16:creationId xmlns:a16="http://schemas.microsoft.com/office/drawing/2014/main" id="{7C9D8610-22A8-1E08-1047-05A15DCCAEDD}"/>
              </a:ext>
            </a:extLst>
          </p:cNvPr>
          <p:cNvGraphicFramePr>
            <a:graphicFrameLocks noGrp="1"/>
          </p:cNvGraphicFramePr>
          <p:nvPr>
            <p:extLst>
              <p:ext uri="{D42A27DB-BD31-4B8C-83A1-F6EECF244321}">
                <p14:modId xmlns:p14="http://schemas.microsoft.com/office/powerpoint/2010/main" val="673804163"/>
              </p:ext>
            </p:extLst>
          </p:nvPr>
        </p:nvGraphicFramePr>
        <p:xfrm>
          <a:off x="178811" y="669694"/>
          <a:ext cx="5126502" cy="1332796"/>
        </p:xfrm>
        <a:graphic>
          <a:graphicData uri="http://schemas.openxmlformats.org/drawingml/2006/table">
            <a:tbl>
              <a:tblPr firstRow="1" bandRow="1"/>
              <a:tblGrid>
                <a:gridCol w="1296361">
                  <a:extLst>
                    <a:ext uri="{9D8B030D-6E8A-4147-A177-3AD203B41FA5}">
                      <a16:colId xmlns:a16="http://schemas.microsoft.com/office/drawing/2014/main" val="110687116"/>
                    </a:ext>
                  </a:extLst>
                </a:gridCol>
                <a:gridCol w="3830141">
                  <a:extLst>
                    <a:ext uri="{9D8B030D-6E8A-4147-A177-3AD203B41FA5}">
                      <a16:colId xmlns:a16="http://schemas.microsoft.com/office/drawing/2014/main" val="3314271387"/>
                    </a:ext>
                  </a:extLst>
                </a:gridCol>
              </a:tblGrid>
              <a:tr h="1332796">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a:t>
                      </a:r>
                      <a:r>
                        <a:rPr lang="en-US" sz="1400" b="1" i="0" u="none" strike="noStrike" kern="1200" cap="none" spc="0" normalizeH="0" baseline="0" noProof="0">
                          <a:ln>
                            <a:noFill/>
                          </a:ln>
                          <a:solidFill>
                            <a:srgbClr val="FFFFFF"/>
                          </a:solidFill>
                          <a:effectLst/>
                          <a:uLnTx/>
                          <a:uFillTx/>
                          <a:latin typeface="+mn-lt"/>
                          <a:ea typeface="+mn-ea"/>
                          <a:cs typeface="+mn-cs"/>
                        </a:rPr>
                        <a:t>Scope</a:t>
                      </a:r>
                      <a:endParaRPr kumimoji="0" lang="en-US" sz="1400" b="1" i="0" u="none" strike="noStrike" kern="1200" cap="none" spc="0" normalizeH="0" baseline="0" noProof="0">
                        <a:ln>
                          <a:noFill/>
                        </a:ln>
                        <a:solidFill>
                          <a:srgbClr val="FFFFFF"/>
                        </a:solidFill>
                        <a:effectLst/>
                        <a:uLnTx/>
                        <a:uFillTx/>
                        <a:latin typeface="+mn-lt"/>
                        <a:ea typeface="+mn-ea"/>
                        <a:cs typeface="+mn-cs"/>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E5684"/>
                          </a:solidFill>
                          <a:effectLst/>
                          <a:uLnTx/>
                          <a:uFillTx/>
                          <a:latin typeface="Calibri" panose="020F0502020204030204"/>
                          <a:ea typeface="+mn-ea"/>
                          <a:cs typeface="+mn-cs"/>
                        </a:rPr>
                        <a:t>The scope of myElpedison is to develop and launch enhancements to the web and mobile platforms, providing a self-service and user-friendly experience with a wide range of features. These improvements aim to reduce OPEX and align with market trends and customer needs.</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sp>
        <p:nvSpPr>
          <p:cNvPr id="17" name="Oval 16">
            <a:extLst>
              <a:ext uri="{FF2B5EF4-FFF2-40B4-BE49-F238E27FC236}">
                <a16:creationId xmlns:a16="http://schemas.microsoft.com/office/drawing/2014/main" id="{BA4DF927-7DFC-993D-3C9C-9A23F4D51CFC}"/>
              </a:ext>
            </a:extLst>
          </p:cNvPr>
          <p:cNvSpPr>
            <a:spLocks noChangeAspect="1"/>
          </p:cNvSpPr>
          <p:nvPr/>
        </p:nvSpPr>
        <p:spPr>
          <a:xfrm>
            <a:off x="6036243" y="104285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Oval 2">
            <a:extLst>
              <a:ext uri="{FF2B5EF4-FFF2-40B4-BE49-F238E27FC236}">
                <a16:creationId xmlns:a16="http://schemas.microsoft.com/office/drawing/2014/main" id="{7C638FB8-5DE2-D1BE-942F-510D9E9DC87C}"/>
              </a:ext>
            </a:extLst>
          </p:cNvPr>
          <p:cNvSpPr>
            <a:spLocks noChangeAspect="1"/>
          </p:cNvSpPr>
          <p:nvPr/>
        </p:nvSpPr>
        <p:spPr>
          <a:xfrm>
            <a:off x="7658044" y="1042303"/>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9D0EEB39-A752-C478-D140-3D32B30D5EFA}"/>
              </a:ext>
            </a:extLst>
          </p:cNvPr>
          <p:cNvSpPr>
            <a:spLocks noChangeAspect="1"/>
          </p:cNvSpPr>
          <p:nvPr/>
        </p:nvSpPr>
        <p:spPr>
          <a:xfrm>
            <a:off x="10964907" y="103611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68FC113-B780-3B2C-A235-2B4C506123B5}"/>
              </a:ext>
            </a:extLst>
          </p:cNvPr>
          <p:cNvSpPr>
            <a:spLocks noChangeAspect="1"/>
          </p:cNvSpPr>
          <p:nvPr/>
        </p:nvSpPr>
        <p:spPr>
          <a:xfrm>
            <a:off x="9343106" y="104568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8" name="Table 17">
            <a:extLst>
              <a:ext uri="{FF2B5EF4-FFF2-40B4-BE49-F238E27FC236}">
                <a16:creationId xmlns:a16="http://schemas.microsoft.com/office/drawing/2014/main" id="{F5B4E2D6-9268-39B9-E7DD-B6C0736B6645}"/>
              </a:ext>
            </a:extLst>
          </p:cNvPr>
          <p:cNvGraphicFramePr>
            <a:graphicFrameLocks noGrp="1"/>
          </p:cNvGraphicFramePr>
          <p:nvPr>
            <p:extLst>
              <p:ext uri="{D42A27DB-BD31-4B8C-83A1-F6EECF244321}">
                <p14:modId xmlns:p14="http://schemas.microsoft.com/office/powerpoint/2010/main" val="614081507"/>
              </p:ext>
            </p:extLst>
          </p:nvPr>
        </p:nvGraphicFramePr>
        <p:xfrm>
          <a:off x="165370" y="2002490"/>
          <a:ext cx="11770879" cy="2127840"/>
        </p:xfrm>
        <a:graphic>
          <a:graphicData uri="http://schemas.openxmlformats.org/drawingml/2006/table">
            <a:tbl>
              <a:tblPr firstRow="1" bandRow="1"/>
              <a:tblGrid>
                <a:gridCol w="5126477">
                  <a:extLst>
                    <a:ext uri="{9D8B030D-6E8A-4147-A177-3AD203B41FA5}">
                      <a16:colId xmlns:a16="http://schemas.microsoft.com/office/drawing/2014/main" val="20000"/>
                    </a:ext>
                  </a:extLst>
                </a:gridCol>
                <a:gridCol w="1361872">
                  <a:extLst>
                    <a:ext uri="{9D8B030D-6E8A-4147-A177-3AD203B41FA5}">
                      <a16:colId xmlns:a16="http://schemas.microsoft.com/office/drawing/2014/main" val="20001"/>
                    </a:ext>
                  </a:extLst>
                </a:gridCol>
                <a:gridCol w="1138136">
                  <a:extLst>
                    <a:ext uri="{9D8B030D-6E8A-4147-A177-3AD203B41FA5}">
                      <a16:colId xmlns:a16="http://schemas.microsoft.com/office/drawing/2014/main" val="20002"/>
                    </a:ext>
                  </a:extLst>
                </a:gridCol>
                <a:gridCol w="4144394">
                  <a:extLst>
                    <a:ext uri="{9D8B030D-6E8A-4147-A177-3AD203B41FA5}">
                      <a16:colId xmlns:a16="http://schemas.microsoft.com/office/drawing/2014/main" val="20005"/>
                    </a:ext>
                  </a:extLst>
                </a:gridCol>
              </a:tblGrid>
              <a:tr h="26287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Key Deliverables</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R/A/G</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Delivery Date</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Remarks on progress</a:t>
                      </a:r>
                      <a:endParaRPr lang="en-US" sz="1400"/>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23743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buFont typeface="Arial" panose="020B0604020202020204" pitchFamily="34" charset="0"/>
                        <a:buNone/>
                      </a:pPr>
                      <a:r>
                        <a:rPr lang="en-US" sz="1100">
                          <a:latin typeface="+mn-lt"/>
                        </a:rPr>
                        <a:t>Documenting requirements and preparatory sessions</a:t>
                      </a:r>
                    </a:p>
                  </a:txBody>
                  <a:tcPr marL="36000" marR="36000" marT="36000" marB="3600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a:solidFill>
                            <a:schemeClr val="bg1"/>
                          </a:solidFill>
                        </a:rPr>
                        <a:t>G</a:t>
                      </a:r>
                    </a:p>
                  </a:txBody>
                  <a:tcPr marL="36000" marR="36000" marT="36000" marB="3600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latin typeface="+mn-lt"/>
                        </a:rPr>
                        <a:t>30/6/</a:t>
                      </a:r>
                      <a:r>
                        <a:rPr lang="el-GR" sz="1100">
                          <a:latin typeface="+mn-lt"/>
                        </a:rPr>
                        <a:t>20</a:t>
                      </a:r>
                      <a:r>
                        <a:rPr lang="en-US" sz="1100">
                          <a:latin typeface="+mn-lt"/>
                        </a:rPr>
                        <a:t>24</a:t>
                      </a:r>
                    </a:p>
                  </a:txBody>
                  <a:tcPr marL="36000" marR="36000" marT="36000" marB="3600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100" kern="1200">
                          <a:solidFill>
                            <a:schemeClr val="dk1"/>
                          </a:solidFill>
                          <a:latin typeface="+mn-lt"/>
                          <a:ea typeface="+mn-ea"/>
                          <a:cs typeface="+mn-cs"/>
                        </a:rPr>
                        <a:t>Completed</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r h="237432">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indent="0">
                        <a:buFont typeface="Arial" panose="020B0604020202020204" pitchFamily="34" charset="0"/>
                        <a:buNone/>
                      </a:pPr>
                      <a:r>
                        <a:rPr lang="en-US" sz="1100" kern="1200">
                          <a:solidFill>
                            <a:schemeClr val="dk1"/>
                          </a:solidFill>
                          <a:latin typeface="+mn-lt"/>
                          <a:ea typeface="+mn-ea"/>
                          <a:cs typeface="+mn-cs"/>
                        </a:rPr>
                        <a:t>Vendor negotiation, estimation of effort, and discussion to resolve queries</a:t>
                      </a:r>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a:solidFill>
                            <a:schemeClr val="bg1"/>
                          </a:solidFill>
                        </a:rPr>
                        <a:t>G</a:t>
                      </a:r>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kern="1200" noProof="0">
                          <a:solidFill>
                            <a:schemeClr val="dk1"/>
                          </a:solidFill>
                          <a:latin typeface="+mn-lt"/>
                          <a:ea typeface="+mn-ea"/>
                          <a:cs typeface="+mn-cs"/>
                        </a:rPr>
                        <a:t>17/9/2024</a:t>
                      </a:r>
                    </a:p>
                  </a:txBody>
                  <a:tcPr marL="36000" marR="36000" marT="36000" marB="36000"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100" kern="1200">
                          <a:solidFill>
                            <a:schemeClr val="dk1"/>
                          </a:solidFill>
                          <a:latin typeface="+mn-lt"/>
                          <a:ea typeface="+mn-ea"/>
                          <a:cs typeface="+mn-cs"/>
                        </a:rPr>
                        <a:t>Completed</a:t>
                      </a:r>
                    </a:p>
                  </a:txBody>
                  <a:tcPr marL="36000" marR="36000" marT="36000" marB="3600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2"/>
                  </a:ext>
                </a:extLst>
              </a:tr>
              <a:tr h="237432">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a:latin typeface="+mn-lt"/>
                        </a:rPr>
                        <a:t>Deciding on implementation based on vendor feedback and effort estimates</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E5684"/>
                          </a:solidFill>
                          <a:effectLst/>
                          <a:uLnTx/>
                          <a:uFillTx/>
                          <a:latin typeface="+mn-lt"/>
                          <a:ea typeface="+mn-ea"/>
                          <a:cs typeface="+mn-cs"/>
                        </a:rPr>
                        <a:t>20/9/2024</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100" kern="1200">
                          <a:solidFill>
                            <a:schemeClr val="dk1"/>
                          </a:solidFill>
                          <a:latin typeface="+mn-lt"/>
                          <a:ea typeface="+mn-ea"/>
                          <a:cs typeface="+mn-cs"/>
                        </a:rPr>
                        <a:t>Completed</a:t>
                      </a:r>
                    </a:p>
                  </a:txBody>
                  <a:tcPr marL="36000" marR="36000" marT="36000" marB="3600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174709326"/>
                  </a:ext>
                </a:extLst>
              </a:tr>
              <a:tr h="831012">
                <a:tc>
                  <a:txBody>
                    <a:bodyPr/>
                    <a:lstStyle/>
                    <a:p>
                      <a:pPr marL="0" indent="0">
                        <a:buFont typeface="Arial" panose="020B0604020202020204" pitchFamily="34" charset="0"/>
                        <a:buNone/>
                      </a:pPr>
                      <a:r>
                        <a:rPr lang="en-US" sz="1100">
                          <a:latin typeface="+mn-lt"/>
                        </a:rPr>
                        <a:t>The implementation phase will be worked in 4 batches, following the process: </a:t>
                      </a:r>
                      <a:r>
                        <a:rPr lang="en-US" sz="1100" kern="1200">
                          <a:solidFill>
                            <a:schemeClr val="dk1"/>
                          </a:solidFill>
                          <a:latin typeface="+mn-lt"/>
                          <a:ea typeface="+mn-ea"/>
                          <a:cs typeface="+mn-cs"/>
                        </a:rPr>
                        <a:t>Analysis of Business need</a:t>
                      </a:r>
                      <a:r>
                        <a:rPr lang="en-US" sz="1100">
                          <a:latin typeface="+mn-lt"/>
                        </a:rPr>
                        <a:t>→ Technical Analysis →Data Management review → Specifications Finalization → Vendor Effort Estimation → Implementation → Testing → GO-live. </a:t>
                      </a:r>
                    </a:p>
                    <a:p>
                      <a:pPr marL="0" indent="0">
                        <a:buFont typeface="Arial" panose="020B0604020202020204" pitchFamily="34" charset="0"/>
                        <a:buNone/>
                      </a:pPr>
                      <a:r>
                        <a:rPr lang="en-US" sz="1100" i="1">
                          <a:latin typeface="+mn-lt"/>
                        </a:rPr>
                        <a:t>Note: The timeline for each batch is dynamic and will depend on the effort estimation provided by the vendor for each CR. Specific dates for each phase will be finalized as we progress.</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a:solidFill>
                            <a:schemeClr val="bg1"/>
                          </a:solidFill>
                        </a:rPr>
                        <a:t>A</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E7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100" b="0" i="0" u="none" strike="noStrike" kern="1200" cap="none" spc="0" normalizeH="0" baseline="0" noProof="0">
                          <a:ln>
                            <a:noFill/>
                          </a:ln>
                          <a:solidFill>
                            <a:srgbClr val="2E5684"/>
                          </a:solidFill>
                          <a:effectLst/>
                          <a:uLnTx/>
                          <a:uFillTx/>
                          <a:latin typeface="+mn-lt"/>
                          <a:ea typeface="+mn-ea"/>
                          <a:cs typeface="+mn-cs"/>
                        </a:rPr>
                        <a:t>29</a:t>
                      </a:r>
                      <a:r>
                        <a:rPr lang="en-US" sz="1100" b="0" i="0" u="none" strike="noStrike" kern="1200" cap="none" spc="0" normalizeH="0" baseline="0" noProof="0">
                          <a:ln>
                            <a:noFill/>
                          </a:ln>
                          <a:solidFill>
                            <a:srgbClr val="2E5684"/>
                          </a:solidFill>
                          <a:effectLst/>
                          <a:uLnTx/>
                          <a:uFillTx/>
                          <a:latin typeface="+mn-lt"/>
                          <a:ea typeface="+mn-ea"/>
                          <a:cs typeface="+mn-cs"/>
                        </a:rPr>
                        <a:t>/</a:t>
                      </a:r>
                      <a:r>
                        <a:rPr lang="el-GR" sz="1100" b="0" i="0" u="none" strike="noStrike" kern="1200" cap="none" spc="0" normalizeH="0" baseline="0" noProof="0">
                          <a:ln>
                            <a:noFill/>
                          </a:ln>
                          <a:solidFill>
                            <a:srgbClr val="2E5684"/>
                          </a:solidFill>
                          <a:effectLst/>
                          <a:uLnTx/>
                          <a:uFillTx/>
                          <a:latin typeface="+mn-lt"/>
                          <a:ea typeface="+mn-ea"/>
                          <a:cs typeface="+mn-cs"/>
                        </a:rPr>
                        <a:t>7</a:t>
                      </a:r>
                      <a:r>
                        <a:rPr lang="en-US" sz="1100" b="0" i="0" u="none" strike="noStrike" kern="1200" cap="none" spc="0" normalizeH="0" baseline="0" noProof="0">
                          <a:ln>
                            <a:noFill/>
                          </a:ln>
                          <a:solidFill>
                            <a:srgbClr val="2E5684"/>
                          </a:solidFill>
                          <a:effectLst/>
                          <a:uLnTx/>
                          <a:uFillTx/>
                          <a:latin typeface="+mn-lt"/>
                          <a:ea typeface="+mn-ea"/>
                          <a:cs typeface="+mn-cs"/>
                        </a:rPr>
                        <a:t>/2025</a:t>
                      </a:r>
                      <a:endParaRPr kumimoji="0" lang="en-US" sz="1100" b="0" i="0" u="none" strike="noStrike" kern="1200" cap="none" spc="0" normalizeH="0" baseline="0" noProof="0">
                        <a:ln>
                          <a:noFill/>
                        </a:ln>
                        <a:solidFill>
                          <a:srgbClr val="2E5684"/>
                        </a:solidFill>
                        <a:effectLst/>
                        <a:uLnTx/>
                        <a:uFillTx/>
                        <a:latin typeface="+mn-lt"/>
                        <a:ea typeface="+mn-ea"/>
                        <a:cs typeface="+mn-cs"/>
                      </a:endParaRPr>
                    </a:p>
                    <a:p>
                      <a:pPr lvl="0" algn="ctr"/>
                      <a:endParaRPr lang="en-US" sz="1400">
                        <a:latin typeface="+mn-lt"/>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kern="1200">
                          <a:solidFill>
                            <a:schemeClr val="dk1"/>
                          </a:solidFill>
                          <a:latin typeface="+mn-lt"/>
                          <a:ea typeface="+mn-ea"/>
                          <a:cs typeface="+mn-cs"/>
                        </a:rPr>
                        <a:t>In Progress</a:t>
                      </a:r>
                    </a:p>
                  </a:txBody>
                  <a:tcPr marL="36000" marR="36000" marT="36000" marB="3600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4128952010"/>
                  </a:ext>
                </a:extLst>
              </a:tr>
            </a:tbl>
          </a:graphicData>
        </a:graphic>
      </p:graphicFrame>
      <p:graphicFrame>
        <p:nvGraphicFramePr>
          <p:cNvPr id="19" name="Table 18">
            <a:extLst>
              <a:ext uri="{FF2B5EF4-FFF2-40B4-BE49-F238E27FC236}">
                <a16:creationId xmlns:a16="http://schemas.microsoft.com/office/drawing/2014/main" id="{99CBEDC5-C31A-BC11-0066-CE9C1E133E79}"/>
              </a:ext>
            </a:extLst>
          </p:cNvPr>
          <p:cNvGraphicFramePr>
            <a:graphicFrameLocks noGrp="1"/>
          </p:cNvGraphicFramePr>
          <p:nvPr>
            <p:extLst>
              <p:ext uri="{D42A27DB-BD31-4B8C-83A1-F6EECF244321}">
                <p14:modId xmlns:p14="http://schemas.microsoft.com/office/powerpoint/2010/main" val="2807848014"/>
              </p:ext>
            </p:extLst>
          </p:nvPr>
        </p:nvGraphicFramePr>
        <p:xfrm>
          <a:off x="178740" y="3941703"/>
          <a:ext cx="11757438" cy="1519343"/>
        </p:xfrm>
        <a:graphic>
          <a:graphicData uri="http://schemas.openxmlformats.org/drawingml/2006/table">
            <a:tbl>
              <a:tblPr>
                <a:tableStyleId>{5C22544A-7EE6-4342-B048-85BDC9FD1C3A}</a:tableStyleId>
              </a:tblPr>
              <a:tblGrid>
                <a:gridCol w="5113107">
                  <a:extLst>
                    <a:ext uri="{9D8B030D-6E8A-4147-A177-3AD203B41FA5}">
                      <a16:colId xmlns:a16="http://schemas.microsoft.com/office/drawing/2014/main" val="3768886055"/>
                    </a:ext>
                  </a:extLst>
                </a:gridCol>
                <a:gridCol w="6644331">
                  <a:extLst>
                    <a:ext uri="{9D8B030D-6E8A-4147-A177-3AD203B41FA5}">
                      <a16:colId xmlns:a16="http://schemas.microsoft.com/office/drawing/2014/main" val="2712732260"/>
                    </a:ext>
                  </a:extLst>
                </a:gridCol>
              </a:tblGrid>
              <a:tr h="262043">
                <a:tc>
                  <a:txBody>
                    <a:bodyPr/>
                    <a:lstStyle/>
                    <a:p>
                      <a:pPr algn="ctr" fontAlgn="ctr"/>
                      <a:r>
                        <a:rPr lang="en-US" sz="1200" b="1" u="none" strike="noStrike">
                          <a:effectLst/>
                        </a:rPr>
                        <a:t>Activities Performed &amp; Milestones Achieved</a:t>
                      </a:r>
                      <a:endParaRPr lang="en-US" sz="12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tc>
                  <a:txBody>
                    <a:bodyPr/>
                    <a:lstStyle/>
                    <a:p>
                      <a:pPr marL="171450" indent="-171450" algn="ctr" fontAlgn="ctr">
                        <a:buFont typeface="Arial" panose="020B0604020202020204" pitchFamily="34" charset="0"/>
                        <a:buChar char="•"/>
                      </a:pPr>
                      <a:r>
                        <a:rPr lang="en-US" sz="1200" b="1" u="none" strike="noStrike">
                          <a:effectLst/>
                        </a:rPr>
                        <a:t>Major Action Items - Upcoming Activities - Comments</a:t>
                      </a:r>
                      <a:endParaRPr lang="en-US" sz="12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extLst>
                  <a:ext uri="{0D108BD9-81ED-4DB2-BD59-A6C34878D82A}">
                    <a16:rowId xmlns:a16="http://schemas.microsoft.com/office/drawing/2014/main" val="2763828571"/>
                  </a:ext>
                </a:extLst>
              </a:tr>
              <a:tr h="1100579">
                <a:tc>
                  <a:txBody>
                    <a:bodyPr/>
                    <a:lstStyle/>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200"/>
                        <a:t>The first three batches, including a total of 16 CRs, are now live across all platforms (Web, iOS, Android, Huawei).</a:t>
                      </a:r>
                      <a:endParaRPr lang="el-GR" sz="1200"/>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200"/>
                        <a:t>The third batch (Campaigns, Performance, Apple Pay Integration, DeepLink, Zero Balance Mandate, MFA) went live on 27/05/2025.</a:t>
                      </a:r>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200"/>
                        <a:t>The 4th batch is currently under implementation and will conclude the My Elpedison 2024 roadmap.</a:t>
                      </a:r>
                    </a:p>
                  </a:txBody>
                  <a:tcPr marL="0" marR="0" marT="0" marB="0">
                    <a:solidFill>
                      <a:schemeClr val="accent4">
                        <a:lumMod val="20000"/>
                        <a:lumOff val="80000"/>
                      </a:schemeClr>
                    </a:solidFill>
                  </a:tcPr>
                </a:tc>
                <a:tc>
                  <a:txBody>
                    <a:bodyPr/>
                    <a:lstStyle/>
                    <a:p>
                      <a:pPr marL="171450" indent="-171450">
                        <a:buFont typeface="Arial" panose="020B0604020202020204" pitchFamily="34" charset="0"/>
                        <a:buChar char="•"/>
                      </a:pPr>
                      <a:r>
                        <a:rPr lang="en-US" sz="1200"/>
                        <a:t>The 4th batch includes the following CRs:</a:t>
                      </a:r>
                      <a:r>
                        <a:rPr lang="el-GR" sz="1200"/>
                        <a:t> </a:t>
                      </a:r>
                      <a:r>
                        <a:rPr lang="en-US" sz="1200" b="1"/>
                        <a:t>Relocation Request</a:t>
                      </a:r>
                      <a:r>
                        <a:rPr lang="en-US" sz="1200"/>
                        <a:t>, </a:t>
                      </a:r>
                      <a:r>
                        <a:rPr lang="en-US" sz="1200" b="1"/>
                        <a:t>Outstanding Balance Arrangement</a:t>
                      </a:r>
                      <a:r>
                        <a:rPr lang="en-US" sz="1200"/>
                        <a:t>, </a:t>
                      </a:r>
                      <a:r>
                        <a:rPr lang="en-US" sz="1200" b="1"/>
                        <a:t>Wording Improvements</a:t>
                      </a:r>
                      <a:r>
                        <a:rPr lang="en-US" sz="1200"/>
                        <a:t>,</a:t>
                      </a:r>
                      <a:r>
                        <a:rPr lang="el-GR" sz="1200"/>
                        <a:t> </a:t>
                      </a:r>
                      <a:r>
                        <a:rPr lang="en-US" sz="1200" b="1"/>
                        <a:t>Validation for Existing Arrangement</a:t>
                      </a:r>
                      <a:r>
                        <a:rPr lang="en-US" sz="1200"/>
                        <a:t>, </a:t>
                      </a:r>
                      <a:r>
                        <a:rPr lang="en-US" sz="1200" b="1"/>
                        <a:t>Payment Issue on iOS</a:t>
                      </a:r>
                      <a:r>
                        <a:rPr lang="en-US" sz="1200"/>
                        <a:t>, </a:t>
                      </a:r>
                      <a:r>
                        <a:rPr lang="en-US" sz="1200" b="1"/>
                        <a:t>Campaigns Dashboard</a:t>
                      </a:r>
                      <a:r>
                        <a:rPr lang="en-US" sz="1200"/>
                        <a:t>,</a:t>
                      </a:r>
                      <a:br>
                        <a:rPr lang="en-US" sz="1200"/>
                      </a:br>
                      <a:r>
                        <a:rPr lang="en-US" sz="1200" b="1"/>
                        <a:t>New Supply Request</a:t>
                      </a:r>
                      <a:r>
                        <a:rPr lang="en-US" sz="1200"/>
                        <a:t>, </a:t>
                      </a:r>
                      <a:r>
                        <a:rPr lang="en-US" sz="1200" b="1"/>
                        <a:t>GOV Data Update</a:t>
                      </a:r>
                      <a:endParaRPr lang="en-US" sz="1200"/>
                    </a:p>
                    <a:p>
                      <a:pPr marL="171450" indent="-171450">
                        <a:buFont typeface="Arial" panose="020B0604020202020204" pitchFamily="34" charset="0"/>
                        <a:buChar char="•"/>
                      </a:pPr>
                      <a:r>
                        <a:rPr lang="en-US" sz="1200" b="1"/>
                        <a:t>Go-live</a:t>
                      </a:r>
                      <a:r>
                        <a:rPr lang="en-US" sz="1200"/>
                        <a:t>: 29/07/2025</a:t>
                      </a:r>
                    </a:p>
                    <a:p>
                      <a:pPr marL="171450" indent="-171450">
                        <a:buFont typeface="Arial" panose="020B0604020202020204" pitchFamily="34" charset="0"/>
                        <a:buChar char="•"/>
                      </a:pPr>
                      <a:r>
                        <a:rPr lang="en-US" sz="1200"/>
                        <a:t>This release marks the completion of the My Elpedison 2024 roadmap.</a:t>
                      </a:r>
                    </a:p>
                    <a:p>
                      <a:pPr marL="171450" indent="-171450">
                        <a:buFont typeface="Arial" panose="020B0604020202020204" pitchFamily="34" charset="0"/>
                        <a:buChar char="•"/>
                      </a:pPr>
                      <a:endParaRPr lang="en-US" sz="1050"/>
                    </a:p>
                  </a:txBody>
                  <a:tcPr marL="0" marR="0" marT="0" marB="0">
                    <a:solidFill>
                      <a:schemeClr val="accent4">
                        <a:lumMod val="20000"/>
                        <a:lumOff val="80000"/>
                      </a:schemeClr>
                    </a:solidFill>
                  </a:tcPr>
                </a:tc>
                <a:extLst>
                  <a:ext uri="{0D108BD9-81ED-4DB2-BD59-A6C34878D82A}">
                    <a16:rowId xmlns:a16="http://schemas.microsoft.com/office/drawing/2014/main" val="2561788850"/>
                  </a:ext>
                </a:extLst>
              </a:tr>
            </a:tbl>
          </a:graphicData>
        </a:graphic>
      </p:graphicFrame>
      <p:graphicFrame>
        <p:nvGraphicFramePr>
          <p:cNvPr id="10" name="Table 9">
            <a:extLst>
              <a:ext uri="{FF2B5EF4-FFF2-40B4-BE49-F238E27FC236}">
                <a16:creationId xmlns:a16="http://schemas.microsoft.com/office/drawing/2014/main" id="{D452EF0C-8F3B-7CFB-27D4-CF894305E3B3}"/>
              </a:ext>
            </a:extLst>
          </p:cNvPr>
          <p:cNvGraphicFramePr>
            <a:graphicFrameLocks noGrp="1"/>
          </p:cNvGraphicFramePr>
          <p:nvPr>
            <p:extLst>
              <p:ext uri="{D42A27DB-BD31-4B8C-83A1-F6EECF244321}">
                <p14:modId xmlns:p14="http://schemas.microsoft.com/office/powerpoint/2010/main" val="303354358"/>
              </p:ext>
            </p:extLst>
          </p:nvPr>
        </p:nvGraphicFramePr>
        <p:xfrm>
          <a:off x="165370" y="5295242"/>
          <a:ext cx="11784320" cy="1539172"/>
        </p:xfrm>
        <a:graphic>
          <a:graphicData uri="http://schemas.openxmlformats.org/drawingml/2006/table">
            <a:tbl>
              <a:tblPr>
                <a:tableStyleId>{5C22544A-7EE6-4342-B048-85BDC9FD1C3A}</a:tableStyleId>
              </a:tblPr>
              <a:tblGrid>
                <a:gridCol w="5126477">
                  <a:extLst>
                    <a:ext uri="{9D8B030D-6E8A-4147-A177-3AD203B41FA5}">
                      <a16:colId xmlns:a16="http://schemas.microsoft.com/office/drawing/2014/main" val="2003250863"/>
                    </a:ext>
                  </a:extLst>
                </a:gridCol>
                <a:gridCol w="807396">
                  <a:extLst>
                    <a:ext uri="{9D8B030D-6E8A-4147-A177-3AD203B41FA5}">
                      <a16:colId xmlns:a16="http://schemas.microsoft.com/office/drawing/2014/main" val="2445968811"/>
                    </a:ext>
                  </a:extLst>
                </a:gridCol>
                <a:gridCol w="5850447">
                  <a:extLst>
                    <a:ext uri="{9D8B030D-6E8A-4147-A177-3AD203B41FA5}">
                      <a16:colId xmlns:a16="http://schemas.microsoft.com/office/drawing/2014/main" val="187998877"/>
                    </a:ext>
                  </a:extLst>
                </a:gridCol>
              </a:tblGrid>
              <a:tr h="32715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u="none" strike="noStrike" kern="1200">
                          <a:solidFill>
                            <a:schemeClr val="bg1"/>
                          </a:solidFill>
                          <a:effectLst/>
                          <a:latin typeface="+mn-lt"/>
                          <a:ea typeface="+mn-ea"/>
                          <a:cs typeface="+mn-cs"/>
                        </a:rPr>
                        <a:t>Risk</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u="none" strike="noStrike" kern="1200">
                          <a:solidFill>
                            <a:schemeClr val="bg1"/>
                          </a:solidFill>
                          <a:effectLst/>
                          <a:latin typeface="+mn-lt"/>
                          <a:ea typeface="+mn-ea"/>
                          <a:cs typeface="+mn-cs"/>
                        </a:rPr>
                        <a:t>Risk Assessment</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u="none" strike="noStrike" kern="1200">
                          <a:solidFill>
                            <a:schemeClr val="bg1"/>
                          </a:solidFill>
                          <a:effectLst/>
                          <a:latin typeface="+mn-lt"/>
                          <a:ea typeface="+mn-ea"/>
                          <a:cs typeface="+mn-cs"/>
                        </a:rPr>
                        <a:t>Mitigation Actions</a:t>
                      </a:r>
                    </a:p>
                  </a:txBody>
                  <a:tcPr marL="0" marR="0" marT="0" marB="0" anchor="ctr">
                    <a:solidFill>
                      <a:schemeClr val="accent1"/>
                    </a:solidFill>
                  </a:tcPr>
                </a:tc>
                <a:extLst>
                  <a:ext uri="{0D108BD9-81ED-4DB2-BD59-A6C34878D82A}">
                    <a16:rowId xmlns:a16="http://schemas.microsoft.com/office/drawing/2014/main" val="2763828571"/>
                  </a:ext>
                </a:extLst>
              </a:tr>
              <a:tr h="379535">
                <a:tc>
                  <a:txBody>
                    <a:bodyPr/>
                    <a:lstStyle/>
                    <a:p>
                      <a:r>
                        <a:rPr lang="en-US" sz="1050">
                          <a:effectLst/>
                        </a:rPr>
                        <a:t>Resource Allocation</a:t>
                      </a:r>
                    </a:p>
                  </a:txBody>
                  <a:tcPr marL="38100" marR="38100" marT="38100" marB="38100" anchor="ctr">
                    <a:solidFill>
                      <a:schemeClr val="accent4">
                        <a:lumMod val="20000"/>
                        <a:lumOff val="80000"/>
                      </a:schemeClr>
                    </a:solidFill>
                  </a:tcPr>
                </a:tc>
                <a:tc>
                  <a:txBody>
                    <a:bodyPr/>
                    <a:lstStyle/>
                    <a:p>
                      <a:pPr algn="ctr"/>
                      <a:r>
                        <a:rPr lang="en-US" sz="1050" b="1">
                          <a:solidFill>
                            <a:schemeClr val="bg1"/>
                          </a:solidFill>
                        </a:rPr>
                        <a:t>M</a:t>
                      </a:r>
                      <a:endParaRPr lang="en-US" sz="1050" b="1">
                        <a:solidFill>
                          <a:schemeClr val="bg1"/>
                        </a:solidFill>
                        <a:effectLst/>
                      </a:endParaRPr>
                    </a:p>
                  </a:txBody>
                  <a:tcPr marL="38100" marR="38100" marT="38100" marB="38100" anchor="ctr">
                    <a:solidFill>
                      <a:srgbClr val="E6831E"/>
                    </a:solidFill>
                  </a:tcPr>
                </a:tc>
                <a:tc>
                  <a:txBody>
                    <a:bodyPr/>
                    <a:lstStyle/>
                    <a:p>
                      <a:r>
                        <a:rPr lang="en-US" sz="1050">
                          <a:latin typeface="+mn-lt"/>
                        </a:rPr>
                        <a:t>Schedule specific calls and trainings to ensure resources are available and skilled to meet project deadlines.</a:t>
                      </a:r>
                      <a:endParaRPr lang="en-US" sz="1050">
                        <a:effectLst/>
                        <a:latin typeface="+mn-lt"/>
                      </a:endParaRPr>
                    </a:p>
                  </a:txBody>
                  <a:tcPr marL="38100" marR="38100" marT="38100" marB="38100" anchor="ctr">
                    <a:solidFill>
                      <a:schemeClr val="accent4">
                        <a:lumMod val="20000"/>
                        <a:lumOff val="80000"/>
                      </a:schemeClr>
                    </a:solidFill>
                  </a:tcPr>
                </a:tc>
                <a:extLst>
                  <a:ext uri="{0D108BD9-81ED-4DB2-BD59-A6C34878D82A}">
                    <a16:rowId xmlns:a16="http://schemas.microsoft.com/office/drawing/2014/main" val="2561788850"/>
                  </a:ext>
                </a:extLst>
              </a:tr>
              <a:tr h="379535">
                <a:tc>
                  <a:txBody>
                    <a:bodyPr/>
                    <a:lstStyle/>
                    <a:p>
                      <a:r>
                        <a:rPr lang="en-US" sz="1050"/>
                        <a:t>Delays in vendor negotiations and effort estimation</a:t>
                      </a:r>
                      <a:endParaRPr lang="en-US" sz="1050">
                        <a:effectLst/>
                      </a:endParaRPr>
                    </a:p>
                  </a:txBody>
                  <a:tcPr marL="38100" marR="38100" marT="38100" marB="38100" anchor="c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050" b="1">
                          <a:solidFill>
                            <a:schemeClr val="bg1"/>
                          </a:solidFill>
                          <a:effectLst/>
                        </a:rPr>
                        <a:t>Μ</a:t>
                      </a:r>
                      <a:endParaRPr lang="en-US" sz="1050" b="1">
                        <a:solidFill>
                          <a:schemeClr val="bg1"/>
                        </a:solidFill>
                        <a:effectLst/>
                      </a:endParaRPr>
                    </a:p>
                  </a:txBody>
                  <a:tcPr marL="38100" marR="38100" marT="38100" marB="38100" anchor="ctr">
                    <a:solidFill>
                      <a:srgbClr val="E6831E"/>
                    </a:solidFill>
                  </a:tcPr>
                </a:tc>
                <a:tc>
                  <a:txBody>
                    <a:bodyPr/>
                    <a:lstStyle/>
                    <a:p>
                      <a:r>
                        <a:rPr lang="en-US" sz="1050">
                          <a:latin typeface="+mn-lt"/>
                        </a:rPr>
                        <a:t>Regular follow-ups with the vendor/ procurement and clear communication of requirements to expedite the process.</a:t>
                      </a:r>
                      <a:endParaRPr lang="en-US" sz="1050">
                        <a:effectLst/>
                        <a:latin typeface="+mn-lt"/>
                      </a:endParaRPr>
                    </a:p>
                  </a:txBody>
                  <a:tcPr marL="38100" marR="38100" marT="38100" marB="38100" anchor="ctr">
                    <a:solidFill>
                      <a:schemeClr val="accent4">
                        <a:lumMod val="20000"/>
                        <a:lumOff val="80000"/>
                      </a:schemeClr>
                    </a:solidFill>
                  </a:tcPr>
                </a:tc>
                <a:extLst>
                  <a:ext uri="{0D108BD9-81ED-4DB2-BD59-A6C34878D82A}">
                    <a16:rowId xmlns:a16="http://schemas.microsoft.com/office/drawing/2014/main" val="889557921"/>
                  </a:ext>
                </a:extLst>
              </a:tr>
              <a:tr h="419538">
                <a:tc>
                  <a:txBody>
                    <a:bodyPr/>
                    <a:lstStyle/>
                    <a:p>
                      <a:pPr lvl="0">
                        <a:buNone/>
                      </a:pPr>
                      <a:r>
                        <a:rPr lang="en-US" sz="1050" kern="1200" noProof="0">
                          <a:solidFill>
                            <a:schemeClr val="dk1"/>
                          </a:solidFill>
                          <a:latin typeface="+mn-lt"/>
                          <a:ea typeface="+mn-ea"/>
                          <a:cs typeface="+mn-cs"/>
                        </a:rPr>
                        <a:t>Quality of UAT Deliverables</a:t>
                      </a:r>
                    </a:p>
                  </a:txBody>
                  <a:tcPr marL="38099" marR="38099" marT="38099" marB="38099" anchor="ctr">
                    <a:solidFill>
                      <a:schemeClr val="accent4">
                        <a:lumMod val="20000"/>
                        <a:lumOff val="80000"/>
                      </a:schemeClr>
                    </a:solidFill>
                  </a:tcPr>
                </a:tc>
                <a:tc>
                  <a:txBody>
                    <a:bodyPr/>
                    <a:lstStyle/>
                    <a:p>
                      <a:pPr lvl="0" algn="ctr">
                        <a:buNone/>
                      </a:pPr>
                      <a:r>
                        <a:rPr lang="en-US" sz="1050" b="1" kern="1200">
                          <a:solidFill>
                            <a:schemeClr val="bg1"/>
                          </a:solidFill>
                          <a:latin typeface="+mn-lt"/>
                          <a:ea typeface="+mn-ea"/>
                          <a:cs typeface="+mn-cs"/>
                        </a:rPr>
                        <a:t>M</a:t>
                      </a:r>
                    </a:p>
                  </a:txBody>
                  <a:tcPr marL="38099" marR="38099" marT="38099" marB="38099" anchor="ctr">
                    <a:solidFill>
                      <a:srgbClr val="EE7F00"/>
                    </a:solidFill>
                  </a:tcPr>
                </a:tc>
                <a:tc>
                  <a:txBody>
                    <a:bodyPr/>
                    <a:lstStyle/>
                    <a:p>
                      <a:pPr lvl="0">
                        <a:buNone/>
                      </a:pPr>
                      <a:r>
                        <a:rPr lang="en-US" sz="1050" b="0" i="0" u="none" strike="noStrike" baseline="0" noProof="0">
                          <a:solidFill>
                            <a:srgbClr val="2E5684"/>
                          </a:solidFill>
                          <a:latin typeface="+mn-lt"/>
                        </a:rPr>
                        <a:t>To mitigate the risk of unsatisfactory UAT results affecting the feature launch time, we will implement thorough UAT plans and regular reviews to ensure quality standards are met before proceeding.</a:t>
                      </a:r>
                      <a:endParaRPr lang="en-US" sz="1050">
                        <a:latin typeface="+mn-lt"/>
                      </a:endParaRPr>
                    </a:p>
                  </a:txBody>
                  <a:tcPr marL="38099" marR="38099" marT="38099" marB="38099" anchor="ctr">
                    <a:solidFill>
                      <a:schemeClr val="accent4">
                        <a:lumMod val="20000"/>
                        <a:lumOff val="80000"/>
                      </a:schemeClr>
                    </a:solidFill>
                  </a:tcPr>
                </a:tc>
                <a:extLst>
                  <a:ext uri="{0D108BD9-81ED-4DB2-BD59-A6C34878D82A}">
                    <a16:rowId xmlns:a16="http://schemas.microsoft.com/office/drawing/2014/main" val="9503985"/>
                  </a:ext>
                </a:extLst>
              </a:tr>
            </a:tbl>
          </a:graphicData>
        </a:graphic>
      </p:graphicFrame>
    </p:spTree>
    <p:extLst>
      <p:ext uri="{BB962C8B-B14F-4D97-AF65-F5344CB8AC3E}">
        <p14:creationId xmlns:p14="http://schemas.microsoft.com/office/powerpoint/2010/main" val="1910806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CF3472-8FA4-8C4F-868D-2C759477A0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5</a:t>
            </a:fld>
            <a:endParaRPr lang="en-US"/>
          </a:p>
        </p:txBody>
      </p:sp>
      <p:sp>
        <p:nvSpPr>
          <p:cNvPr id="4" name="Slide Number Placeholder 1">
            <a:extLst>
              <a:ext uri="{FF2B5EF4-FFF2-40B4-BE49-F238E27FC236}">
                <a16:creationId xmlns:a16="http://schemas.microsoft.com/office/drawing/2014/main" id="{AEC4B26A-7BC3-42F8-65F1-55529F222BD4}"/>
              </a:ext>
            </a:extLst>
          </p:cNvPr>
          <p:cNvSpPr txBox="1">
            <a:spLocks/>
          </p:cNvSpPr>
          <p:nvPr/>
        </p:nvSpPr>
        <p:spPr>
          <a:xfrm>
            <a:off x="8610600" y="6356350"/>
            <a:ext cx="2743200" cy="365125"/>
          </a:xfrm>
          <a:prstGeom prst="rect">
            <a:avLst/>
          </a:prstGeom>
          <a:noFill/>
          <a:ln>
            <a:noFill/>
          </a:ln>
        </p:spPr>
        <p:txBody>
          <a:bodyPr spcFirstLastPara="1" vert="horz" wrap="square" lIns="91425" tIns="45700" rIns="91425" bIns="45700" rtlCol="0" anchor="ctr" anchorCtr="0">
            <a:noAutofit/>
          </a:bodyPr>
          <a:lstStyle>
            <a:defPPr>
              <a:defRPr lang="en-US"/>
            </a:defPPr>
            <a:lvl1pPr marL="0" lvl="0" indent="0" algn="r" defTabSz="914400" rtl="0" eaLnBrk="1" latinLnBrk="0" hangingPunct="1">
              <a:spcBef>
                <a:spcPts val="0"/>
              </a:spcBef>
              <a:buNone/>
              <a:defRPr sz="1200" kern="1200">
                <a:solidFill>
                  <a:schemeClr val="tx1">
                    <a:tint val="75000"/>
                  </a:schemeClr>
                </a:solidFill>
                <a:latin typeface="+mn-lt"/>
                <a:ea typeface="+mn-ea"/>
                <a:cs typeface="+mn-cs"/>
              </a:defRPr>
            </a:lvl1pPr>
            <a:lvl2pPr marL="0" lvl="1" indent="0" algn="r" defTabSz="914400" rtl="0" eaLnBrk="1" latinLnBrk="0" hangingPunct="1">
              <a:spcBef>
                <a:spcPts val="0"/>
              </a:spcBef>
              <a:buNone/>
              <a:defRPr sz="1800" kern="1200">
                <a:solidFill>
                  <a:schemeClr val="tx1"/>
                </a:solidFill>
                <a:latin typeface="+mn-lt"/>
                <a:ea typeface="+mn-ea"/>
                <a:cs typeface="+mn-cs"/>
              </a:defRPr>
            </a:lvl2pPr>
            <a:lvl3pPr marL="0" lvl="2" indent="0" algn="r" defTabSz="914400" rtl="0" eaLnBrk="1" latinLnBrk="0" hangingPunct="1">
              <a:spcBef>
                <a:spcPts val="0"/>
              </a:spcBef>
              <a:buNone/>
              <a:defRPr sz="1800" kern="1200">
                <a:solidFill>
                  <a:schemeClr val="tx1"/>
                </a:solidFill>
                <a:latin typeface="+mn-lt"/>
                <a:ea typeface="+mn-ea"/>
                <a:cs typeface="+mn-cs"/>
              </a:defRPr>
            </a:lvl3pPr>
            <a:lvl4pPr marL="0" lvl="3" indent="0" algn="r" defTabSz="914400" rtl="0" eaLnBrk="1" latinLnBrk="0" hangingPunct="1">
              <a:spcBef>
                <a:spcPts val="0"/>
              </a:spcBef>
              <a:buNone/>
              <a:defRPr sz="1800" kern="1200">
                <a:solidFill>
                  <a:schemeClr val="tx1"/>
                </a:solidFill>
                <a:latin typeface="+mn-lt"/>
                <a:ea typeface="+mn-ea"/>
                <a:cs typeface="+mn-cs"/>
              </a:defRPr>
            </a:lvl4pPr>
            <a:lvl5pPr marL="0" lvl="4" indent="0" algn="r" defTabSz="914400" rtl="0" eaLnBrk="1" latinLnBrk="0" hangingPunct="1">
              <a:spcBef>
                <a:spcPts val="0"/>
              </a:spcBef>
              <a:buNone/>
              <a:defRPr sz="1800" kern="1200">
                <a:solidFill>
                  <a:schemeClr val="tx1"/>
                </a:solidFill>
                <a:latin typeface="+mn-lt"/>
                <a:ea typeface="+mn-ea"/>
                <a:cs typeface="+mn-cs"/>
              </a:defRPr>
            </a:lvl5pPr>
            <a:lvl6pPr marL="0" lvl="5" indent="0" algn="r" defTabSz="914400" rtl="0" eaLnBrk="1" latinLnBrk="0" hangingPunct="1">
              <a:spcBef>
                <a:spcPts val="0"/>
              </a:spcBef>
              <a:buNone/>
              <a:defRPr sz="1800" kern="1200">
                <a:solidFill>
                  <a:schemeClr val="tx1"/>
                </a:solidFill>
                <a:latin typeface="+mn-lt"/>
                <a:ea typeface="+mn-ea"/>
                <a:cs typeface="+mn-cs"/>
              </a:defRPr>
            </a:lvl6pPr>
            <a:lvl7pPr marL="0" lvl="6" indent="0" algn="r" defTabSz="914400" rtl="0" eaLnBrk="1" latinLnBrk="0" hangingPunct="1">
              <a:spcBef>
                <a:spcPts val="0"/>
              </a:spcBef>
              <a:buNone/>
              <a:defRPr sz="1800" kern="1200">
                <a:solidFill>
                  <a:schemeClr val="tx1"/>
                </a:solidFill>
                <a:latin typeface="+mn-lt"/>
                <a:ea typeface="+mn-ea"/>
                <a:cs typeface="+mn-cs"/>
              </a:defRPr>
            </a:lvl7pPr>
            <a:lvl8pPr marL="0" lvl="7" indent="0" algn="r" defTabSz="914400" rtl="0" eaLnBrk="1" latinLnBrk="0" hangingPunct="1">
              <a:spcBef>
                <a:spcPts val="0"/>
              </a:spcBef>
              <a:buNone/>
              <a:defRPr sz="1800" kern="1200">
                <a:solidFill>
                  <a:schemeClr val="tx1"/>
                </a:solidFill>
                <a:latin typeface="+mn-lt"/>
                <a:ea typeface="+mn-ea"/>
                <a:cs typeface="+mn-cs"/>
              </a:defRPr>
            </a:lvl8pPr>
            <a:lvl9pPr marL="0" lvl="8" indent="0" algn="r" defTabSz="914400" rtl="0" eaLnBrk="1" latinLnBrk="0" hangingPunct="1">
              <a:spcBef>
                <a:spcPts val="0"/>
              </a:spcBef>
              <a:buNone/>
              <a:defRPr sz="1800" kern="1200">
                <a:solidFill>
                  <a:schemeClr val="tx1"/>
                </a:solidFill>
                <a:latin typeface="+mn-lt"/>
                <a:ea typeface="+mn-ea"/>
                <a:cs typeface="+mn-cs"/>
              </a:defRPr>
            </a:lvl9pPr>
          </a:lstStyle>
          <a:p>
            <a:pPr>
              <a:defRPr/>
            </a:pPr>
            <a:fld id="{00000000-1234-1234-1234-123412341234}" type="slidenum">
              <a:rPr lang="en-US" smtClean="0">
                <a:solidFill>
                  <a:srgbClr val="2E5684">
                    <a:tint val="75000"/>
                  </a:srgbClr>
                </a:solidFill>
                <a:latin typeface="Calibri" panose="020F0502020204030204"/>
              </a:rPr>
              <a:pPr>
                <a:defRPr/>
              </a:pPr>
              <a:t>5</a:t>
            </a:fld>
            <a:endParaRPr lang="en-US">
              <a:solidFill>
                <a:srgbClr val="2E5684">
                  <a:tint val="75000"/>
                </a:srgbClr>
              </a:solidFill>
              <a:latin typeface="Calibri" panose="020F0502020204030204"/>
            </a:endParaRPr>
          </a:p>
        </p:txBody>
      </p:sp>
      <p:graphicFrame>
        <p:nvGraphicFramePr>
          <p:cNvPr id="5" name="Content Placeholder 4">
            <a:extLst>
              <a:ext uri="{FF2B5EF4-FFF2-40B4-BE49-F238E27FC236}">
                <a16:creationId xmlns:a16="http://schemas.microsoft.com/office/drawing/2014/main" id="{C611F14C-0E0E-C820-F65E-D9C0F0365070}"/>
              </a:ext>
            </a:extLst>
          </p:cNvPr>
          <p:cNvGraphicFramePr>
            <a:graphicFrameLocks/>
          </p:cNvGraphicFramePr>
          <p:nvPr>
            <p:extLst>
              <p:ext uri="{D42A27DB-BD31-4B8C-83A1-F6EECF244321}">
                <p14:modId xmlns:p14="http://schemas.microsoft.com/office/powerpoint/2010/main" val="986011781"/>
              </p:ext>
            </p:extLst>
          </p:nvPr>
        </p:nvGraphicFramePr>
        <p:xfrm>
          <a:off x="5304064" y="16492"/>
          <a:ext cx="6613073" cy="695077"/>
        </p:xfrm>
        <a:graphic>
          <a:graphicData uri="http://schemas.openxmlformats.org/drawingml/2006/table">
            <a:tbl>
              <a:tblPr firstRow="1" bandRow="1"/>
              <a:tblGrid>
                <a:gridCol w="724595">
                  <a:extLst>
                    <a:ext uri="{9D8B030D-6E8A-4147-A177-3AD203B41FA5}">
                      <a16:colId xmlns:a16="http://schemas.microsoft.com/office/drawing/2014/main" val="20000"/>
                    </a:ext>
                  </a:extLst>
                </a:gridCol>
                <a:gridCol w="739303">
                  <a:extLst>
                    <a:ext uri="{9D8B030D-6E8A-4147-A177-3AD203B41FA5}">
                      <a16:colId xmlns:a16="http://schemas.microsoft.com/office/drawing/2014/main" val="20001"/>
                    </a:ext>
                  </a:extLst>
                </a:gridCol>
                <a:gridCol w="1712068">
                  <a:extLst>
                    <a:ext uri="{9D8B030D-6E8A-4147-A177-3AD203B41FA5}">
                      <a16:colId xmlns:a16="http://schemas.microsoft.com/office/drawing/2014/main" val="20002"/>
                    </a:ext>
                  </a:extLst>
                </a:gridCol>
                <a:gridCol w="2033080">
                  <a:extLst>
                    <a:ext uri="{9D8B030D-6E8A-4147-A177-3AD203B41FA5}">
                      <a16:colId xmlns:a16="http://schemas.microsoft.com/office/drawing/2014/main" val="3624839458"/>
                    </a:ext>
                  </a:extLst>
                </a:gridCol>
                <a:gridCol w="1404027">
                  <a:extLst>
                    <a:ext uri="{9D8B030D-6E8A-4147-A177-3AD203B41FA5}">
                      <a16:colId xmlns:a16="http://schemas.microsoft.com/office/drawing/2014/main" val="2847559459"/>
                    </a:ext>
                  </a:extLst>
                </a:gridCol>
              </a:tblGrid>
              <a:tr h="20602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SAP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JIRA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PM/BP</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Business Owner</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Involved Divisions</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435997">
                <a:tc>
                  <a:txBody>
                    <a:bodyPr/>
                    <a:lstStyle/>
                    <a:p>
                      <a:pPr algn="ctr" fontAlgn="b"/>
                      <a:r>
                        <a:rPr lang="el-GR" sz="1100" b="1" i="0" u="none" strike="noStrike" kern="1200">
                          <a:solidFill>
                            <a:schemeClr val="tx1"/>
                          </a:solidFill>
                          <a:effectLst/>
                          <a:latin typeface="Calibri"/>
                          <a:ea typeface="+mn-ea"/>
                          <a:cs typeface="+mn-cs"/>
                        </a:rPr>
                        <a:t>Ι/00067</a:t>
                      </a:r>
                    </a:p>
                  </a:txBody>
                  <a:tcPr marL="9525" marR="9525" marT="9525" marB="0"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100" b="1" i="0" u="none" strike="noStrike">
                          <a:solidFill>
                            <a:schemeClr val="tx1"/>
                          </a:solidFill>
                          <a:effectLst/>
                          <a:latin typeface="Calibri"/>
                        </a:rPr>
                        <a:t>ID-229</a:t>
                      </a:r>
                    </a:p>
                  </a:txBody>
                  <a:tcPr marL="9525" marR="9525" marT="9525" marB="0" anchor="ctr">
                    <a:lnL w="12700" cap="flat" cmpd="sng" algn="ctr">
                      <a:solidFill>
                        <a:schemeClr val="bg1"/>
                      </a:solidFill>
                      <a:prstDash val="solid"/>
                      <a:round/>
                      <a:headEnd type="none" w="med" len="med"/>
                      <a:tailEnd type="none" w="med" len="med"/>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457198" rtl="0" eaLnBrk="1" latinLnBrk="0" hangingPunct="1"/>
                      <a:r>
                        <a:rPr lang="en-US" sz="1100" b="1" kern="1200">
                          <a:solidFill>
                            <a:schemeClr val="dk1"/>
                          </a:solidFill>
                          <a:latin typeface="Arial" panose="020B0604020202020204"/>
                          <a:ea typeface="+mn-ea"/>
                          <a:cs typeface="+mn-cs"/>
                        </a:rPr>
                        <a:t>Spanou/Tsetsos</a:t>
                      </a:r>
                      <a:endParaRPr lang="en-US" sz="1100" b="1" kern="1200" err="1">
                        <a:solidFill>
                          <a:schemeClr val="dk1"/>
                        </a:solidFill>
                        <a:latin typeface="Arial" panose="020B0604020202020204"/>
                        <a:ea typeface="+mn-ea"/>
                        <a:cs typeface="+mn-cs"/>
                      </a:endParaRP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DD&amp;DE</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DDDE,IT</a:t>
                      </a:r>
                    </a:p>
                  </a:txBody>
                  <a:tcPr marL="84406" marR="84406" anchor="ctr">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946C1F6C-9509-828E-1586-B0B857A0FD45}"/>
              </a:ext>
            </a:extLst>
          </p:cNvPr>
          <p:cNvGraphicFramePr>
            <a:graphicFrameLocks/>
          </p:cNvGraphicFramePr>
          <p:nvPr>
            <p:extLst>
              <p:ext uri="{D42A27DB-BD31-4B8C-83A1-F6EECF244321}">
                <p14:modId xmlns:p14="http://schemas.microsoft.com/office/powerpoint/2010/main" val="3262414227"/>
              </p:ext>
            </p:extLst>
          </p:nvPr>
        </p:nvGraphicFramePr>
        <p:xfrm>
          <a:off x="5292146" y="689270"/>
          <a:ext cx="6604003" cy="566675"/>
        </p:xfrm>
        <a:graphic>
          <a:graphicData uri="http://schemas.openxmlformats.org/drawingml/2006/table">
            <a:tbl>
              <a:tblPr firstRow="1" bandRow="1"/>
              <a:tblGrid>
                <a:gridCol w="1651001">
                  <a:extLst>
                    <a:ext uri="{9D8B030D-6E8A-4147-A177-3AD203B41FA5}">
                      <a16:colId xmlns:a16="http://schemas.microsoft.com/office/drawing/2014/main" val="20000"/>
                    </a:ext>
                  </a:extLst>
                </a:gridCol>
                <a:gridCol w="1686788">
                  <a:extLst>
                    <a:ext uri="{9D8B030D-6E8A-4147-A177-3AD203B41FA5}">
                      <a16:colId xmlns:a16="http://schemas.microsoft.com/office/drawing/2014/main" val="20001"/>
                    </a:ext>
                  </a:extLst>
                </a:gridCol>
                <a:gridCol w="1615213">
                  <a:extLst>
                    <a:ext uri="{9D8B030D-6E8A-4147-A177-3AD203B41FA5}">
                      <a16:colId xmlns:a16="http://schemas.microsoft.com/office/drawing/2014/main" val="20002"/>
                    </a:ext>
                  </a:extLst>
                </a:gridCol>
                <a:gridCol w="1651001">
                  <a:extLst>
                    <a:ext uri="{9D8B030D-6E8A-4147-A177-3AD203B41FA5}">
                      <a16:colId xmlns:a16="http://schemas.microsoft.com/office/drawing/2014/main" val="20003"/>
                    </a:ext>
                  </a:extLst>
                </a:gridCol>
              </a:tblGrid>
              <a:tr h="20608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Overall</a:t>
                      </a:r>
                    </a:p>
                  </a:txBody>
                  <a:tcPr marL="84406" marR="84406">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Schedule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Cost</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Scope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07595">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solidFill>
                          <a:schemeClr val="bg2"/>
                        </a:solidFill>
                      </a:endParaRPr>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27047014"/>
                  </a:ext>
                </a:extLst>
              </a:tr>
            </a:tbl>
          </a:graphicData>
        </a:graphic>
      </p:graphicFrame>
      <p:graphicFrame>
        <p:nvGraphicFramePr>
          <p:cNvPr id="7" name="Content Placeholder 4">
            <a:extLst>
              <a:ext uri="{FF2B5EF4-FFF2-40B4-BE49-F238E27FC236}">
                <a16:creationId xmlns:a16="http://schemas.microsoft.com/office/drawing/2014/main" id="{EEAC4F3F-ABD5-A5BD-78B9-E83548BD8C45}"/>
              </a:ext>
            </a:extLst>
          </p:cNvPr>
          <p:cNvGraphicFramePr>
            <a:graphicFrameLocks/>
          </p:cNvGraphicFramePr>
          <p:nvPr>
            <p:extLst>
              <p:ext uri="{D42A27DB-BD31-4B8C-83A1-F6EECF244321}">
                <p14:modId xmlns:p14="http://schemas.microsoft.com/office/powerpoint/2010/main" val="1748775089"/>
              </p:ext>
            </p:extLst>
          </p:nvPr>
        </p:nvGraphicFramePr>
        <p:xfrm>
          <a:off x="5315388" y="1221141"/>
          <a:ext cx="6613074" cy="853440"/>
        </p:xfrm>
        <a:graphic>
          <a:graphicData uri="http://schemas.openxmlformats.org/drawingml/2006/table">
            <a:tbl>
              <a:tblPr firstRow="1" bandRow="1"/>
              <a:tblGrid>
                <a:gridCol w="1322615">
                  <a:extLst>
                    <a:ext uri="{9D8B030D-6E8A-4147-A177-3AD203B41FA5}">
                      <a16:colId xmlns:a16="http://schemas.microsoft.com/office/drawing/2014/main" val="20000"/>
                    </a:ext>
                  </a:extLst>
                </a:gridCol>
                <a:gridCol w="1165775">
                  <a:extLst>
                    <a:ext uri="{9D8B030D-6E8A-4147-A177-3AD203B41FA5}">
                      <a16:colId xmlns:a16="http://schemas.microsoft.com/office/drawing/2014/main" val="20001"/>
                    </a:ext>
                  </a:extLst>
                </a:gridCol>
                <a:gridCol w="1479454">
                  <a:extLst>
                    <a:ext uri="{9D8B030D-6E8A-4147-A177-3AD203B41FA5}">
                      <a16:colId xmlns:a16="http://schemas.microsoft.com/office/drawing/2014/main" val="20002"/>
                    </a:ext>
                  </a:extLst>
                </a:gridCol>
                <a:gridCol w="1322615">
                  <a:extLst>
                    <a:ext uri="{9D8B030D-6E8A-4147-A177-3AD203B41FA5}">
                      <a16:colId xmlns:a16="http://schemas.microsoft.com/office/drawing/2014/main" val="20003"/>
                    </a:ext>
                  </a:extLst>
                </a:gridCol>
                <a:gridCol w="1322615">
                  <a:extLst>
                    <a:ext uri="{9D8B030D-6E8A-4147-A177-3AD203B41FA5}">
                      <a16:colId xmlns:a16="http://schemas.microsoft.com/office/drawing/2014/main" val="1179070743"/>
                    </a:ext>
                  </a:extLst>
                </a:gridCol>
              </a:tblGrid>
              <a:tr h="228569">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baseline="0">
                          <a:latin typeface="Calibri"/>
                        </a:rPr>
                        <a:t>Project  Status</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Work Completed</a:t>
                      </a:r>
                      <a:r>
                        <a:rPr lang="en-US" sz="1100" baseline="0">
                          <a:latin typeface="Calibri"/>
                        </a:rPr>
                        <a:t> (%)</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Baseline</a:t>
                      </a:r>
                      <a:r>
                        <a:rPr lang="en-US" sz="1100" baseline="0">
                          <a:latin typeface="Calibri"/>
                        </a:rPr>
                        <a:t> Budget</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 Start Date</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Planned/Estimated Completion Date</a:t>
                      </a:r>
                    </a:p>
                  </a:txBody>
                  <a:tcPr marL="84406" marR="84406">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6202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a:latin typeface="+mn-lt"/>
                        </a:rPr>
                        <a:t>Implementation </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kern="1200">
                          <a:solidFill>
                            <a:schemeClr val="dk1"/>
                          </a:solidFill>
                          <a:latin typeface="+mn-lt"/>
                          <a:ea typeface="+mn-ea"/>
                          <a:cs typeface="+mn-cs"/>
                        </a:rPr>
                        <a:t>9</a:t>
                      </a:r>
                      <a:r>
                        <a:rPr lang="el-GR" sz="1100" kern="1200">
                          <a:solidFill>
                            <a:schemeClr val="dk1"/>
                          </a:solidFill>
                          <a:latin typeface="+mn-lt"/>
                          <a:ea typeface="+mn-ea"/>
                          <a:cs typeface="+mn-cs"/>
                        </a:rPr>
                        <a:t>5%</a:t>
                      </a:r>
                      <a:endParaRPr lang="en-US" sz="1100" kern="1200">
                        <a:solidFill>
                          <a:schemeClr val="dk1"/>
                        </a:solidFill>
                        <a:latin typeface="+mn-lt"/>
                        <a:ea typeface="+mn-ea"/>
                        <a:cs typeface="+mn-cs"/>
                      </a:endParaRP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457198" rtl="0" eaLnBrk="1" latinLnBrk="0" hangingPunct="1"/>
                      <a:r>
                        <a:rPr lang="en-US" sz="1100" kern="1200">
                          <a:solidFill>
                            <a:schemeClr val="dk1"/>
                          </a:solidFill>
                          <a:latin typeface="+mn-lt"/>
                          <a:ea typeface="+mn-ea"/>
                          <a:cs typeface="+mn-cs"/>
                        </a:rPr>
                        <a:t>75K</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a:latin typeface="+mn-lt"/>
                        </a:rPr>
                        <a:t>20 May 2024</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1100">
                          <a:latin typeface="+mn-lt"/>
                        </a:rPr>
                        <a:t>14 </a:t>
                      </a:r>
                      <a:r>
                        <a:rPr lang="en-US" sz="1100">
                          <a:latin typeface="+mn-lt"/>
                        </a:rPr>
                        <a:t>July  2025</a:t>
                      </a:r>
                    </a:p>
                    <a:p>
                      <a:pPr algn="ctr"/>
                      <a:endParaRPr lang="en-US" sz="1100">
                        <a:latin typeface="+mn-lt"/>
                      </a:endParaRPr>
                    </a:p>
                  </a:txBody>
                  <a:tcPr marL="84406" marR="84406">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13" name="Table 12">
            <a:extLst>
              <a:ext uri="{FF2B5EF4-FFF2-40B4-BE49-F238E27FC236}">
                <a16:creationId xmlns:a16="http://schemas.microsoft.com/office/drawing/2014/main" id="{BA107CB2-F91F-A476-5F23-18649D1030FC}"/>
              </a:ext>
            </a:extLst>
          </p:cNvPr>
          <p:cNvGraphicFramePr>
            <a:graphicFrameLocks noGrp="1"/>
          </p:cNvGraphicFramePr>
          <p:nvPr>
            <p:extLst>
              <p:ext uri="{D42A27DB-BD31-4B8C-83A1-F6EECF244321}">
                <p14:modId xmlns:p14="http://schemas.microsoft.com/office/powerpoint/2010/main" val="1776902742"/>
              </p:ext>
            </p:extLst>
          </p:nvPr>
        </p:nvGraphicFramePr>
        <p:xfrm>
          <a:off x="199098" y="14587"/>
          <a:ext cx="5104966" cy="660751"/>
        </p:xfrm>
        <a:graphic>
          <a:graphicData uri="http://schemas.openxmlformats.org/drawingml/2006/table">
            <a:tbl>
              <a:tblPr firstRow="1" bandRow="1"/>
              <a:tblGrid>
                <a:gridCol w="1291144">
                  <a:extLst>
                    <a:ext uri="{9D8B030D-6E8A-4147-A177-3AD203B41FA5}">
                      <a16:colId xmlns:a16="http://schemas.microsoft.com/office/drawing/2014/main" val="110687116"/>
                    </a:ext>
                  </a:extLst>
                </a:gridCol>
                <a:gridCol w="3813822">
                  <a:extLst>
                    <a:ext uri="{9D8B030D-6E8A-4147-A177-3AD203B41FA5}">
                      <a16:colId xmlns:a16="http://schemas.microsoft.com/office/drawing/2014/main" val="3314271387"/>
                    </a:ext>
                  </a:extLst>
                </a:gridCol>
              </a:tblGrid>
              <a:tr h="660751">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Name</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lvl="0" algn="ctr">
                        <a:buNone/>
                      </a:pPr>
                      <a:r>
                        <a:rPr lang="en-US" sz="1400" b="1" i="0" u="none" strike="noStrike" kern="1200" noProof="0">
                          <a:solidFill>
                            <a:schemeClr val="dk1"/>
                          </a:solidFill>
                          <a:effectLst/>
                        </a:rPr>
                        <a:t>Digital Project Management, Collaboration &amp; Monitoring Tool (Jira)</a:t>
                      </a:r>
                      <a:endParaRPr lang="en-US" sz="1400" b="1"/>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graphicFrame>
        <p:nvGraphicFramePr>
          <p:cNvPr id="16" name="Table 15">
            <a:extLst>
              <a:ext uri="{FF2B5EF4-FFF2-40B4-BE49-F238E27FC236}">
                <a16:creationId xmlns:a16="http://schemas.microsoft.com/office/drawing/2014/main" id="{7C9D8610-22A8-1E08-1047-05A15DCCAEDD}"/>
              </a:ext>
            </a:extLst>
          </p:cNvPr>
          <p:cNvGraphicFramePr>
            <a:graphicFrameLocks noGrp="1"/>
          </p:cNvGraphicFramePr>
          <p:nvPr>
            <p:extLst>
              <p:ext uri="{D42A27DB-BD31-4B8C-83A1-F6EECF244321}">
                <p14:modId xmlns:p14="http://schemas.microsoft.com/office/powerpoint/2010/main" val="1996600130"/>
              </p:ext>
            </p:extLst>
          </p:nvPr>
        </p:nvGraphicFramePr>
        <p:xfrm>
          <a:off x="199097" y="651066"/>
          <a:ext cx="5104969" cy="1332796"/>
        </p:xfrm>
        <a:graphic>
          <a:graphicData uri="http://schemas.openxmlformats.org/drawingml/2006/table">
            <a:tbl>
              <a:tblPr firstRow="1" bandRow="1"/>
              <a:tblGrid>
                <a:gridCol w="1290916">
                  <a:extLst>
                    <a:ext uri="{9D8B030D-6E8A-4147-A177-3AD203B41FA5}">
                      <a16:colId xmlns:a16="http://schemas.microsoft.com/office/drawing/2014/main" val="110687116"/>
                    </a:ext>
                  </a:extLst>
                </a:gridCol>
                <a:gridCol w="3814053">
                  <a:extLst>
                    <a:ext uri="{9D8B030D-6E8A-4147-A177-3AD203B41FA5}">
                      <a16:colId xmlns:a16="http://schemas.microsoft.com/office/drawing/2014/main" val="3314271387"/>
                    </a:ext>
                  </a:extLst>
                </a:gridCol>
              </a:tblGrid>
              <a:tr h="1332796">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a:t>
                      </a:r>
                      <a:r>
                        <a:rPr lang="en-US" sz="1400" b="1" i="0" u="none" strike="noStrike" kern="1200" cap="none" spc="0" normalizeH="0" baseline="0" noProof="0">
                          <a:ln>
                            <a:noFill/>
                          </a:ln>
                          <a:solidFill>
                            <a:srgbClr val="FFFFFF"/>
                          </a:solidFill>
                          <a:effectLst/>
                          <a:uLnTx/>
                          <a:uFillTx/>
                          <a:latin typeface="+mn-lt"/>
                          <a:ea typeface="+mn-ea"/>
                          <a:cs typeface="+mn-cs"/>
                        </a:rPr>
                        <a:t>Scope</a:t>
                      </a:r>
                      <a:endParaRPr kumimoji="0" lang="en-US" sz="1400" b="1" i="0" u="none" strike="noStrike" kern="1200" cap="none" spc="0" normalizeH="0" baseline="0" noProof="0">
                        <a:ln>
                          <a:noFill/>
                        </a:ln>
                        <a:solidFill>
                          <a:srgbClr val="FFFFFF"/>
                        </a:solidFill>
                        <a:effectLst/>
                        <a:uLnTx/>
                        <a:uFillTx/>
                        <a:latin typeface="+mn-lt"/>
                        <a:ea typeface="+mn-ea"/>
                        <a:cs typeface="+mn-cs"/>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lvl="0" indent="0" algn="just">
                        <a:lnSpc>
                          <a:spcPct val="100000"/>
                        </a:lnSpc>
                        <a:buNone/>
                      </a:pPr>
                      <a:r>
                        <a:rPr lang="en-US" sz="1000" b="0" i="0" u="none" strike="noStrike" baseline="0" noProof="0">
                          <a:solidFill>
                            <a:srgbClr val="2E5684"/>
                          </a:solidFill>
                          <a:latin typeface="Arial"/>
                        </a:rPr>
                        <a:t>The Digital Development Department proposes the acquisition of a new tool to facilitate the effective and efficient management of all new Digital Development projects and initiatives</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sp>
        <p:nvSpPr>
          <p:cNvPr id="17" name="Oval 16">
            <a:extLst>
              <a:ext uri="{FF2B5EF4-FFF2-40B4-BE49-F238E27FC236}">
                <a16:creationId xmlns:a16="http://schemas.microsoft.com/office/drawing/2014/main" id="{BA4DF927-7DFC-993D-3C9C-9A23F4D51CFC}"/>
              </a:ext>
            </a:extLst>
          </p:cNvPr>
          <p:cNvSpPr>
            <a:spLocks noChangeAspect="1"/>
          </p:cNvSpPr>
          <p:nvPr/>
        </p:nvSpPr>
        <p:spPr>
          <a:xfrm>
            <a:off x="6028742" y="971964"/>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Oval 2">
            <a:extLst>
              <a:ext uri="{FF2B5EF4-FFF2-40B4-BE49-F238E27FC236}">
                <a16:creationId xmlns:a16="http://schemas.microsoft.com/office/drawing/2014/main" id="{7C638FB8-5DE2-D1BE-942F-510D9E9DC87C}"/>
              </a:ext>
            </a:extLst>
          </p:cNvPr>
          <p:cNvSpPr>
            <a:spLocks noChangeAspect="1"/>
          </p:cNvSpPr>
          <p:nvPr/>
        </p:nvSpPr>
        <p:spPr>
          <a:xfrm>
            <a:off x="7650543" y="971409"/>
            <a:ext cx="214067" cy="205211"/>
          </a:xfrm>
          <a:prstGeom prst="ellipse">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9D0EEB39-A752-C478-D140-3D32B30D5EFA}"/>
              </a:ext>
            </a:extLst>
          </p:cNvPr>
          <p:cNvSpPr>
            <a:spLocks noChangeAspect="1"/>
          </p:cNvSpPr>
          <p:nvPr/>
        </p:nvSpPr>
        <p:spPr>
          <a:xfrm>
            <a:off x="10957406" y="965224"/>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68FC113-B780-3B2C-A235-2B4C506123B5}"/>
              </a:ext>
            </a:extLst>
          </p:cNvPr>
          <p:cNvSpPr>
            <a:spLocks noChangeAspect="1"/>
          </p:cNvSpPr>
          <p:nvPr/>
        </p:nvSpPr>
        <p:spPr>
          <a:xfrm>
            <a:off x="9335605" y="974794"/>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8" name="Table 17">
            <a:extLst>
              <a:ext uri="{FF2B5EF4-FFF2-40B4-BE49-F238E27FC236}">
                <a16:creationId xmlns:a16="http://schemas.microsoft.com/office/drawing/2014/main" id="{F5B4E2D6-9268-39B9-E7DD-B6C0736B6645}"/>
              </a:ext>
            </a:extLst>
          </p:cNvPr>
          <p:cNvGraphicFramePr>
            <a:graphicFrameLocks noGrp="1"/>
          </p:cNvGraphicFramePr>
          <p:nvPr>
            <p:extLst>
              <p:ext uri="{D42A27DB-BD31-4B8C-83A1-F6EECF244321}">
                <p14:modId xmlns:p14="http://schemas.microsoft.com/office/powerpoint/2010/main" val="3013353844"/>
              </p:ext>
            </p:extLst>
          </p:nvPr>
        </p:nvGraphicFramePr>
        <p:xfrm>
          <a:off x="200025" y="1947769"/>
          <a:ext cx="11717112" cy="3194513"/>
        </p:xfrm>
        <a:graphic>
          <a:graphicData uri="http://schemas.openxmlformats.org/drawingml/2006/table">
            <a:tbl>
              <a:tblPr firstRow="1" bandRow="1"/>
              <a:tblGrid>
                <a:gridCol w="5111277">
                  <a:extLst>
                    <a:ext uri="{9D8B030D-6E8A-4147-A177-3AD203B41FA5}">
                      <a16:colId xmlns:a16="http://schemas.microsoft.com/office/drawing/2014/main" val="20000"/>
                    </a:ext>
                  </a:extLst>
                </a:gridCol>
                <a:gridCol w="1157592">
                  <a:extLst>
                    <a:ext uri="{9D8B030D-6E8A-4147-A177-3AD203B41FA5}">
                      <a16:colId xmlns:a16="http://schemas.microsoft.com/office/drawing/2014/main" val="20001"/>
                    </a:ext>
                  </a:extLst>
                </a:gridCol>
                <a:gridCol w="1322961">
                  <a:extLst>
                    <a:ext uri="{9D8B030D-6E8A-4147-A177-3AD203B41FA5}">
                      <a16:colId xmlns:a16="http://schemas.microsoft.com/office/drawing/2014/main" val="20002"/>
                    </a:ext>
                  </a:extLst>
                </a:gridCol>
                <a:gridCol w="4125282">
                  <a:extLst>
                    <a:ext uri="{9D8B030D-6E8A-4147-A177-3AD203B41FA5}">
                      <a16:colId xmlns:a16="http://schemas.microsoft.com/office/drawing/2014/main" val="20005"/>
                    </a:ext>
                  </a:extLst>
                </a:gridCol>
              </a:tblGrid>
              <a:tr h="25013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200"/>
                        <a:t>Key Deliverables</a:t>
                      </a:r>
                      <a:endParaRPr lang="en-US" sz="12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200"/>
                        <a:t>R/A/G</a:t>
                      </a:r>
                      <a:endParaRPr lang="en-US" sz="12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200"/>
                        <a:t>Delivery Date</a:t>
                      </a:r>
                      <a:endParaRPr lang="en-US" sz="12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200"/>
                        <a:t>Remarks on progress</a:t>
                      </a:r>
                      <a:endParaRPr lang="en-US" sz="1200"/>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29201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900">
                          <a:latin typeface="+mn-lt"/>
                        </a:rPr>
                        <a:t>Preparatory Meetings to Define High-Level Needs</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9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900">
                          <a:latin typeface="+mn-lt"/>
                        </a:rPr>
                        <a:t>Summer 2024</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900">
                          <a:latin typeface="+mn-lt"/>
                        </a:rPr>
                        <a:t>Completed. Initial discussions held to identify high-level requirements.</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r h="252335">
                <a:tc>
                  <a:txBody>
                    <a:bodyPr/>
                    <a:lstStyle/>
                    <a:p>
                      <a:r>
                        <a:rPr lang="en-US" sz="900">
                          <a:latin typeface="+mn-lt"/>
                        </a:rPr>
                        <a:t>Vendor Negotiation &amp; Contract Signing</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9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B050"/>
                    </a:solidFill>
                  </a:tcPr>
                </a:tc>
                <a:tc>
                  <a:txBody>
                    <a:bodyPr/>
                    <a:lstStyle/>
                    <a:p>
                      <a:r>
                        <a:rPr lang="el-GR" sz="900">
                          <a:latin typeface="+mn-lt"/>
                        </a:rPr>
                        <a:t>4/9/24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900">
                          <a:latin typeface="+mn-lt"/>
                        </a:rPr>
                        <a:t>Completed</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70931473"/>
                  </a:ext>
                </a:extLst>
              </a:tr>
              <a:tr h="252335">
                <a:tc>
                  <a:txBody>
                    <a:bodyPr/>
                    <a:lstStyle/>
                    <a:p>
                      <a:r>
                        <a:rPr lang="en-US" sz="900">
                          <a:latin typeface="+mn-lt"/>
                        </a:rPr>
                        <a:t>Functional Specifications &amp; Analysis Workshops</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9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900">
                          <a:latin typeface="+mn-lt"/>
                        </a:rPr>
                        <a:t>14/2/25</a:t>
                      </a:r>
                      <a:endParaRPr lang="el-GR" sz="900">
                        <a:latin typeface="+mn-lt"/>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900">
                          <a:latin typeface="+mn-lt"/>
                        </a:rPr>
                        <a:t>Final version of FS document signed off.</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2"/>
                  </a:ext>
                </a:extLst>
              </a:tr>
              <a:tr h="25233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900">
                          <a:latin typeface="+mn-lt"/>
                        </a:rPr>
                        <a:t>Implementation</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9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algn="l" defTabSz="914400" rtl="0" eaLnBrk="1" latinLnBrk="0" hangingPunct="1"/>
                      <a:r>
                        <a:rPr lang="en-US" sz="900" kern="1200">
                          <a:solidFill>
                            <a:schemeClr val="tx1"/>
                          </a:solidFill>
                          <a:latin typeface="+mn-lt"/>
                          <a:ea typeface="+mn-ea"/>
                          <a:cs typeface="+mn-cs"/>
                        </a:rPr>
                        <a:t>19</a:t>
                      </a:r>
                      <a:r>
                        <a:rPr lang="el-GR" sz="900" kern="1200">
                          <a:solidFill>
                            <a:schemeClr val="tx1"/>
                          </a:solidFill>
                          <a:latin typeface="+mn-lt"/>
                          <a:ea typeface="+mn-ea"/>
                          <a:cs typeface="+mn-cs"/>
                        </a:rPr>
                        <a:t>/3/</a:t>
                      </a:r>
                      <a:r>
                        <a:rPr lang="en-US" sz="900" kern="1200">
                          <a:solidFill>
                            <a:schemeClr val="tx1"/>
                          </a:solidFill>
                          <a:latin typeface="+mn-lt"/>
                          <a:ea typeface="+mn-ea"/>
                          <a:cs typeface="+mn-cs"/>
                        </a:rPr>
                        <a:t>25</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900">
                          <a:latin typeface="+mn-lt"/>
                        </a:rPr>
                        <a:t>Completed</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174709326"/>
                  </a:ext>
                </a:extLst>
              </a:tr>
              <a:tr h="252335">
                <a:tc>
                  <a:txBody>
                    <a:bodyPr/>
                    <a:lstStyle/>
                    <a:p>
                      <a:r>
                        <a:rPr lang="en-US" sz="900">
                          <a:latin typeface="+mn-lt"/>
                        </a:rPr>
                        <a:t>UAT Trainings</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9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algn="l" defTabSz="914400" rtl="0" eaLnBrk="1" latinLnBrk="0" hangingPunct="1"/>
                      <a:r>
                        <a:rPr lang="en-US" sz="900" kern="1200">
                          <a:solidFill>
                            <a:schemeClr val="tx1"/>
                          </a:solidFill>
                          <a:latin typeface="+mn-lt"/>
                          <a:ea typeface="+mn-ea"/>
                          <a:cs typeface="+mn-cs"/>
                        </a:rPr>
                        <a:t>28/3/25</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900">
                          <a:latin typeface="+mn-lt"/>
                        </a:rPr>
                        <a:t>Completed</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106623518"/>
                  </a:ext>
                </a:extLst>
              </a:tr>
              <a:tr h="385982">
                <a:tc>
                  <a:txBody>
                    <a:bodyPr/>
                    <a:lstStyle/>
                    <a:p>
                      <a:r>
                        <a:rPr lang="en-US" sz="900">
                          <a:latin typeface="+mn-lt"/>
                        </a:rPr>
                        <a:t>User Acceptance Testing (UAT)</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9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l-GR" sz="900">
                          <a:latin typeface="+mn-lt"/>
                        </a:rPr>
                        <a:t>21/5/25</a:t>
                      </a:r>
                      <a:endParaRPr lang="el-GR" sz="900" kern="1200">
                        <a:solidFill>
                          <a:schemeClr val="tx1"/>
                        </a:solidFill>
                        <a:latin typeface="+mn-lt"/>
                        <a:ea typeface="+mn-ea"/>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900">
                          <a:latin typeface="+mn-lt"/>
                        </a:rPr>
                        <a:t>UAT phase completed. All stakeholders confirmed sign-off. No critical blockers identified.</a:t>
                      </a:r>
                      <a:endParaRPr lang="el-GR" sz="900" kern="1200">
                        <a:solidFill>
                          <a:schemeClr val="tx1"/>
                        </a:solidFill>
                        <a:latin typeface="+mn-lt"/>
                        <a:ea typeface="+mn-ea"/>
                        <a:cs typeface="+mn-cs"/>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084497457"/>
                  </a:ext>
                </a:extLst>
              </a:tr>
              <a:tr h="212771">
                <a:tc>
                  <a:txBody>
                    <a:bodyPr/>
                    <a:lstStyle/>
                    <a:p>
                      <a:r>
                        <a:rPr lang="en-US" sz="900">
                          <a:latin typeface="+mn-lt"/>
                        </a:rPr>
                        <a:t>Go-Live</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9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900">
                          <a:latin typeface="+mn-lt"/>
                        </a:rPr>
                        <a:t>29/5/25 </a:t>
                      </a:r>
                      <a:endParaRPr lang="el-GR" sz="900">
                        <a:latin typeface="+mn-lt"/>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900">
                          <a:latin typeface="+mn-lt"/>
                        </a:rPr>
                        <a:t>Completed</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593471288"/>
                  </a:ext>
                </a:extLst>
              </a:tr>
              <a:tr h="237528">
                <a:tc>
                  <a:txBody>
                    <a:bodyPr/>
                    <a:lstStyle/>
                    <a:p>
                      <a:r>
                        <a:rPr lang="en-US" sz="900">
                          <a:latin typeface="+mn-lt"/>
                        </a:rPr>
                        <a:t>Key User Trainings</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9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900">
                          <a:latin typeface="+mn-lt"/>
                        </a:rPr>
                        <a:t>13/6/25</a:t>
                      </a:r>
                      <a:endParaRPr lang="el-GR" sz="900">
                        <a:latin typeface="+mn-lt"/>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900">
                          <a:latin typeface="+mn-lt"/>
                        </a:rPr>
                        <a:t>Completed</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27838651"/>
                  </a:ext>
                </a:extLst>
              </a:tr>
              <a:tr h="237528">
                <a:tc>
                  <a:txBody>
                    <a:bodyPr/>
                    <a:lstStyle/>
                    <a:p>
                      <a:r>
                        <a:rPr lang="en-US" sz="900">
                          <a:latin typeface="+mn-lt"/>
                        </a:rPr>
                        <a:t>Admin Trainings </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9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900">
                          <a:latin typeface="+mn-lt"/>
                        </a:rPr>
                        <a:t>18/6/25</a:t>
                      </a:r>
                      <a:endParaRPr lang="el-GR" sz="900">
                        <a:latin typeface="+mn-lt"/>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900">
                          <a:latin typeface="+mn-lt"/>
                        </a:rPr>
                        <a:t>Completed</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804672432"/>
                  </a:ext>
                </a:extLst>
              </a:tr>
              <a:tr h="360101">
                <a:tc>
                  <a:txBody>
                    <a:bodyPr/>
                    <a:lstStyle/>
                    <a:p>
                      <a:r>
                        <a:rPr lang="en-US" sz="900"/>
                        <a:t>Jira Licenses</a:t>
                      </a:r>
                      <a:endParaRPr lang="en-US" sz="900">
                        <a:latin typeface="+mn-lt"/>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9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r>
                        <a:rPr lang="en-US" sz="900"/>
                        <a:t>In progress</a:t>
                      </a:r>
                      <a:endParaRPr lang="el-GR" sz="900">
                        <a:latin typeface="+mn-lt"/>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l" fontAlgn="ctr"/>
                      <a:r>
                        <a:rPr lang="en-US" sz="900"/>
                        <a:t>Internal discussions are ongoing to assess whether additional Jira licenses need to be purchased, based on actual user demand across teams.</a:t>
                      </a:r>
                      <a:br>
                        <a:rPr lang="en-US" sz="900"/>
                      </a:br>
                      <a:r>
                        <a:rPr lang="en-US" sz="900"/>
                        <a:t>A decision on the required number is expected within the week, to proceed with the final purchase.</a:t>
                      </a:r>
                      <a:endParaRPr lang="en-US" sz="900" kern="1200">
                        <a:solidFill>
                          <a:schemeClr val="tx1"/>
                        </a:solidFill>
                        <a:latin typeface="+mn-lt"/>
                        <a:ea typeface="+mn-ea"/>
                        <a:cs typeface="+mn-cs"/>
                      </a:endParaRPr>
                    </a:p>
                  </a:txBody>
                  <a:tcPr marL="0" marR="0" marT="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919121951"/>
                  </a:ext>
                </a:extLst>
              </a:tr>
            </a:tbl>
          </a:graphicData>
        </a:graphic>
      </p:graphicFrame>
      <p:graphicFrame>
        <p:nvGraphicFramePr>
          <p:cNvPr id="20" name="Table 19">
            <a:extLst>
              <a:ext uri="{FF2B5EF4-FFF2-40B4-BE49-F238E27FC236}">
                <a16:creationId xmlns:a16="http://schemas.microsoft.com/office/drawing/2014/main" id="{B44D9F49-07B2-F7BC-81F1-D85FB6F005F6}"/>
              </a:ext>
            </a:extLst>
          </p:cNvPr>
          <p:cNvGraphicFramePr>
            <a:graphicFrameLocks noGrp="1"/>
          </p:cNvGraphicFramePr>
          <p:nvPr>
            <p:extLst>
              <p:ext uri="{D42A27DB-BD31-4B8C-83A1-F6EECF244321}">
                <p14:modId xmlns:p14="http://schemas.microsoft.com/office/powerpoint/2010/main" val="1600218750"/>
              </p:ext>
            </p:extLst>
          </p:nvPr>
        </p:nvGraphicFramePr>
        <p:xfrm>
          <a:off x="178131" y="6071922"/>
          <a:ext cx="11760898" cy="795560"/>
        </p:xfrm>
        <a:graphic>
          <a:graphicData uri="http://schemas.openxmlformats.org/drawingml/2006/table">
            <a:tbl>
              <a:tblPr>
                <a:tableStyleId>{5C22544A-7EE6-4342-B048-85BDC9FD1C3A}</a:tableStyleId>
              </a:tblPr>
              <a:tblGrid>
                <a:gridCol w="5145335">
                  <a:extLst>
                    <a:ext uri="{9D8B030D-6E8A-4147-A177-3AD203B41FA5}">
                      <a16:colId xmlns:a16="http://schemas.microsoft.com/office/drawing/2014/main" val="2003250863"/>
                    </a:ext>
                  </a:extLst>
                </a:gridCol>
                <a:gridCol w="1223904">
                  <a:extLst>
                    <a:ext uri="{9D8B030D-6E8A-4147-A177-3AD203B41FA5}">
                      <a16:colId xmlns:a16="http://schemas.microsoft.com/office/drawing/2014/main" val="2445968811"/>
                    </a:ext>
                  </a:extLst>
                </a:gridCol>
                <a:gridCol w="5391659">
                  <a:extLst>
                    <a:ext uri="{9D8B030D-6E8A-4147-A177-3AD203B41FA5}">
                      <a16:colId xmlns:a16="http://schemas.microsoft.com/office/drawing/2014/main" val="187998877"/>
                    </a:ext>
                  </a:extLst>
                </a:gridCol>
              </a:tblGrid>
              <a:tr h="134046">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u="none" strike="noStrike" kern="1200">
                          <a:solidFill>
                            <a:schemeClr val="bg1"/>
                          </a:solidFill>
                          <a:effectLst/>
                          <a:latin typeface="+mn-lt"/>
                          <a:ea typeface="+mn-ea"/>
                          <a:cs typeface="+mn-cs"/>
                        </a:rPr>
                        <a:t>Risk</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u="none" strike="noStrike" kern="1200">
                          <a:solidFill>
                            <a:schemeClr val="bg1"/>
                          </a:solidFill>
                          <a:effectLst/>
                          <a:latin typeface="+mn-lt"/>
                          <a:ea typeface="+mn-ea"/>
                          <a:cs typeface="+mn-cs"/>
                        </a:rPr>
                        <a:t>Risk Assessment</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50" b="1" u="none" strike="noStrike" kern="1200">
                          <a:solidFill>
                            <a:schemeClr val="bg1"/>
                          </a:solidFill>
                          <a:effectLst/>
                          <a:latin typeface="+mn-lt"/>
                          <a:ea typeface="+mn-ea"/>
                          <a:cs typeface="+mn-cs"/>
                        </a:rPr>
                        <a:t>Mitigation Actions</a:t>
                      </a:r>
                    </a:p>
                  </a:txBody>
                  <a:tcPr marL="0" marR="0" marT="0" marB="0" anchor="ctr">
                    <a:solidFill>
                      <a:schemeClr val="accent1"/>
                    </a:solidFill>
                  </a:tcPr>
                </a:tc>
                <a:extLst>
                  <a:ext uri="{0D108BD9-81ED-4DB2-BD59-A6C34878D82A}">
                    <a16:rowId xmlns:a16="http://schemas.microsoft.com/office/drawing/2014/main" val="2763828571"/>
                  </a:ext>
                </a:extLst>
              </a:tr>
              <a:tr h="246582">
                <a:tc>
                  <a:txBody>
                    <a:bodyPr/>
                    <a:lstStyle/>
                    <a:p>
                      <a:pPr marL="171450" indent="-171450">
                        <a:buFont typeface="Arial"/>
                        <a:buChar char="•"/>
                      </a:pPr>
                      <a:r>
                        <a:rPr lang="en-US" sz="1000"/>
                        <a:t>Unclear or delayed definition of the licensing scheme may impact user access and cost control.</a:t>
                      </a:r>
                      <a:endParaRPr lang="en-US" sz="1000">
                        <a:effectLst/>
                        <a:latin typeface="+mn-lt"/>
                      </a:endParaRPr>
                    </a:p>
                  </a:txBody>
                  <a:tcPr marL="38100" marR="38100" marT="38100" marB="38100" anchor="ctr">
                    <a:solidFill>
                      <a:schemeClr val="accent4">
                        <a:lumMod val="20000"/>
                        <a:lumOff val="80000"/>
                      </a:schemeClr>
                    </a:solidFill>
                  </a:tcPr>
                </a:tc>
                <a:tc>
                  <a:txBody>
                    <a:bodyPr/>
                    <a:lstStyle/>
                    <a:p>
                      <a:pPr lvl="0" algn="ctr">
                        <a:buNone/>
                      </a:pPr>
                      <a:r>
                        <a:rPr lang="el-GR" sz="1000" b="1">
                          <a:solidFill>
                            <a:schemeClr val="bg1"/>
                          </a:solidFill>
                          <a:effectLst/>
                          <a:latin typeface="+mn-lt"/>
                        </a:rPr>
                        <a:t>Μ</a:t>
                      </a:r>
                      <a:endParaRPr lang="en-US" sz="1000" b="1">
                        <a:solidFill>
                          <a:schemeClr val="bg1"/>
                        </a:solidFill>
                        <a:effectLst/>
                        <a:latin typeface="+mn-lt"/>
                      </a:endParaRPr>
                    </a:p>
                  </a:txBody>
                  <a:tcPr marL="38100" marR="38100" marT="38100" marB="38100" anchor="ctr">
                    <a:solidFill>
                      <a:srgbClr val="EE7F00"/>
                    </a:solidFill>
                  </a:tcPr>
                </a:tc>
                <a:tc>
                  <a:txBody>
                    <a:bodyPr/>
                    <a:lstStyle/>
                    <a:p>
                      <a:r>
                        <a:rPr lang="en-US" sz="1000"/>
                        <a:t>Finalize licensing model with vendor and IT. Include clear ownership and cost tracking responsibilities.</a:t>
                      </a:r>
                      <a:endParaRPr lang="en-US" sz="1000" b="1">
                        <a:effectLst/>
                        <a:latin typeface="+mn-lt"/>
                      </a:endParaRPr>
                    </a:p>
                  </a:txBody>
                  <a:tcPr marL="38100" marR="38100" marT="38100" marB="38100" anchor="ctr">
                    <a:solidFill>
                      <a:schemeClr val="accent4">
                        <a:lumMod val="20000"/>
                        <a:lumOff val="80000"/>
                      </a:schemeClr>
                    </a:solidFill>
                  </a:tcPr>
                </a:tc>
                <a:extLst>
                  <a:ext uri="{0D108BD9-81ED-4DB2-BD59-A6C34878D82A}">
                    <a16:rowId xmlns:a16="http://schemas.microsoft.com/office/drawing/2014/main" val="2681493403"/>
                  </a:ext>
                </a:extLst>
              </a:tr>
              <a:tr h="388958">
                <a:tc>
                  <a:txBody>
                    <a:bodyPr/>
                    <a:lstStyle/>
                    <a:p>
                      <a:pPr marL="171450" indent="-171450">
                        <a:buFont typeface="Arial"/>
                        <a:buChar char="•"/>
                      </a:pPr>
                      <a:r>
                        <a:rPr lang="en-US" sz="1000"/>
                        <a:t>Low user adoption of the new Jira system may reduce the effectiveness of the solution.</a:t>
                      </a:r>
                      <a:endParaRPr lang="en-US" sz="1000">
                        <a:effectLst/>
                        <a:latin typeface="+mn-lt"/>
                      </a:endParaRPr>
                    </a:p>
                  </a:txBody>
                  <a:tcPr marL="38100" marR="38100" marT="38100" marB="38100" anchor="ctr">
                    <a:solidFill>
                      <a:schemeClr val="accent4">
                        <a:lumMod val="20000"/>
                        <a:lumOff val="80000"/>
                      </a:schemeClr>
                    </a:solidFill>
                  </a:tcPr>
                </a:tc>
                <a:tc>
                  <a:txBody>
                    <a:bodyPr/>
                    <a:lstStyle/>
                    <a:p>
                      <a:pPr lvl="0" algn="ctr">
                        <a:buNone/>
                      </a:pPr>
                      <a:r>
                        <a:rPr lang="el-GR" sz="1000" b="1">
                          <a:solidFill>
                            <a:schemeClr val="bg1"/>
                          </a:solidFill>
                          <a:effectLst/>
                          <a:latin typeface="+mn-lt"/>
                        </a:rPr>
                        <a:t>Μ</a:t>
                      </a:r>
                      <a:endParaRPr lang="en-US" sz="1000" b="1">
                        <a:solidFill>
                          <a:schemeClr val="bg1"/>
                        </a:solidFill>
                        <a:effectLst/>
                        <a:latin typeface="+mn-lt"/>
                      </a:endParaRPr>
                    </a:p>
                  </a:txBody>
                  <a:tcPr marL="38100" marR="38100" marT="38100" marB="38100" anchor="ctr">
                    <a:solidFill>
                      <a:srgbClr val="EE7F00"/>
                    </a:solidFill>
                  </a:tcPr>
                </a:tc>
                <a:tc>
                  <a:txBody>
                    <a:bodyPr/>
                    <a:lstStyle/>
                    <a:p>
                      <a:r>
                        <a:rPr lang="en-US" sz="1000" b="0"/>
                        <a:t>Targeted training sessions have been planned to address this risk and ensure smooth onboarding.</a:t>
                      </a:r>
                      <a:endParaRPr lang="en-US" sz="1000" b="0">
                        <a:effectLst/>
                        <a:latin typeface="+mn-lt"/>
                      </a:endParaRPr>
                    </a:p>
                  </a:txBody>
                  <a:tcPr marL="38100" marR="38100" marT="38100" marB="38100" anchor="ctr">
                    <a:solidFill>
                      <a:schemeClr val="accent4">
                        <a:lumMod val="20000"/>
                        <a:lumOff val="80000"/>
                      </a:schemeClr>
                    </a:solidFill>
                  </a:tcPr>
                </a:tc>
                <a:extLst>
                  <a:ext uri="{0D108BD9-81ED-4DB2-BD59-A6C34878D82A}">
                    <a16:rowId xmlns:a16="http://schemas.microsoft.com/office/drawing/2014/main" val="3281029123"/>
                  </a:ext>
                </a:extLst>
              </a:tr>
            </a:tbl>
          </a:graphicData>
        </a:graphic>
      </p:graphicFrame>
      <p:graphicFrame>
        <p:nvGraphicFramePr>
          <p:cNvPr id="19" name="Table 18">
            <a:extLst>
              <a:ext uri="{FF2B5EF4-FFF2-40B4-BE49-F238E27FC236}">
                <a16:creationId xmlns:a16="http://schemas.microsoft.com/office/drawing/2014/main" id="{99CBEDC5-C31A-BC11-0066-CE9C1E133E79}"/>
              </a:ext>
            </a:extLst>
          </p:cNvPr>
          <p:cNvGraphicFramePr>
            <a:graphicFrameLocks noGrp="1"/>
          </p:cNvGraphicFramePr>
          <p:nvPr>
            <p:extLst>
              <p:ext uri="{D42A27DB-BD31-4B8C-83A1-F6EECF244321}">
                <p14:modId xmlns:p14="http://schemas.microsoft.com/office/powerpoint/2010/main" val="1034842652"/>
              </p:ext>
            </p:extLst>
          </p:nvPr>
        </p:nvGraphicFramePr>
        <p:xfrm>
          <a:off x="174103" y="5142282"/>
          <a:ext cx="11768955" cy="914672"/>
        </p:xfrm>
        <a:graphic>
          <a:graphicData uri="http://schemas.openxmlformats.org/drawingml/2006/table">
            <a:tbl>
              <a:tblPr>
                <a:tableStyleId>{5C22544A-7EE6-4342-B048-85BDC9FD1C3A}</a:tableStyleId>
              </a:tblPr>
              <a:tblGrid>
                <a:gridCol w="5156821">
                  <a:extLst>
                    <a:ext uri="{9D8B030D-6E8A-4147-A177-3AD203B41FA5}">
                      <a16:colId xmlns:a16="http://schemas.microsoft.com/office/drawing/2014/main" val="3768886055"/>
                    </a:ext>
                  </a:extLst>
                </a:gridCol>
                <a:gridCol w="6612134">
                  <a:extLst>
                    <a:ext uri="{9D8B030D-6E8A-4147-A177-3AD203B41FA5}">
                      <a16:colId xmlns:a16="http://schemas.microsoft.com/office/drawing/2014/main" val="2712732260"/>
                    </a:ext>
                  </a:extLst>
                </a:gridCol>
              </a:tblGrid>
              <a:tr h="127808">
                <a:tc>
                  <a:txBody>
                    <a:bodyPr/>
                    <a:lstStyle/>
                    <a:p>
                      <a:pPr algn="ctr" fontAlgn="ctr"/>
                      <a:r>
                        <a:rPr lang="en-US" sz="1100" b="1" u="none" strike="noStrike">
                          <a:effectLst/>
                        </a:rPr>
                        <a:t>Activities Performed &amp; Milestones Achieved</a:t>
                      </a:r>
                      <a:endParaRPr lang="en-US" sz="11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tc>
                  <a:txBody>
                    <a:bodyPr/>
                    <a:lstStyle/>
                    <a:p>
                      <a:pPr algn="ctr" fontAlgn="ctr"/>
                      <a:r>
                        <a:rPr lang="en-US" sz="1100" b="1" u="none" strike="noStrike">
                          <a:effectLst/>
                        </a:rPr>
                        <a:t>Major Action Items - Upcoming Activities - Comments</a:t>
                      </a:r>
                      <a:endParaRPr lang="en-US" sz="11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extLst>
                  <a:ext uri="{0D108BD9-81ED-4DB2-BD59-A6C34878D82A}">
                    <a16:rowId xmlns:a16="http://schemas.microsoft.com/office/drawing/2014/main" val="2763828571"/>
                  </a:ext>
                </a:extLst>
              </a:tr>
              <a:tr h="747032">
                <a:tc>
                  <a:txBody>
                    <a:bodyPr/>
                    <a:lstStyle/>
                    <a:p>
                      <a:pPr marL="171450" indent="-171450">
                        <a:buFont typeface="Arial" panose="020B0604020202020204" pitchFamily="34" charset="0"/>
                        <a:buChar char="•"/>
                      </a:pPr>
                      <a:r>
                        <a:rPr lang="en-US" sz="900" b="1"/>
                        <a:t>Roll-out Phase:</a:t>
                      </a:r>
                      <a:r>
                        <a:rPr lang="en-US" sz="900"/>
                        <a:t> Successfully completed on 29/5/2025, including all migration actions from Nimaworks and Elpedison.</a:t>
                      </a:r>
                    </a:p>
                    <a:p>
                      <a:pPr marL="171450" indent="-171450">
                        <a:buFont typeface="Arial" panose="020B0604020202020204" pitchFamily="34" charset="0"/>
                        <a:buChar char="•"/>
                      </a:pPr>
                      <a:r>
                        <a:rPr lang="en-US" sz="900" b="1"/>
                        <a:t>Project Renaming:</a:t>
                      </a:r>
                      <a:r>
                        <a:rPr lang="en-US" sz="900"/>
                        <a:t> Digital Portal renaming completed on 2/6/2025.</a:t>
                      </a:r>
                    </a:p>
                    <a:p>
                      <a:pPr marL="171450" indent="-171450">
                        <a:buFont typeface="Arial" panose="020B0604020202020204" pitchFamily="34" charset="0"/>
                        <a:buChar char="•"/>
                      </a:pPr>
                      <a:r>
                        <a:rPr lang="en-US" sz="900" b="1"/>
                        <a:t>Admin &amp; User Trainings:</a:t>
                      </a:r>
                      <a:r>
                        <a:rPr lang="en-US" sz="900"/>
                        <a:t> Successfully completed (13/6/2025 for Users, 17–18/6/2025 for Admins).</a:t>
                      </a:r>
                    </a:p>
                    <a:p>
                      <a:pPr marL="171450" lvl="0" indent="-171450" algn="l">
                        <a:buFont typeface="Arial"/>
                        <a:buChar char="•"/>
                      </a:pPr>
                      <a:endParaRPr lang="en-US" sz="900"/>
                    </a:p>
                  </a:txBody>
                  <a:tcPr marL="0" marR="0" marT="0" marB="0">
                    <a:solidFill>
                      <a:schemeClr val="accent4">
                        <a:lumMod val="20000"/>
                        <a:lumOff val="80000"/>
                      </a:schemeClr>
                    </a:solidFill>
                  </a:tcPr>
                </a:tc>
                <a:tc>
                  <a:txBody>
                    <a:bodyPr/>
                    <a:lstStyle/>
                    <a:p>
                      <a:pPr marL="171450" indent="-171450">
                        <a:buFont typeface="Arial" panose="020B0604020202020204" pitchFamily="34" charset="0"/>
                        <a:buChar char="•"/>
                      </a:pPr>
                      <a:r>
                        <a:rPr lang="en-US" sz="900" b="1"/>
                        <a:t>Licensing:</a:t>
                      </a:r>
                      <a:r>
                        <a:rPr lang="en-US" sz="900"/>
                        <a:t> Final decision pending on the number of additional licenses to be procured. Discussions ongoing with IT and Procurement.</a:t>
                      </a:r>
                    </a:p>
                    <a:p>
                      <a:pPr marL="171450" indent="-171450">
                        <a:buFont typeface="Arial" panose="020B0604020202020204" pitchFamily="34" charset="0"/>
                        <a:buChar char="•"/>
                      </a:pPr>
                      <a:r>
                        <a:rPr lang="en-US" sz="900" b="1"/>
                        <a:t>Payments:</a:t>
                      </a:r>
                      <a:r>
                        <a:rPr lang="en-US" sz="900"/>
                        <a:t> Pending processing by Accounting.</a:t>
                      </a:r>
                    </a:p>
                    <a:p>
                      <a:pPr marL="0" indent="0">
                        <a:buFont typeface="Arial" panose="020B0604020202020204" pitchFamily="34" charset="0"/>
                        <a:buNone/>
                      </a:pPr>
                      <a:endParaRPr lang="en-US" sz="900"/>
                    </a:p>
                    <a:p>
                      <a:pPr marL="171450" indent="-171450">
                        <a:buFont typeface="Arial" panose="020B0604020202020204" pitchFamily="34" charset="0"/>
                        <a:buChar char="•"/>
                      </a:pPr>
                      <a:endParaRPr lang="en-US" sz="900"/>
                    </a:p>
                  </a:txBody>
                  <a:tcPr marL="0" marR="0" marT="0" marB="0">
                    <a:solidFill>
                      <a:schemeClr val="accent4">
                        <a:lumMod val="20000"/>
                        <a:lumOff val="80000"/>
                      </a:schemeClr>
                    </a:solidFill>
                  </a:tcPr>
                </a:tc>
                <a:extLst>
                  <a:ext uri="{0D108BD9-81ED-4DB2-BD59-A6C34878D82A}">
                    <a16:rowId xmlns:a16="http://schemas.microsoft.com/office/drawing/2014/main" val="2561788850"/>
                  </a:ext>
                </a:extLst>
              </a:tr>
            </a:tbl>
          </a:graphicData>
        </a:graphic>
      </p:graphicFrame>
    </p:spTree>
    <p:extLst>
      <p:ext uri="{BB962C8B-B14F-4D97-AF65-F5344CB8AC3E}">
        <p14:creationId xmlns:p14="http://schemas.microsoft.com/office/powerpoint/2010/main" val="3998473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75634-C0ED-5EC1-DDA1-661232139F8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71A5BB-F1A6-BA71-2F44-8CA585ED91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6</a:t>
            </a:fld>
            <a:endParaRPr lang="en-US"/>
          </a:p>
        </p:txBody>
      </p:sp>
      <p:sp>
        <p:nvSpPr>
          <p:cNvPr id="4" name="Slide Number Placeholder 1">
            <a:extLst>
              <a:ext uri="{FF2B5EF4-FFF2-40B4-BE49-F238E27FC236}">
                <a16:creationId xmlns:a16="http://schemas.microsoft.com/office/drawing/2014/main" id="{64A0A7CC-407D-6A76-E5DF-B9FB3248E1B3}"/>
              </a:ext>
            </a:extLst>
          </p:cNvPr>
          <p:cNvSpPr txBox="1">
            <a:spLocks/>
          </p:cNvSpPr>
          <p:nvPr/>
        </p:nvSpPr>
        <p:spPr>
          <a:xfrm>
            <a:off x="8610600" y="6356350"/>
            <a:ext cx="2743200" cy="365125"/>
          </a:xfrm>
          <a:prstGeom prst="rect">
            <a:avLst/>
          </a:prstGeom>
          <a:noFill/>
          <a:ln>
            <a:noFill/>
          </a:ln>
        </p:spPr>
        <p:txBody>
          <a:bodyPr spcFirstLastPara="1" vert="horz" wrap="square" lIns="91425" tIns="45700" rIns="91425" bIns="45700" rtlCol="0" anchor="ctr" anchorCtr="0">
            <a:noAutofit/>
          </a:bodyPr>
          <a:lstStyle>
            <a:defPPr>
              <a:defRPr lang="en-US"/>
            </a:defPPr>
            <a:lvl1pPr marL="0" lvl="0" indent="0" algn="r" defTabSz="914400" rtl="0" eaLnBrk="1" latinLnBrk="0" hangingPunct="1">
              <a:spcBef>
                <a:spcPts val="0"/>
              </a:spcBef>
              <a:buNone/>
              <a:defRPr sz="1200" kern="1200">
                <a:solidFill>
                  <a:schemeClr val="tx1">
                    <a:tint val="75000"/>
                  </a:schemeClr>
                </a:solidFill>
                <a:latin typeface="+mn-lt"/>
                <a:ea typeface="+mn-ea"/>
                <a:cs typeface="+mn-cs"/>
              </a:defRPr>
            </a:lvl1pPr>
            <a:lvl2pPr marL="0" lvl="1" indent="0" algn="r" defTabSz="914400" rtl="0" eaLnBrk="1" latinLnBrk="0" hangingPunct="1">
              <a:spcBef>
                <a:spcPts val="0"/>
              </a:spcBef>
              <a:buNone/>
              <a:defRPr sz="1800" kern="1200">
                <a:solidFill>
                  <a:schemeClr val="tx1"/>
                </a:solidFill>
                <a:latin typeface="+mn-lt"/>
                <a:ea typeface="+mn-ea"/>
                <a:cs typeface="+mn-cs"/>
              </a:defRPr>
            </a:lvl2pPr>
            <a:lvl3pPr marL="0" lvl="2" indent="0" algn="r" defTabSz="914400" rtl="0" eaLnBrk="1" latinLnBrk="0" hangingPunct="1">
              <a:spcBef>
                <a:spcPts val="0"/>
              </a:spcBef>
              <a:buNone/>
              <a:defRPr sz="1800" kern="1200">
                <a:solidFill>
                  <a:schemeClr val="tx1"/>
                </a:solidFill>
                <a:latin typeface="+mn-lt"/>
                <a:ea typeface="+mn-ea"/>
                <a:cs typeface="+mn-cs"/>
              </a:defRPr>
            </a:lvl3pPr>
            <a:lvl4pPr marL="0" lvl="3" indent="0" algn="r" defTabSz="914400" rtl="0" eaLnBrk="1" latinLnBrk="0" hangingPunct="1">
              <a:spcBef>
                <a:spcPts val="0"/>
              </a:spcBef>
              <a:buNone/>
              <a:defRPr sz="1800" kern="1200">
                <a:solidFill>
                  <a:schemeClr val="tx1"/>
                </a:solidFill>
                <a:latin typeface="+mn-lt"/>
                <a:ea typeface="+mn-ea"/>
                <a:cs typeface="+mn-cs"/>
              </a:defRPr>
            </a:lvl4pPr>
            <a:lvl5pPr marL="0" lvl="4" indent="0" algn="r" defTabSz="914400" rtl="0" eaLnBrk="1" latinLnBrk="0" hangingPunct="1">
              <a:spcBef>
                <a:spcPts val="0"/>
              </a:spcBef>
              <a:buNone/>
              <a:defRPr sz="1800" kern="1200">
                <a:solidFill>
                  <a:schemeClr val="tx1"/>
                </a:solidFill>
                <a:latin typeface="+mn-lt"/>
                <a:ea typeface="+mn-ea"/>
                <a:cs typeface="+mn-cs"/>
              </a:defRPr>
            </a:lvl5pPr>
            <a:lvl6pPr marL="0" lvl="5" indent="0" algn="r" defTabSz="914400" rtl="0" eaLnBrk="1" latinLnBrk="0" hangingPunct="1">
              <a:spcBef>
                <a:spcPts val="0"/>
              </a:spcBef>
              <a:buNone/>
              <a:defRPr sz="1800" kern="1200">
                <a:solidFill>
                  <a:schemeClr val="tx1"/>
                </a:solidFill>
                <a:latin typeface="+mn-lt"/>
                <a:ea typeface="+mn-ea"/>
                <a:cs typeface="+mn-cs"/>
              </a:defRPr>
            </a:lvl6pPr>
            <a:lvl7pPr marL="0" lvl="6" indent="0" algn="r" defTabSz="914400" rtl="0" eaLnBrk="1" latinLnBrk="0" hangingPunct="1">
              <a:spcBef>
                <a:spcPts val="0"/>
              </a:spcBef>
              <a:buNone/>
              <a:defRPr sz="1800" kern="1200">
                <a:solidFill>
                  <a:schemeClr val="tx1"/>
                </a:solidFill>
                <a:latin typeface="+mn-lt"/>
                <a:ea typeface="+mn-ea"/>
                <a:cs typeface="+mn-cs"/>
              </a:defRPr>
            </a:lvl7pPr>
            <a:lvl8pPr marL="0" lvl="7" indent="0" algn="r" defTabSz="914400" rtl="0" eaLnBrk="1" latinLnBrk="0" hangingPunct="1">
              <a:spcBef>
                <a:spcPts val="0"/>
              </a:spcBef>
              <a:buNone/>
              <a:defRPr sz="1800" kern="1200">
                <a:solidFill>
                  <a:schemeClr val="tx1"/>
                </a:solidFill>
                <a:latin typeface="+mn-lt"/>
                <a:ea typeface="+mn-ea"/>
                <a:cs typeface="+mn-cs"/>
              </a:defRPr>
            </a:lvl8pPr>
            <a:lvl9pPr marL="0" lvl="8" indent="0" algn="r" defTabSz="914400" rtl="0" eaLnBrk="1" latinLnBrk="0" hangingPunct="1">
              <a:spcBef>
                <a:spcPts val="0"/>
              </a:spcBef>
              <a:buNone/>
              <a:defRPr sz="1800" kern="1200">
                <a:solidFill>
                  <a:schemeClr val="tx1"/>
                </a:solidFill>
                <a:latin typeface="+mn-lt"/>
                <a:ea typeface="+mn-ea"/>
                <a:cs typeface="+mn-cs"/>
              </a:defRPr>
            </a:lvl9pPr>
          </a:lstStyle>
          <a:p>
            <a:pPr>
              <a:defRPr/>
            </a:pPr>
            <a:fld id="{00000000-1234-1234-1234-123412341234}" type="slidenum">
              <a:rPr lang="en-US" smtClean="0">
                <a:solidFill>
                  <a:srgbClr val="2E5684">
                    <a:tint val="75000"/>
                  </a:srgbClr>
                </a:solidFill>
              </a:rPr>
              <a:pPr>
                <a:defRPr/>
              </a:pPr>
              <a:t>6</a:t>
            </a:fld>
            <a:endParaRPr lang="en-US">
              <a:solidFill>
                <a:srgbClr val="2E5684">
                  <a:tint val="75000"/>
                </a:srgbClr>
              </a:solidFill>
            </a:endParaRPr>
          </a:p>
        </p:txBody>
      </p:sp>
      <p:graphicFrame>
        <p:nvGraphicFramePr>
          <p:cNvPr id="5" name="Content Placeholder 4">
            <a:extLst>
              <a:ext uri="{FF2B5EF4-FFF2-40B4-BE49-F238E27FC236}">
                <a16:creationId xmlns:a16="http://schemas.microsoft.com/office/drawing/2014/main" id="{6C4D73AA-4319-4A2A-F719-F5FC36E5D271}"/>
              </a:ext>
            </a:extLst>
          </p:cNvPr>
          <p:cNvGraphicFramePr>
            <a:graphicFrameLocks/>
          </p:cNvGraphicFramePr>
          <p:nvPr>
            <p:extLst>
              <p:ext uri="{D42A27DB-BD31-4B8C-83A1-F6EECF244321}">
                <p14:modId xmlns:p14="http://schemas.microsoft.com/office/powerpoint/2010/main" val="2362430415"/>
              </p:ext>
            </p:extLst>
          </p:nvPr>
        </p:nvGraphicFramePr>
        <p:xfrm>
          <a:off x="5304063" y="-4621"/>
          <a:ext cx="6613073" cy="695077"/>
        </p:xfrm>
        <a:graphic>
          <a:graphicData uri="http://schemas.openxmlformats.org/drawingml/2006/table">
            <a:tbl>
              <a:tblPr firstRow="1" bandRow="1"/>
              <a:tblGrid>
                <a:gridCol w="724595">
                  <a:extLst>
                    <a:ext uri="{9D8B030D-6E8A-4147-A177-3AD203B41FA5}">
                      <a16:colId xmlns:a16="http://schemas.microsoft.com/office/drawing/2014/main" val="20000"/>
                    </a:ext>
                  </a:extLst>
                </a:gridCol>
                <a:gridCol w="734281">
                  <a:extLst>
                    <a:ext uri="{9D8B030D-6E8A-4147-A177-3AD203B41FA5}">
                      <a16:colId xmlns:a16="http://schemas.microsoft.com/office/drawing/2014/main" val="20001"/>
                    </a:ext>
                  </a:extLst>
                </a:gridCol>
                <a:gridCol w="1717090">
                  <a:extLst>
                    <a:ext uri="{9D8B030D-6E8A-4147-A177-3AD203B41FA5}">
                      <a16:colId xmlns:a16="http://schemas.microsoft.com/office/drawing/2014/main" val="20002"/>
                    </a:ext>
                  </a:extLst>
                </a:gridCol>
                <a:gridCol w="2033080">
                  <a:extLst>
                    <a:ext uri="{9D8B030D-6E8A-4147-A177-3AD203B41FA5}">
                      <a16:colId xmlns:a16="http://schemas.microsoft.com/office/drawing/2014/main" val="3624839458"/>
                    </a:ext>
                  </a:extLst>
                </a:gridCol>
                <a:gridCol w="1404027">
                  <a:extLst>
                    <a:ext uri="{9D8B030D-6E8A-4147-A177-3AD203B41FA5}">
                      <a16:colId xmlns:a16="http://schemas.microsoft.com/office/drawing/2014/main" val="2847559459"/>
                    </a:ext>
                  </a:extLst>
                </a:gridCol>
              </a:tblGrid>
              <a:tr h="20602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SAP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JIRA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PM/BP</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Business Owner</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Involved Divisions</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435997">
                <a:tc>
                  <a:txBody>
                    <a:bodyPr/>
                    <a:lstStyle/>
                    <a:p>
                      <a:pPr marL="0" algn="ctr" defTabSz="457198" rtl="0" eaLnBrk="1" latinLnBrk="0" hangingPunct="1"/>
                      <a:r>
                        <a:rPr lang="en-US" sz="1100" b="1" kern="1200">
                          <a:solidFill>
                            <a:schemeClr val="dk1"/>
                          </a:solidFill>
                          <a:latin typeface="Arial"/>
                          <a:ea typeface="+mn-ea"/>
                          <a:cs typeface="+mn-cs"/>
                        </a:rPr>
                        <a:t>R/00034</a:t>
                      </a:r>
                    </a:p>
                  </a:txBody>
                  <a:tcPr marL="68580" marR="68580" marT="0" marB="0"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1" u="sng" kern="1200">
                          <a:solidFill>
                            <a:schemeClr val="dk1"/>
                          </a:solidFill>
                          <a:latin typeface="Arial" panose="020B0604020202020204"/>
                          <a:ea typeface="+mn-ea"/>
                          <a:cs typeface="+mn-cs"/>
                          <a:hlinkClick r:id="rId3">
                            <a:extLst>
                              <a:ext uri="{A12FA001-AC4F-418D-AE19-62706E023703}">
                                <ahyp:hlinkClr xmlns:ahyp="http://schemas.microsoft.com/office/drawing/2018/hyperlinkcolor" val="tx"/>
                              </a:ext>
                            </a:extLst>
                          </a:hlinkClick>
                        </a:rPr>
                        <a:t>ID-367</a:t>
                      </a:r>
                      <a:endParaRPr lang="el-GR" sz="1100" b="1" u="sng" kern="1200">
                        <a:solidFill>
                          <a:schemeClr val="dk1"/>
                        </a:solidFill>
                        <a:latin typeface="Arial" panose="020B0604020202020204"/>
                        <a:ea typeface="+mn-ea"/>
                        <a:cs typeface="+mn-cs"/>
                      </a:endParaRPr>
                    </a:p>
                  </a:txBody>
                  <a:tcPr marL="68580" marR="68580" marT="0" marB="0" anchor="ctr">
                    <a:lnL w="12700" cap="flat" cmpd="sng" algn="ctr">
                      <a:solidFill>
                        <a:schemeClr val="bg1"/>
                      </a:solidFill>
                      <a:prstDash val="solid"/>
                      <a:round/>
                      <a:headEnd type="none" w="med" len="med"/>
                      <a:tailEnd type="none" w="med" len="med"/>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457198" rtl="0" eaLnBrk="1" latinLnBrk="0" hangingPunct="1"/>
                      <a:r>
                        <a:rPr lang="en-US" sz="1100" b="1" kern="1200">
                          <a:solidFill>
                            <a:schemeClr val="dk1"/>
                          </a:solidFill>
                          <a:latin typeface="Arial"/>
                          <a:ea typeface="+mn-ea"/>
                          <a:cs typeface="+mn-cs"/>
                        </a:rPr>
                        <a:t>Spanou</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IT</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DDDE,IT</a:t>
                      </a:r>
                    </a:p>
                  </a:txBody>
                  <a:tcPr marL="84406" marR="84406" anchor="ctr">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1F8AFA06-C394-D83B-803A-EE9F9EC747AB}"/>
              </a:ext>
            </a:extLst>
          </p:cNvPr>
          <p:cNvGraphicFramePr>
            <a:graphicFrameLocks/>
          </p:cNvGraphicFramePr>
          <p:nvPr>
            <p:extLst>
              <p:ext uri="{D42A27DB-BD31-4B8C-83A1-F6EECF244321}">
                <p14:modId xmlns:p14="http://schemas.microsoft.com/office/powerpoint/2010/main" val="1652708102"/>
              </p:ext>
            </p:extLst>
          </p:nvPr>
        </p:nvGraphicFramePr>
        <p:xfrm>
          <a:off x="5304063" y="674654"/>
          <a:ext cx="6604003" cy="566675"/>
        </p:xfrm>
        <a:graphic>
          <a:graphicData uri="http://schemas.openxmlformats.org/drawingml/2006/table">
            <a:tbl>
              <a:tblPr firstRow="1" bandRow="1"/>
              <a:tblGrid>
                <a:gridCol w="1651001">
                  <a:extLst>
                    <a:ext uri="{9D8B030D-6E8A-4147-A177-3AD203B41FA5}">
                      <a16:colId xmlns:a16="http://schemas.microsoft.com/office/drawing/2014/main" val="20000"/>
                    </a:ext>
                  </a:extLst>
                </a:gridCol>
                <a:gridCol w="1686788">
                  <a:extLst>
                    <a:ext uri="{9D8B030D-6E8A-4147-A177-3AD203B41FA5}">
                      <a16:colId xmlns:a16="http://schemas.microsoft.com/office/drawing/2014/main" val="20001"/>
                    </a:ext>
                  </a:extLst>
                </a:gridCol>
                <a:gridCol w="1615213">
                  <a:extLst>
                    <a:ext uri="{9D8B030D-6E8A-4147-A177-3AD203B41FA5}">
                      <a16:colId xmlns:a16="http://schemas.microsoft.com/office/drawing/2014/main" val="20002"/>
                    </a:ext>
                  </a:extLst>
                </a:gridCol>
                <a:gridCol w="1651001">
                  <a:extLst>
                    <a:ext uri="{9D8B030D-6E8A-4147-A177-3AD203B41FA5}">
                      <a16:colId xmlns:a16="http://schemas.microsoft.com/office/drawing/2014/main" val="20003"/>
                    </a:ext>
                  </a:extLst>
                </a:gridCol>
              </a:tblGrid>
              <a:tr h="227035">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Overall</a:t>
                      </a:r>
                    </a:p>
                  </a:txBody>
                  <a:tcPr marL="84406" marR="84406">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Schedule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Cost</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Scope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07595">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solidFill>
                          <a:schemeClr val="bg2"/>
                        </a:solidFill>
                      </a:endParaRPr>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27047014"/>
                  </a:ext>
                </a:extLst>
              </a:tr>
            </a:tbl>
          </a:graphicData>
        </a:graphic>
      </p:graphicFrame>
      <p:graphicFrame>
        <p:nvGraphicFramePr>
          <p:cNvPr id="7" name="Content Placeholder 4">
            <a:extLst>
              <a:ext uri="{FF2B5EF4-FFF2-40B4-BE49-F238E27FC236}">
                <a16:creationId xmlns:a16="http://schemas.microsoft.com/office/drawing/2014/main" id="{C1DF6F54-B5D7-A8E2-A21B-75D77F0111E5}"/>
              </a:ext>
            </a:extLst>
          </p:cNvPr>
          <p:cNvGraphicFramePr>
            <a:graphicFrameLocks/>
          </p:cNvGraphicFramePr>
          <p:nvPr>
            <p:extLst>
              <p:ext uri="{D42A27DB-BD31-4B8C-83A1-F6EECF244321}">
                <p14:modId xmlns:p14="http://schemas.microsoft.com/office/powerpoint/2010/main" val="2309167730"/>
              </p:ext>
            </p:extLst>
          </p:nvPr>
        </p:nvGraphicFramePr>
        <p:xfrm>
          <a:off x="5294992" y="1225483"/>
          <a:ext cx="6613074" cy="853440"/>
        </p:xfrm>
        <a:graphic>
          <a:graphicData uri="http://schemas.openxmlformats.org/drawingml/2006/table">
            <a:tbl>
              <a:tblPr firstRow="1" bandRow="1"/>
              <a:tblGrid>
                <a:gridCol w="1322615">
                  <a:extLst>
                    <a:ext uri="{9D8B030D-6E8A-4147-A177-3AD203B41FA5}">
                      <a16:colId xmlns:a16="http://schemas.microsoft.com/office/drawing/2014/main" val="20000"/>
                    </a:ext>
                  </a:extLst>
                </a:gridCol>
                <a:gridCol w="1165775">
                  <a:extLst>
                    <a:ext uri="{9D8B030D-6E8A-4147-A177-3AD203B41FA5}">
                      <a16:colId xmlns:a16="http://schemas.microsoft.com/office/drawing/2014/main" val="20001"/>
                    </a:ext>
                  </a:extLst>
                </a:gridCol>
                <a:gridCol w="1479454">
                  <a:extLst>
                    <a:ext uri="{9D8B030D-6E8A-4147-A177-3AD203B41FA5}">
                      <a16:colId xmlns:a16="http://schemas.microsoft.com/office/drawing/2014/main" val="20002"/>
                    </a:ext>
                  </a:extLst>
                </a:gridCol>
                <a:gridCol w="1322615">
                  <a:extLst>
                    <a:ext uri="{9D8B030D-6E8A-4147-A177-3AD203B41FA5}">
                      <a16:colId xmlns:a16="http://schemas.microsoft.com/office/drawing/2014/main" val="20003"/>
                    </a:ext>
                  </a:extLst>
                </a:gridCol>
                <a:gridCol w="1322615">
                  <a:extLst>
                    <a:ext uri="{9D8B030D-6E8A-4147-A177-3AD203B41FA5}">
                      <a16:colId xmlns:a16="http://schemas.microsoft.com/office/drawing/2014/main" val="1179070743"/>
                    </a:ext>
                  </a:extLst>
                </a:gridCol>
              </a:tblGrid>
              <a:tr h="210633">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baseline="0" dirty="0">
                          <a:latin typeface="Calibri"/>
                        </a:rPr>
                        <a:t>Project  Status</a:t>
                      </a:r>
                      <a:endParaRPr lang="en-US" sz="1100" dirty="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dirty="0">
                          <a:latin typeface="Calibri"/>
                        </a:rPr>
                        <a:t>Work Completed</a:t>
                      </a:r>
                      <a:r>
                        <a:rPr lang="en-US" sz="1100" baseline="0" dirty="0">
                          <a:latin typeface="Calibri"/>
                        </a:rPr>
                        <a:t> (%)</a:t>
                      </a:r>
                      <a:endParaRPr lang="en-US" sz="1100" dirty="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dirty="0">
                          <a:latin typeface="Calibri"/>
                        </a:rPr>
                        <a:t>Baseline</a:t>
                      </a:r>
                      <a:r>
                        <a:rPr lang="en-US" sz="1100" baseline="0" dirty="0">
                          <a:latin typeface="Calibri"/>
                        </a:rPr>
                        <a:t> Budget</a:t>
                      </a:r>
                      <a:endParaRPr lang="en-US" sz="1100" dirty="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dirty="0">
                          <a:solidFill>
                            <a:schemeClr val="lt1"/>
                          </a:solidFill>
                          <a:latin typeface="Calibri"/>
                          <a:ea typeface="+mn-ea"/>
                          <a:cs typeface="+mn-cs"/>
                        </a:rPr>
                        <a:t>Planned Start Date</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dirty="0">
                          <a:solidFill>
                            <a:schemeClr val="lt1"/>
                          </a:solidFill>
                          <a:latin typeface="Calibri"/>
                          <a:ea typeface="+mn-ea"/>
                          <a:cs typeface="+mn-cs"/>
                        </a:rPr>
                        <a:t>Planned/Estimated Completion Date</a:t>
                      </a:r>
                    </a:p>
                  </a:txBody>
                  <a:tcPr marL="84406" marR="84406">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6202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dirty="0">
                          <a:latin typeface="+mn-lt"/>
                        </a:rPr>
                        <a:t> </a:t>
                      </a:r>
                      <a:r>
                        <a:rPr lang="en-US" sz="1100" dirty="0" err="1">
                          <a:latin typeface="+mn-lt"/>
                        </a:rPr>
                        <a:t>Implemenation</a:t>
                      </a:r>
                      <a:r>
                        <a:rPr lang="en-US" sz="1100" dirty="0">
                          <a:latin typeface="+mn-lt"/>
                        </a:rPr>
                        <a:t>  </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l-GR" sz="1100" kern="1200" dirty="0">
                          <a:solidFill>
                            <a:schemeClr val="dk1"/>
                          </a:solidFill>
                          <a:latin typeface="+mn-lt"/>
                          <a:ea typeface="+mn-ea"/>
                          <a:cs typeface="+mn-cs"/>
                        </a:rPr>
                        <a:t>10%</a:t>
                      </a:r>
                      <a:endParaRPr lang="en-US" sz="1100" kern="1200" dirty="0">
                        <a:solidFill>
                          <a:schemeClr val="dk1"/>
                        </a:solidFill>
                        <a:latin typeface="+mn-lt"/>
                        <a:ea typeface="+mn-ea"/>
                        <a:cs typeface="+mn-cs"/>
                      </a:endParaRP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457198" rtl="0" eaLnBrk="1" latinLnBrk="0" hangingPunct="1"/>
                      <a:r>
                        <a:rPr lang="en-US" sz="1100" kern="1200" dirty="0">
                          <a:solidFill>
                            <a:schemeClr val="dk1"/>
                          </a:solidFill>
                          <a:latin typeface="+mn-lt"/>
                          <a:ea typeface="+mn-ea"/>
                          <a:cs typeface="+mn-cs"/>
                        </a:rPr>
                        <a:t>400K</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dirty="0">
                          <a:latin typeface="+mn-lt"/>
                        </a:rPr>
                        <a:t>12 May 2025</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mn-lt"/>
                        </a:rPr>
                        <a:t>15 Jan 2027</a:t>
                      </a:r>
                    </a:p>
                    <a:p>
                      <a:pPr algn="ctr"/>
                      <a:endParaRPr lang="en-US" sz="1100">
                        <a:latin typeface="+mn-lt"/>
                      </a:endParaRPr>
                    </a:p>
                  </a:txBody>
                  <a:tcPr marL="84406" marR="84406">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13" name="Table 12">
            <a:extLst>
              <a:ext uri="{FF2B5EF4-FFF2-40B4-BE49-F238E27FC236}">
                <a16:creationId xmlns:a16="http://schemas.microsoft.com/office/drawing/2014/main" id="{0283F9A1-3415-3B08-B013-2A897EB78338}"/>
              </a:ext>
            </a:extLst>
          </p:cNvPr>
          <p:cNvGraphicFramePr>
            <a:graphicFrameLocks noGrp="1"/>
          </p:cNvGraphicFramePr>
          <p:nvPr>
            <p:extLst>
              <p:ext uri="{D42A27DB-BD31-4B8C-83A1-F6EECF244321}">
                <p14:modId xmlns:p14="http://schemas.microsoft.com/office/powerpoint/2010/main" val="703182590"/>
              </p:ext>
            </p:extLst>
          </p:nvPr>
        </p:nvGraphicFramePr>
        <p:xfrm>
          <a:off x="150217" y="12543"/>
          <a:ext cx="5153846" cy="660751"/>
        </p:xfrm>
        <a:graphic>
          <a:graphicData uri="http://schemas.openxmlformats.org/drawingml/2006/table">
            <a:tbl>
              <a:tblPr firstRow="1" bandRow="1"/>
              <a:tblGrid>
                <a:gridCol w="1298812">
                  <a:extLst>
                    <a:ext uri="{9D8B030D-6E8A-4147-A177-3AD203B41FA5}">
                      <a16:colId xmlns:a16="http://schemas.microsoft.com/office/drawing/2014/main" val="110687116"/>
                    </a:ext>
                  </a:extLst>
                </a:gridCol>
                <a:gridCol w="3855034">
                  <a:extLst>
                    <a:ext uri="{9D8B030D-6E8A-4147-A177-3AD203B41FA5}">
                      <a16:colId xmlns:a16="http://schemas.microsoft.com/office/drawing/2014/main" val="3314271387"/>
                    </a:ext>
                  </a:extLst>
                </a:gridCol>
              </a:tblGrid>
              <a:tr h="660751">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Name</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lvl="0" algn="ctr">
                        <a:buNone/>
                      </a:pPr>
                      <a:r>
                        <a:rPr lang="en-US" sz="1400" b="1"/>
                        <a:t>Digitization Forms &amp; Flows </a:t>
                      </a:r>
                      <a:endParaRPr lang="el-GR" sz="1400" b="1"/>
                    </a:p>
                    <a:p>
                      <a:pPr lvl="0" algn="ctr">
                        <a:buNone/>
                      </a:pPr>
                      <a:r>
                        <a:rPr lang="en-US" sz="1400" b="1"/>
                        <a:t>(</a:t>
                      </a:r>
                      <a:r>
                        <a:rPr lang="en-US" sz="1400" b="1" err="1"/>
                        <a:t>UpPair</a:t>
                      </a:r>
                      <a:r>
                        <a:rPr lang="en-US" sz="1400" b="1"/>
                        <a:t> Platform) </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graphicFrame>
        <p:nvGraphicFramePr>
          <p:cNvPr id="16" name="Table 15">
            <a:extLst>
              <a:ext uri="{FF2B5EF4-FFF2-40B4-BE49-F238E27FC236}">
                <a16:creationId xmlns:a16="http://schemas.microsoft.com/office/drawing/2014/main" id="{34D83B88-CDF4-C8C8-B9FD-4027E9697C3B}"/>
              </a:ext>
            </a:extLst>
          </p:cNvPr>
          <p:cNvGraphicFramePr>
            <a:graphicFrameLocks noGrp="1"/>
          </p:cNvGraphicFramePr>
          <p:nvPr>
            <p:extLst>
              <p:ext uri="{D42A27DB-BD31-4B8C-83A1-F6EECF244321}">
                <p14:modId xmlns:p14="http://schemas.microsoft.com/office/powerpoint/2010/main" val="3708751981"/>
              </p:ext>
            </p:extLst>
          </p:nvPr>
        </p:nvGraphicFramePr>
        <p:xfrm>
          <a:off x="150222" y="640505"/>
          <a:ext cx="5153846" cy="1332795"/>
        </p:xfrm>
        <a:graphic>
          <a:graphicData uri="http://schemas.openxmlformats.org/drawingml/2006/table">
            <a:tbl>
              <a:tblPr firstRow="1" bandRow="1"/>
              <a:tblGrid>
                <a:gridCol w="1297967">
                  <a:extLst>
                    <a:ext uri="{9D8B030D-6E8A-4147-A177-3AD203B41FA5}">
                      <a16:colId xmlns:a16="http://schemas.microsoft.com/office/drawing/2014/main" val="110687116"/>
                    </a:ext>
                  </a:extLst>
                </a:gridCol>
                <a:gridCol w="3855879">
                  <a:extLst>
                    <a:ext uri="{9D8B030D-6E8A-4147-A177-3AD203B41FA5}">
                      <a16:colId xmlns:a16="http://schemas.microsoft.com/office/drawing/2014/main" val="3314271387"/>
                    </a:ext>
                  </a:extLst>
                </a:gridCol>
              </a:tblGrid>
              <a:tr h="133279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a:t>
                      </a:r>
                      <a:r>
                        <a:rPr lang="en-US" sz="1400" b="1" i="0" u="none" strike="noStrike" kern="1200" cap="none" spc="0" normalizeH="0" baseline="0" noProof="0">
                          <a:ln>
                            <a:noFill/>
                          </a:ln>
                          <a:solidFill>
                            <a:srgbClr val="FFFFFF"/>
                          </a:solidFill>
                          <a:effectLst/>
                          <a:uLnTx/>
                          <a:uFillTx/>
                          <a:latin typeface="+mn-lt"/>
                          <a:ea typeface="+mn-ea"/>
                          <a:cs typeface="+mn-cs"/>
                        </a:rPr>
                        <a:t>Scope</a:t>
                      </a:r>
                      <a:endParaRPr kumimoji="0" lang="en-US" sz="1400" b="1" i="0" u="none" strike="noStrike" kern="1200" cap="none" spc="0" normalizeH="0" baseline="0" noProof="0">
                        <a:ln>
                          <a:noFill/>
                        </a:ln>
                        <a:solidFill>
                          <a:srgbClr val="FFFFFF"/>
                        </a:solidFill>
                        <a:effectLst/>
                        <a:uLnTx/>
                        <a:uFillTx/>
                        <a:latin typeface="+mn-lt"/>
                        <a:ea typeface="+mn-ea"/>
                        <a:cs typeface="+mn-cs"/>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lvl="0" indent="0" algn="just">
                        <a:lnSpc>
                          <a:spcPct val="100000"/>
                        </a:lnSpc>
                        <a:buNone/>
                      </a:pPr>
                      <a:r>
                        <a:rPr lang="en-US" sz="1000" b="0"/>
                        <a:t>The project aims to expand and enhance the </a:t>
                      </a:r>
                      <a:r>
                        <a:rPr lang="en-US" sz="1000" b="0" err="1"/>
                        <a:t>UpPair</a:t>
                      </a:r>
                      <a:r>
                        <a:rPr lang="en-US" sz="1000" b="0"/>
                        <a:t> platform by digitizing manual workflows, integrating new business processes, and improving core functionalities. It includes the implementation of new digitization cases, platform automation, and scalability enhancements.</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sp>
        <p:nvSpPr>
          <p:cNvPr id="17" name="Oval 16">
            <a:extLst>
              <a:ext uri="{FF2B5EF4-FFF2-40B4-BE49-F238E27FC236}">
                <a16:creationId xmlns:a16="http://schemas.microsoft.com/office/drawing/2014/main" id="{9B61E80A-FF25-172A-CE84-3A3D2CEB05F4}"/>
              </a:ext>
            </a:extLst>
          </p:cNvPr>
          <p:cNvSpPr>
            <a:spLocks noChangeAspect="1"/>
          </p:cNvSpPr>
          <p:nvPr/>
        </p:nvSpPr>
        <p:spPr>
          <a:xfrm>
            <a:off x="6034701" y="97323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3" name="Oval 2">
            <a:extLst>
              <a:ext uri="{FF2B5EF4-FFF2-40B4-BE49-F238E27FC236}">
                <a16:creationId xmlns:a16="http://schemas.microsoft.com/office/drawing/2014/main" id="{5C29ADC7-7B95-E196-3732-0FF0A9CE633B}"/>
              </a:ext>
            </a:extLst>
          </p:cNvPr>
          <p:cNvSpPr>
            <a:spLocks noChangeAspect="1"/>
          </p:cNvSpPr>
          <p:nvPr/>
        </p:nvSpPr>
        <p:spPr>
          <a:xfrm>
            <a:off x="7656502" y="972683"/>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8" name="Oval 7">
            <a:extLst>
              <a:ext uri="{FF2B5EF4-FFF2-40B4-BE49-F238E27FC236}">
                <a16:creationId xmlns:a16="http://schemas.microsoft.com/office/drawing/2014/main" id="{492ACCA1-2283-FB4E-F061-FB39513422C5}"/>
              </a:ext>
            </a:extLst>
          </p:cNvPr>
          <p:cNvSpPr>
            <a:spLocks noChangeAspect="1"/>
          </p:cNvSpPr>
          <p:nvPr/>
        </p:nvSpPr>
        <p:spPr>
          <a:xfrm>
            <a:off x="10963365" y="96649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9" name="Oval 8">
            <a:extLst>
              <a:ext uri="{FF2B5EF4-FFF2-40B4-BE49-F238E27FC236}">
                <a16:creationId xmlns:a16="http://schemas.microsoft.com/office/drawing/2014/main" id="{F2879E68-FD8C-964C-D6CB-D95DD97342A0}"/>
              </a:ext>
            </a:extLst>
          </p:cNvPr>
          <p:cNvSpPr>
            <a:spLocks noChangeAspect="1"/>
          </p:cNvSpPr>
          <p:nvPr/>
        </p:nvSpPr>
        <p:spPr>
          <a:xfrm>
            <a:off x="9341564" y="97606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aphicFrame>
        <p:nvGraphicFramePr>
          <p:cNvPr id="18" name="Table 17">
            <a:extLst>
              <a:ext uri="{FF2B5EF4-FFF2-40B4-BE49-F238E27FC236}">
                <a16:creationId xmlns:a16="http://schemas.microsoft.com/office/drawing/2014/main" id="{166CB379-84D1-0582-96B2-2C37CDB16244}"/>
              </a:ext>
            </a:extLst>
          </p:cNvPr>
          <p:cNvGraphicFramePr>
            <a:graphicFrameLocks noGrp="1"/>
          </p:cNvGraphicFramePr>
          <p:nvPr>
            <p:extLst>
              <p:ext uri="{D42A27DB-BD31-4B8C-83A1-F6EECF244321}">
                <p14:modId xmlns:p14="http://schemas.microsoft.com/office/powerpoint/2010/main" val="2817331629"/>
              </p:ext>
            </p:extLst>
          </p:nvPr>
        </p:nvGraphicFramePr>
        <p:xfrm>
          <a:off x="150222" y="1918114"/>
          <a:ext cx="11790155" cy="2200824"/>
        </p:xfrm>
        <a:graphic>
          <a:graphicData uri="http://schemas.openxmlformats.org/drawingml/2006/table">
            <a:tbl>
              <a:tblPr firstRow="1" bandRow="1"/>
              <a:tblGrid>
                <a:gridCol w="4909854">
                  <a:extLst>
                    <a:ext uri="{9D8B030D-6E8A-4147-A177-3AD203B41FA5}">
                      <a16:colId xmlns:a16="http://schemas.microsoft.com/office/drawing/2014/main" val="20000"/>
                    </a:ext>
                  </a:extLst>
                </a:gridCol>
                <a:gridCol w="1305570">
                  <a:extLst>
                    <a:ext uri="{9D8B030D-6E8A-4147-A177-3AD203B41FA5}">
                      <a16:colId xmlns:a16="http://schemas.microsoft.com/office/drawing/2014/main" val="20001"/>
                    </a:ext>
                  </a:extLst>
                </a:gridCol>
                <a:gridCol w="1389404">
                  <a:extLst>
                    <a:ext uri="{9D8B030D-6E8A-4147-A177-3AD203B41FA5}">
                      <a16:colId xmlns:a16="http://schemas.microsoft.com/office/drawing/2014/main" val="20002"/>
                    </a:ext>
                  </a:extLst>
                </a:gridCol>
                <a:gridCol w="4185327">
                  <a:extLst>
                    <a:ext uri="{9D8B030D-6E8A-4147-A177-3AD203B41FA5}">
                      <a16:colId xmlns:a16="http://schemas.microsoft.com/office/drawing/2014/main" val="20005"/>
                    </a:ext>
                  </a:extLst>
                </a:gridCol>
              </a:tblGrid>
              <a:tr h="28792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200"/>
                        <a:t>Key Deliverables</a:t>
                      </a:r>
                      <a:endParaRPr lang="en-US" sz="12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200"/>
                        <a:t>R/A/G</a:t>
                      </a:r>
                      <a:endParaRPr lang="en-US" sz="12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200"/>
                        <a:t>Delivery Date</a:t>
                      </a:r>
                      <a:endParaRPr lang="en-US" sz="12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200"/>
                        <a:t>Remarks on progress</a:t>
                      </a:r>
                      <a:endParaRPr lang="en-US" sz="1200"/>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37874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sz="800">
                          <a:latin typeface="+mn-lt"/>
                        </a:rPr>
                        <a:t>Procurement Supplier Award Report (SARS) Digitization</a:t>
                      </a:r>
                    </a:p>
                  </a:txBody>
                  <a:tcPr anchor="ctr">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8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r>
                        <a:rPr lang="en-US" sz="800" kern="1200">
                          <a:solidFill>
                            <a:schemeClr val="tx1"/>
                          </a:solidFill>
                          <a:latin typeface="+mn-lt"/>
                          <a:ea typeface="+mn-ea"/>
                          <a:cs typeface="+mn-cs"/>
                        </a:rPr>
                        <a:t>26 Sep 2025</a:t>
                      </a:r>
                    </a:p>
                  </a:txBody>
                  <a:tcPr anchor="ctr">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algn="l" defTabSz="914400" rtl="0" eaLnBrk="1" latinLnBrk="0" hangingPunct="1"/>
                      <a:r>
                        <a:rPr lang="en-US" sz="800"/>
                        <a:t>Requirements gathering has been completed. Business Partner, with input from Procurement, has finalized the PSD. Product Owner is currently performing technical analysis. Implementation will start on 7/7, with planned delivery by 26/9.</a:t>
                      </a:r>
                      <a:endParaRPr lang="en-US" sz="800" kern="1200">
                        <a:solidFill>
                          <a:schemeClr val="tx1"/>
                        </a:solidFill>
                        <a:latin typeface="+mn-lt"/>
                        <a:ea typeface="+mn-ea"/>
                        <a:cs typeface="+mn-cs"/>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r h="378743">
                <a:tc>
                  <a:txBody>
                    <a:bodyPr/>
                    <a:lstStyle/>
                    <a:p>
                      <a:r>
                        <a:rPr lang="en-US" sz="800">
                          <a:latin typeface="+mn-lt"/>
                        </a:rPr>
                        <a:t>Digitization of forms &amp; flows of the annual Enterprise Risk Assessment</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8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algn="l" defTabSz="914400" rtl="0" eaLnBrk="1" latinLnBrk="0" hangingPunct="1"/>
                      <a:r>
                        <a:rPr lang="en-US" sz="800" kern="1200">
                          <a:solidFill>
                            <a:schemeClr val="tx1"/>
                          </a:solidFill>
                          <a:latin typeface="+mn-lt"/>
                          <a:ea typeface="+mn-ea"/>
                          <a:cs typeface="+mn-cs"/>
                        </a:rPr>
                        <a:t>5 Dec 2025</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algn="l" defTabSz="914400" rtl="0" eaLnBrk="1" latinLnBrk="0" hangingPunct="1"/>
                      <a:r>
                        <a:rPr lang="en-US" sz="800">
                          <a:latin typeface="+mn-lt"/>
                        </a:rPr>
                        <a:t>2 alignment sessions completed. BP and Business working on detailed requirement documentation.</a:t>
                      </a:r>
                      <a:r>
                        <a:rPr lang="el-GR" sz="800">
                          <a:latin typeface="+mn-lt"/>
                        </a:rPr>
                        <a:t> </a:t>
                      </a:r>
                      <a:endParaRPr lang="en-US" sz="800" b="1" kern="1200">
                        <a:solidFill>
                          <a:schemeClr val="tx1"/>
                        </a:solidFill>
                        <a:latin typeface="+mn-lt"/>
                        <a:ea typeface="+mn-ea"/>
                        <a:cs typeface="+mn-cs"/>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129133835"/>
                  </a:ext>
                </a:extLst>
              </a:tr>
              <a:tr h="241018">
                <a:tc>
                  <a:txBody>
                    <a:bodyPr/>
                    <a:lstStyle/>
                    <a:p>
                      <a:r>
                        <a:rPr lang="en-US" sz="800">
                          <a:latin typeface="+mn-lt"/>
                        </a:rPr>
                        <a:t>Investment Proposal Digitization</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8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algn="l" defTabSz="914400" rtl="0" eaLnBrk="1" latinLnBrk="0" hangingPunct="1"/>
                      <a:r>
                        <a:rPr lang="en-US" sz="800" kern="1200">
                          <a:solidFill>
                            <a:schemeClr val="tx1"/>
                          </a:solidFill>
                          <a:latin typeface="+mn-lt"/>
                          <a:ea typeface="+mn-ea"/>
                          <a:cs typeface="+mn-cs"/>
                        </a:rPr>
                        <a:t>27 Feb 2026</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algn="l" defTabSz="914400" rtl="0" eaLnBrk="1" latinLnBrk="0" hangingPunct="1"/>
                      <a:r>
                        <a:rPr lang="en-US" sz="800">
                          <a:latin typeface="+mn-lt"/>
                        </a:rPr>
                        <a:t>Initial alignment held. Awaiting internal process readiness to proceed.</a:t>
                      </a:r>
                      <a:endParaRPr lang="en-US" sz="800" kern="1200">
                        <a:solidFill>
                          <a:schemeClr val="tx1"/>
                        </a:solidFill>
                        <a:latin typeface="+mn-lt"/>
                        <a:ea typeface="+mn-ea"/>
                        <a:cs typeface="+mn-cs"/>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43074859"/>
                  </a:ext>
                </a:extLst>
              </a:tr>
              <a:tr h="370872">
                <a:tc>
                  <a:txBody>
                    <a:bodyPr/>
                    <a:lstStyle/>
                    <a:p>
                      <a:r>
                        <a:rPr lang="en-US" sz="800">
                          <a:latin typeface="+mn-lt"/>
                        </a:rPr>
                        <a:t>New Core Functionalities</a:t>
                      </a:r>
                      <a:endParaRPr lang="en-US" sz="800" b="1">
                        <a:latin typeface="+mn-lt"/>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8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algn="l" defTabSz="914400" rtl="0" eaLnBrk="1" latinLnBrk="0" hangingPunct="1"/>
                      <a:r>
                        <a:rPr lang="en-US" sz="800"/>
                        <a:t>Progressive delivery throughout project duration </a:t>
                      </a:r>
                      <a:endParaRPr lang="en-US" sz="800" kern="1200">
                        <a:solidFill>
                          <a:schemeClr val="tx1"/>
                        </a:solidFill>
                        <a:latin typeface="+mn-lt"/>
                        <a:ea typeface="+mn-ea"/>
                        <a:cs typeface="+mn-cs"/>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algn="l" defTabSz="914400" rtl="0" eaLnBrk="1" latinLnBrk="0" hangingPunct="1"/>
                      <a:r>
                        <a:rPr lang="en-US" sz="800"/>
                        <a:t>Core functionalities will be progressively implemented in parallel with other digitization cases, based on prioritization and available team capacity. Specific deliveries will be aligned with ongoing analysis and business needs.</a:t>
                      </a:r>
                      <a:endParaRPr lang="en-US" sz="800" kern="1200">
                        <a:solidFill>
                          <a:schemeClr val="tx1"/>
                        </a:solidFill>
                        <a:latin typeface="+mn-lt"/>
                        <a:ea typeface="+mn-ea"/>
                        <a:cs typeface="+mn-cs"/>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83633131"/>
                  </a:ext>
                </a:extLst>
              </a:tr>
              <a:tr h="378743">
                <a:tc>
                  <a:txBody>
                    <a:bodyPr/>
                    <a:lstStyle/>
                    <a:p>
                      <a:r>
                        <a:rPr lang="en-US" sz="800"/>
                        <a:t>Additional Use Cases (Phase B)</a:t>
                      </a:r>
                      <a:endParaRPr lang="en-US" sz="800" b="1">
                        <a:latin typeface="+mn-lt"/>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800" b="1">
                          <a:solidFill>
                            <a:schemeClr val="bg1"/>
                          </a:solidFill>
                          <a:latin typeface="+mn-lt"/>
                        </a:rPr>
                        <a:t>G</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algn="l" defTabSz="914400" rtl="0" eaLnBrk="1" latinLnBrk="0" hangingPunct="1"/>
                      <a:r>
                        <a:rPr lang="en-US" sz="800" kern="1200">
                          <a:solidFill>
                            <a:schemeClr val="tx1"/>
                          </a:solidFill>
                          <a:latin typeface="+mn-lt"/>
                          <a:ea typeface="+mn-ea"/>
                          <a:cs typeface="+mn-cs"/>
                        </a:rPr>
                        <a:t>12 Jan 2027</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algn="l" defTabSz="914400" rtl="0" eaLnBrk="1" latinLnBrk="0" hangingPunct="1"/>
                      <a:r>
                        <a:rPr lang="en-US" sz="800"/>
                        <a:t>Further digitization cases are foreseen under Phase B. Future implementation steps will be based on the outcomes of the current analysis and prioritization.</a:t>
                      </a:r>
                      <a:endParaRPr lang="en-US" sz="800" kern="1200">
                        <a:solidFill>
                          <a:schemeClr val="tx1"/>
                        </a:solidFill>
                        <a:latin typeface="+mn-lt"/>
                        <a:ea typeface="+mn-ea"/>
                        <a:cs typeface="+mn-cs"/>
                      </a:endParaRP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929095388"/>
                  </a:ext>
                </a:extLst>
              </a:tr>
            </a:tbl>
          </a:graphicData>
        </a:graphic>
      </p:graphicFrame>
      <p:graphicFrame>
        <p:nvGraphicFramePr>
          <p:cNvPr id="19" name="Table 18">
            <a:extLst>
              <a:ext uri="{FF2B5EF4-FFF2-40B4-BE49-F238E27FC236}">
                <a16:creationId xmlns:a16="http://schemas.microsoft.com/office/drawing/2014/main" id="{66B3018F-0F18-62AF-AB60-13BFDA46D91C}"/>
              </a:ext>
            </a:extLst>
          </p:cNvPr>
          <p:cNvGraphicFramePr>
            <a:graphicFrameLocks noGrp="1"/>
          </p:cNvGraphicFramePr>
          <p:nvPr>
            <p:extLst>
              <p:ext uri="{D42A27DB-BD31-4B8C-83A1-F6EECF244321}">
                <p14:modId xmlns:p14="http://schemas.microsoft.com/office/powerpoint/2010/main" val="2577510668"/>
              </p:ext>
            </p:extLst>
          </p:nvPr>
        </p:nvGraphicFramePr>
        <p:xfrm>
          <a:off x="139111" y="4068404"/>
          <a:ext cx="11768955" cy="1181100"/>
        </p:xfrm>
        <a:graphic>
          <a:graphicData uri="http://schemas.openxmlformats.org/drawingml/2006/table">
            <a:tbl>
              <a:tblPr>
                <a:tableStyleId>{5C22544A-7EE6-4342-B048-85BDC9FD1C3A}</a:tableStyleId>
              </a:tblPr>
              <a:tblGrid>
                <a:gridCol w="4940311">
                  <a:extLst>
                    <a:ext uri="{9D8B030D-6E8A-4147-A177-3AD203B41FA5}">
                      <a16:colId xmlns:a16="http://schemas.microsoft.com/office/drawing/2014/main" val="3768886055"/>
                    </a:ext>
                  </a:extLst>
                </a:gridCol>
                <a:gridCol w="6828644">
                  <a:extLst>
                    <a:ext uri="{9D8B030D-6E8A-4147-A177-3AD203B41FA5}">
                      <a16:colId xmlns:a16="http://schemas.microsoft.com/office/drawing/2014/main" val="2712732260"/>
                    </a:ext>
                  </a:extLst>
                </a:gridCol>
              </a:tblGrid>
              <a:tr h="157677">
                <a:tc>
                  <a:txBody>
                    <a:bodyPr/>
                    <a:lstStyle/>
                    <a:p>
                      <a:pPr algn="ctr" fontAlgn="ctr"/>
                      <a:r>
                        <a:rPr lang="en-US" sz="1100" b="1" u="none" strike="noStrike">
                          <a:effectLst/>
                        </a:rPr>
                        <a:t>Activities Performed &amp; Milestones Achieved</a:t>
                      </a:r>
                      <a:endParaRPr lang="en-US" sz="11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tc>
                  <a:txBody>
                    <a:bodyPr/>
                    <a:lstStyle/>
                    <a:p>
                      <a:pPr algn="ctr" fontAlgn="ctr"/>
                      <a:r>
                        <a:rPr lang="en-US" sz="1100" b="1" u="none" strike="noStrike">
                          <a:effectLst/>
                        </a:rPr>
                        <a:t>Major Action Items - Upcoming Activities – Comments</a:t>
                      </a:r>
                      <a:endParaRPr lang="en-US" sz="11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extLst>
                  <a:ext uri="{0D108BD9-81ED-4DB2-BD59-A6C34878D82A}">
                    <a16:rowId xmlns:a16="http://schemas.microsoft.com/office/drawing/2014/main" val="2763828571"/>
                  </a:ext>
                </a:extLst>
              </a:tr>
              <a:tr h="864715">
                <a:tc>
                  <a:txBody>
                    <a:bodyPr/>
                    <a:lstStyle/>
                    <a:p>
                      <a:pPr marL="171450" indent="-171450">
                        <a:buFont typeface="Arial" panose="020B0604020202020204" pitchFamily="34" charset="0"/>
                        <a:buChar char="•"/>
                      </a:pPr>
                      <a:r>
                        <a:rPr lang="en-US" sz="1000"/>
                        <a:t>Prioritization agreed: SARS to start first, followed by Risk Assessment and Investment Proposal.</a:t>
                      </a:r>
                    </a:p>
                    <a:p>
                      <a:pPr marL="171450" indent="-171450">
                        <a:buFont typeface="Arial" panose="020B0604020202020204" pitchFamily="34" charset="0"/>
                        <a:buChar char="•"/>
                      </a:pPr>
                      <a:r>
                        <a:rPr lang="en-US" sz="1000"/>
                        <a:t>Requirements gathering finalized for SARS with support from business stakeholders.</a:t>
                      </a:r>
                    </a:p>
                    <a:p>
                      <a:pPr marL="171450" indent="-171450">
                        <a:buFont typeface="Arial" panose="020B0604020202020204" pitchFamily="34" charset="0"/>
                        <a:buChar char="•"/>
                      </a:pPr>
                      <a:r>
                        <a:rPr lang="en-US" sz="1000"/>
                        <a:t>SARS documentation currently under internal analysis by Product Owner.</a:t>
                      </a:r>
                    </a:p>
                    <a:p>
                      <a:pPr marL="171450" indent="-171450">
                        <a:buFont typeface="Arial" panose="020B0604020202020204" pitchFamily="34" charset="0"/>
                        <a:buChar char="•"/>
                      </a:pPr>
                      <a:endParaRPr lang="en-US" sz="1000"/>
                    </a:p>
                    <a:p>
                      <a:pPr marL="285750" indent="-285750" algn="l" defTabSz="914400" rtl="0" eaLnBrk="1" fontAlgn="ctr" latinLnBrk="0" hangingPunct="1">
                        <a:buFont typeface="Arial" panose="020B0604020202020204" pitchFamily="34" charset="0"/>
                        <a:buChar char="•"/>
                      </a:pPr>
                      <a:endParaRPr lang="en-US" sz="1050" kern="1200">
                        <a:solidFill>
                          <a:schemeClr val="dk1"/>
                        </a:solidFill>
                        <a:latin typeface="+mn-lt"/>
                        <a:ea typeface="+mn-ea"/>
                        <a:cs typeface="+mn-cs"/>
                      </a:endParaRPr>
                    </a:p>
                  </a:txBody>
                  <a:tcPr>
                    <a:solidFill>
                      <a:schemeClr val="bg2"/>
                    </a:solidFill>
                  </a:tcPr>
                </a:tc>
                <a:tc>
                  <a:txBody>
                    <a:bodyPr/>
                    <a:lstStyle/>
                    <a:p>
                      <a:pPr marL="171450" indent="-171450" algn="l" defTabSz="914400" rtl="0" eaLnBrk="1" latinLnBrk="0" hangingPunct="1">
                        <a:buFont typeface="Arial" panose="020B0604020202020204" pitchFamily="34" charset="0"/>
                        <a:buChar char="•"/>
                      </a:pPr>
                      <a:r>
                        <a:rPr lang="en-US" sz="1000" kern="1200">
                          <a:solidFill>
                            <a:schemeClr val="dk1"/>
                          </a:solidFill>
                          <a:latin typeface="+mn-lt"/>
                          <a:ea typeface="+mn-ea"/>
                          <a:cs typeface="+mn-cs"/>
                        </a:rPr>
                        <a:t>Start of SARS implementation scheduled for 7 July 2025 </a:t>
                      </a:r>
                    </a:p>
                    <a:p>
                      <a:pPr marL="171450" indent="-171450" algn="l" defTabSz="914400" rtl="0" eaLnBrk="1" latinLnBrk="0" hangingPunct="1">
                        <a:buFont typeface="Arial" panose="020B0604020202020204" pitchFamily="34" charset="0"/>
                        <a:buChar char="•"/>
                      </a:pPr>
                      <a:r>
                        <a:rPr lang="en-US" sz="1000" kern="1200">
                          <a:solidFill>
                            <a:schemeClr val="dk1"/>
                          </a:solidFill>
                          <a:latin typeface="+mn-lt"/>
                          <a:ea typeface="+mn-ea"/>
                          <a:cs typeface="+mn-cs"/>
                        </a:rPr>
                        <a:t>Enterprise Risk Assessment and Investment Proposal cases planned to follow in Q4 2025.</a:t>
                      </a:r>
                    </a:p>
                    <a:p>
                      <a:pPr marL="171450" indent="-171450" algn="l" defTabSz="914400" rtl="0" eaLnBrk="1" latinLnBrk="0" hangingPunct="1">
                        <a:buFont typeface="Arial" panose="020B0604020202020204" pitchFamily="34" charset="0"/>
                        <a:buChar char="•"/>
                      </a:pPr>
                      <a:r>
                        <a:rPr lang="en-US" sz="1000" kern="1200">
                          <a:solidFill>
                            <a:schemeClr val="dk1"/>
                          </a:solidFill>
                          <a:latin typeface="+mn-lt"/>
                          <a:ea typeface="+mn-ea"/>
                          <a:cs typeface="+mn-cs"/>
                        </a:rPr>
                        <a:t>Kick-off meeting to be held in July to align on overall approach and responsibilities.</a:t>
                      </a:r>
                    </a:p>
                    <a:p>
                      <a:pPr marL="171450" indent="-171450" algn="l" defTabSz="914400" rtl="0" eaLnBrk="1" latinLnBrk="0" hangingPunct="1">
                        <a:buFont typeface="Arial" panose="020B0604020202020204" pitchFamily="34" charset="0"/>
                        <a:buChar char="•"/>
                      </a:pPr>
                      <a:r>
                        <a:rPr lang="en-US" sz="1000" kern="1200">
                          <a:solidFill>
                            <a:schemeClr val="dk1"/>
                          </a:solidFill>
                          <a:latin typeface="+mn-lt"/>
                          <a:ea typeface="+mn-ea"/>
                          <a:cs typeface="+mn-cs"/>
                        </a:rPr>
                        <a:t>Post-implementation: Qualitative Assessment and Cost-Benefit Analysis.</a:t>
                      </a:r>
                    </a:p>
                    <a:p>
                      <a:pPr marL="171450" indent="-171450" algn="l" defTabSz="914400" rtl="0" eaLnBrk="1" latinLnBrk="0" hangingPunct="1">
                        <a:buFont typeface="Arial" panose="020B0604020202020204" pitchFamily="34" charset="0"/>
                        <a:buChar char="•"/>
                      </a:pPr>
                      <a:r>
                        <a:rPr lang="en-US" sz="1000" kern="1200">
                          <a:solidFill>
                            <a:schemeClr val="dk1"/>
                          </a:solidFill>
                          <a:latin typeface="+mn-lt"/>
                          <a:ea typeface="+mn-ea"/>
                          <a:cs typeface="+mn-cs"/>
                        </a:rPr>
                        <a:t>Definition of Merit Order based on findings to guide prioritization of any subsequent digitization cases.</a:t>
                      </a:r>
                    </a:p>
                    <a:p>
                      <a:pPr marL="0" indent="0">
                        <a:buFont typeface="Arial" panose="020B0604020202020204" pitchFamily="34" charset="0"/>
                        <a:buNone/>
                      </a:pPr>
                      <a:endParaRPr lang="en-US" sz="900"/>
                    </a:p>
                  </a:txBody>
                  <a:tcPr anchor="ctr">
                    <a:solidFill>
                      <a:schemeClr val="bg2"/>
                    </a:solidFill>
                  </a:tcPr>
                </a:tc>
                <a:extLst>
                  <a:ext uri="{0D108BD9-81ED-4DB2-BD59-A6C34878D82A}">
                    <a16:rowId xmlns:a16="http://schemas.microsoft.com/office/drawing/2014/main" val="2106534906"/>
                  </a:ext>
                </a:extLst>
              </a:tr>
            </a:tbl>
          </a:graphicData>
        </a:graphic>
      </p:graphicFrame>
      <p:graphicFrame>
        <p:nvGraphicFramePr>
          <p:cNvPr id="20" name="Table 19">
            <a:extLst>
              <a:ext uri="{FF2B5EF4-FFF2-40B4-BE49-F238E27FC236}">
                <a16:creationId xmlns:a16="http://schemas.microsoft.com/office/drawing/2014/main" id="{EA55BD5F-4816-EB65-44E1-E95E016DFE8C}"/>
              </a:ext>
            </a:extLst>
          </p:cNvPr>
          <p:cNvGraphicFramePr>
            <a:graphicFrameLocks noGrp="1"/>
          </p:cNvGraphicFramePr>
          <p:nvPr>
            <p:extLst>
              <p:ext uri="{D42A27DB-BD31-4B8C-83A1-F6EECF244321}">
                <p14:modId xmlns:p14="http://schemas.microsoft.com/office/powerpoint/2010/main" val="2397864617"/>
              </p:ext>
            </p:extLst>
          </p:nvPr>
        </p:nvGraphicFramePr>
        <p:xfrm>
          <a:off x="151863" y="5090795"/>
          <a:ext cx="11790154" cy="1630680"/>
        </p:xfrm>
        <a:graphic>
          <a:graphicData uri="http://schemas.openxmlformats.org/drawingml/2006/table">
            <a:tbl>
              <a:tblPr>
                <a:tableStyleId>{5C22544A-7EE6-4342-B048-85BDC9FD1C3A}</a:tableStyleId>
              </a:tblPr>
              <a:tblGrid>
                <a:gridCol w="4926857">
                  <a:extLst>
                    <a:ext uri="{9D8B030D-6E8A-4147-A177-3AD203B41FA5}">
                      <a16:colId xmlns:a16="http://schemas.microsoft.com/office/drawing/2014/main" val="2003250863"/>
                    </a:ext>
                  </a:extLst>
                </a:gridCol>
                <a:gridCol w="1370474">
                  <a:extLst>
                    <a:ext uri="{9D8B030D-6E8A-4147-A177-3AD203B41FA5}">
                      <a16:colId xmlns:a16="http://schemas.microsoft.com/office/drawing/2014/main" val="2445968811"/>
                    </a:ext>
                  </a:extLst>
                </a:gridCol>
                <a:gridCol w="5492823">
                  <a:extLst>
                    <a:ext uri="{9D8B030D-6E8A-4147-A177-3AD203B41FA5}">
                      <a16:colId xmlns:a16="http://schemas.microsoft.com/office/drawing/2014/main" val="187998877"/>
                    </a:ext>
                  </a:extLst>
                </a:gridCol>
              </a:tblGrid>
              <a:tr h="11334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u="none" strike="noStrike" kern="1200">
                          <a:solidFill>
                            <a:schemeClr val="bg1"/>
                          </a:solidFill>
                          <a:effectLst/>
                          <a:latin typeface="+mn-lt"/>
                          <a:ea typeface="+mn-ea"/>
                          <a:cs typeface="+mn-cs"/>
                        </a:rPr>
                        <a:t>Risk</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u="none" strike="noStrike" kern="1200">
                          <a:solidFill>
                            <a:schemeClr val="bg1"/>
                          </a:solidFill>
                          <a:effectLst/>
                          <a:latin typeface="+mn-lt"/>
                          <a:ea typeface="+mn-ea"/>
                          <a:cs typeface="+mn-cs"/>
                        </a:rPr>
                        <a:t>Risk Assessment</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u="none" strike="noStrike" kern="1200">
                          <a:solidFill>
                            <a:schemeClr val="bg1"/>
                          </a:solidFill>
                          <a:effectLst/>
                          <a:latin typeface="+mn-lt"/>
                          <a:ea typeface="+mn-ea"/>
                          <a:cs typeface="+mn-cs"/>
                        </a:rPr>
                        <a:t>Mitigation Actions</a:t>
                      </a:r>
                    </a:p>
                  </a:txBody>
                  <a:tcPr marL="0" marR="0" marT="0" marB="0" anchor="ctr">
                    <a:solidFill>
                      <a:schemeClr val="accent1"/>
                    </a:solidFill>
                  </a:tcPr>
                </a:tc>
                <a:extLst>
                  <a:ext uri="{0D108BD9-81ED-4DB2-BD59-A6C34878D82A}">
                    <a16:rowId xmlns:a16="http://schemas.microsoft.com/office/drawing/2014/main" val="2763828571"/>
                  </a:ext>
                </a:extLst>
              </a:tr>
              <a:tr h="0">
                <a:tc>
                  <a:txBody>
                    <a:bodyPr/>
                    <a:lstStyle/>
                    <a:p>
                      <a:r>
                        <a:rPr lang="en-US" sz="900"/>
                        <a:t>Delay in requirements documentation and analysis due to limited stakeholder availability or slow response times</a:t>
                      </a:r>
                    </a:p>
                  </a:txBody>
                  <a:tcPr anchor="ctr">
                    <a:solidFill>
                      <a:schemeClr val="bg2"/>
                    </a:solidFill>
                  </a:tcPr>
                </a:tc>
                <a:tc>
                  <a:txBody>
                    <a:bodyPr/>
                    <a:lstStyle/>
                    <a:p>
                      <a:pPr lvl="0" algn="ctr">
                        <a:buNone/>
                      </a:pPr>
                      <a:r>
                        <a:rPr lang="en-US" sz="900" b="1">
                          <a:solidFill>
                            <a:schemeClr val="bg1"/>
                          </a:solidFill>
                          <a:effectLst/>
                          <a:latin typeface="+mn-lt"/>
                        </a:rPr>
                        <a:t>M</a:t>
                      </a:r>
                    </a:p>
                  </a:txBody>
                  <a:tcPr marL="38100" marR="38100" marT="38100" marB="38100" anchor="ctr">
                    <a:solidFill>
                      <a:srgbClr val="EE7F00"/>
                    </a:solidFill>
                  </a:tcPr>
                </a:tc>
                <a:tc>
                  <a:txBody>
                    <a:bodyPr/>
                    <a:lstStyle/>
                    <a:p>
                      <a:r>
                        <a:rPr lang="en-US" sz="900"/>
                        <a:t>Set clear deadlines, send reminders, and prioritize alignment meetings with BPs and Business Owners to keep momentum. Escalate if required.</a:t>
                      </a:r>
                    </a:p>
                  </a:txBody>
                  <a:tcPr anchor="ctr">
                    <a:solidFill>
                      <a:schemeClr val="bg2"/>
                    </a:solidFill>
                  </a:tcPr>
                </a:tc>
                <a:extLst>
                  <a:ext uri="{0D108BD9-81ED-4DB2-BD59-A6C34878D82A}">
                    <a16:rowId xmlns:a16="http://schemas.microsoft.com/office/drawing/2014/main" val="4186783831"/>
                  </a:ext>
                </a:extLst>
              </a:tr>
              <a:tr h="0">
                <a:tc>
                  <a:txBody>
                    <a:bodyPr/>
                    <a:lstStyle/>
                    <a:p>
                      <a:r>
                        <a:rPr lang="en-US" sz="900" b="0"/>
                        <a:t>Resource Availability</a:t>
                      </a:r>
                    </a:p>
                  </a:txBody>
                  <a:tcPr anchor="ctr">
                    <a:solidFill>
                      <a:schemeClr val="bg2"/>
                    </a:solidFill>
                  </a:tcPr>
                </a:tc>
                <a:tc>
                  <a:txBody>
                    <a:bodyPr/>
                    <a:lstStyle/>
                    <a:p>
                      <a:pPr lvl="0" algn="ctr">
                        <a:buNone/>
                      </a:pPr>
                      <a:r>
                        <a:rPr lang="en-US" sz="900" b="1">
                          <a:solidFill>
                            <a:schemeClr val="bg1"/>
                          </a:solidFill>
                          <a:effectLst/>
                          <a:latin typeface="+mn-lt"/>
                        </a:rPr>
                        <a:t>M</a:t>
                      </a:r>
                    </a:p>
                  </a:txBody>
                  <a:tcPr marL="38100" marR="38100" marT="38100" marB="38100" anchor="ctr">
                    <a:solidFill>
                      <a:srgbClr val="EE7F00"/>
                    </a:solidFill>
                  </a:tcPr>
                </a:tc>
                <a:tc>
                  <a:txBody>
                    <a:bodyPr/>
                    <a:lstStyle/>
                    <a:p>
                      <a:r>
                        <a:rPr lang="en-US" sz="900"/>
                        <a:t>Upskill internal teams, align early with implementation teams on resource planning, and monitor workload across parallel projects.</a:t>
                      </a:r>
                    </a:p>
                  </a:txBody>
                  <a:tcPr anchor="ctr">
                    <a:solidFill>
                      <a:schemeClr val="bg2"/>
                    </a:solidFill>
                  </a:tcPr>
                </a:tc>
                <a:extLst>
                  <a:ext uri="{0D108BD9-81ED-4DB2-BD59-A6C34878D82A}">
                    <a16:rowId xmlns:a16="http://schemas.microsoft.com/office/drawing/2014/main" val="2913830074"/>
                  </a:ext>
                </a:extLst>
              </a:tr>
              <a:tr h="0">
                <a:tc>
                  <a:txBody>
                    <a:bodyPr/>
                    <a:lstStyle/>
                    <a:p>
                      <a:r>
                        <a:rPr lang="en-US" sz="900" b="0"/>
                        <a:t>Development Costs</a:t>
                      </a:r>
                    </a:p>
                  </a:txBody>
                  <a:tcPr anchor="ctr">
                    <a:solidFill>
                      <a:schemeClr val="bg2"/>
                    </a:solidFill>
                  </a:tcPr>
                </a:tc>
                <a:tc>
                  <a:txBody>
                    <a:bodyPr/>
                    <a:lstStyle/>
                    <a:p>
                      <a:pPr lvl="0" algn="ctr">
                        <a:buNone/>
                      </a:pPr>
                      <a:r>
                        <a:rPr lang="en-US" sz="900" b="1">
                          <a:solidFill>
                            <a:schemeClr val="bg1"/>
                          </a:solidFill>
                          <a:effectLst/>
                          <a:latin typeface="+mn-lt"/>
                        </a:rPr>
                        <a:t>M</a:t>
                      </a:r>
                    </a:p>
                  </a:txBody>
                  <a:tcPr marL="38099" marR="38099" marT="38099" marB="38099" anchor="ctr">
                    <a:solidFill>
                      <a:srgbClr val="EE7F00"/>
                    </a:solidFill>
                  </a:tcPr>
                </a:tc>
                <a:tc>
                  <a:txBody>
                    <a:bodyPr/>
                    <a:lstStyle/>
                    <a:p>
                      <a:r>
                        <a:rPr lang="en-US" sz="900"/>
                        <a:t>Regular cost monitoring, budget contingency planning, early negotiations, and prioritize high-value features while deferring “nice to haves” to later phases.</a:t>
                      </a:r>
                    </a:p>
                  </a:txBody>
                  <a:tcPr anchor="ctr">
                    <a:solidFill>
                      <a:schemeClr val="bg2"/>
                    </a:solidFill>
                  </a:tcPr>
                </a:tc>
                <a:extLst>
                  <a:ext uri="{0D108BD9-81ED-4DB2-BD59-A6C34878D82A}">
                    <a16:rowId xmlns:a16="http://schemas.microsoft.com/office/drawing/2014/main" val="1184421823"/>
                  </a:ext>
                </a:extLst>
              </a:tr>
              <a:tr h="273878">
                <a:tc>
                  <a:txBody>
                    <a:bodyPr/>
                    <a:lstStyle/>
                    <a:p>
                      <a:r>
                        <a:rPr lang="el-GR" sz="900" b="0"/>
                        <a:t>ΙΤ</a:t>
                      </a:r>
                      <a:r>
                        <a:rPr lang="en-US" sz="900" b="0"/>
                        <a:t> Architecture &amp; Tech Advancements</a:t>
                      </a:r>
                    </a:p>
                  </a:txBody>
                  <a:tcPr anchor="ctr">
                    <a:solidFill>
                      <a:schemeClr val="bg2"/>
                    </a:solidFill>
                  </a:tcPr>
                </a:tc>
                <a:tc>
                  <a:txBody>
                    <a:bodyPr/>
                    <a:lstStyle/>
                    <a:p>
                      <a:pPr lvl="0" algn="ctr">
                        <a:buNone/>
                      </a:pPr>
                      <a:r>
                        <a:rPr lang="en-US" sz="900" b="1">
                          <a:solidFill>
                            <a:schemeClr val="bg1"/>
                          </a:solidFill>
                          <a:effectLst/>
                          <a:latin typeface="+mn-lt"/>
                        </a:rPr>
                        <a:t>L</a:t>
                      </a:r>
                    </a:p>
                  </a:txBody>
                  <a:tcPr marL="38100" marR="38100" marT="38100" marB="38100" anchor="ctr">
                    <a:solidFill>
                      <a:srgbClr val="00B050"/>
                    </a:solidFill>
                  </a:tcPr>
                </a:tc>
                <a:tc>
                  <a:txBody>
                    <a:bodyPr/>
                    <a:lstStyle/>
                    <a:p>
                      <a:r>
                        <a:rPr lang="en-US" sz="900"/>
                        <a:t>Conduct periodic reviews of IT architecture, plan phased adoption of new technologies, and allocate budget reserves for adjustments.</a:t>
                      </a:r>
                    </a:p>
                  </a:txBody>
                  <a:tcPr anchor="ctr">
                    <a:solidFill>
                      <a:schemeClr val="bg2"/>
                    </a:solidFill>
                  </a:tcPr>
                </a:tc>
                <a:extLst>
                  <a:ext uri="{0D108BD9-81ED-4DB2-BD59-A6C34878D82A}">
                    <a16:rowId xmlns:a16="http://schemas.microsoft.com/office/drawing/2014/main" val="1709913097"/>
                  </a:ext>
                </a:extLst>
              </a:tr>
            </a:tbl>
          </a:graphicData>
        </a:graphic>
      </p:graphicFrame>
    </p:spTree>
    <p:extLst>
      <p:ext uri="{BB962C8B-B14F-4D97-AF65-F5344CB8AC3E}">
        <p14:creationId xmlns:p14="http://schemas.microsoft.com/office/powerpoint/2010/main" val="3847672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CF3472-8FA4-8C4F-868D-2C759477A0D3}"/>
              </a:ext>
            </a:extLst>
          </p:cNvPr>
          <p:cNvSpPr>
            <a:spLocks noGrp="1"/>
          </p:cNvSpPr>
          <p:nvPr>
            <p:ph type="sldNum" idx="12"/>
          </p:nvPr>
        </p:nvSpPr>
        <p:spPr>
          <a:xfrm>
            <a:off x="8610600" y="6302032"/>
            <a:ext cx="2743200" cy="365125"/>
          </a:xfrm>
        </p:spPr>
        <p:txBody>
          <a:bodyPr/>
          <a:lstStyle/>
          <a:p>
            <a:pPr marL="0" lvl="0" indent="0" algn="r" rtl="0">
              <a:spcBef>
                <a:spcPts val="0"/>
              </a:spcBef>
              <a:spcAft>
                <a:spcPts val="0"/>
              </a:spcAft>
              <a:buNone/>
            </a:pPr>
            <a:fld id="{00000000-1234-1234-1234-123412341234}" type="slidenum">
              <a:rPr lang="en-US"/>
              <a:t>7</a:t>
            </a:fld>
            <a:endParaRPr lang="en-US"/>
          </a:p>
        </p:txBody>
      </p:sp>
      <p:sp>
        <p:nvSpPr>
          <p:cNvPr id="4" name="Slide Number Placeholder 1">
            <a:extLst>
              <a:ext uri="{FF2B5EF4-FFF2-40B4-BE49-F238E27FC236}">
                <a16:creationId xmlns:a16="http://schemas.microsoft.com/office/drawing/2014/main" id="{AEC4B26A-7BC3-42F8-65F1-55529F222BD4}"/>
              </a:ext>
            </a:extLst>
          </p:cNvPr>
          <p:cNvSpPr txBox="1">
            <a:spLocks/>
          </p:cNvSpPr>
          <p:nvPr/>
        </p:nvSpPr>
        <p:spPr>
          <a:xfrm>
            <a:off x="8610600" y="6302032"/>
            <a:ext cx="2743200" cy="365125"/>
          </a:xfrm>
          <a:prstGeom prst="rect">
            <a:avLst/>
          </a:prstGeom>
          <a:noFill/>
          <a:ln>
            <a:noFill/>
          </a:ln>
        </p:spPr>
        <p:txBody>
          <a:bodyPr spcFirstLastPara="1" vert="horz" wrap="square" lIns="91425" tIns="45700" rIns="91425" bIns="45700" rtlCol="0" anchor="ctr" anchorCtr="0">
            <a:noAutofit/>
          </a:bodyPr>
          <a:lstStyle>
            <a:defPPr>
              <a:defRPr lang="en-US"/>
            </a:defPPr>
            <a:lvl1pPr marL="0" lvl="0" indent="0" algn="r" defTabSz="914400" rtl="0" eaLnBrk="1" latinLnBrk="0" hangingPunct="1">
              <a:spcBef>
                <a:spcPts val="0"/>
              </a:spcBef>
              <a:buNone/>
              <a:defRPr sz="1200" kern="1200">
                <a:solidFill>
                  <a:schemeClr val="tx1">
                    <a:tint val="75000"/>
                  </a:schemeClr>
                </a:solidFill>
                <a:latin typeface="+mn-lt"/>
                <a:ea typeface="+mn-ea"/>
                <a:cs typeface="+mn-cs"/>
              </a:defRPr>
            </a:lvl1pPr>
            <a:lvl2pPr marL="0" lvl="1" indent="0" algn="r" defTabSz="914400" rtl="0" eaLnBrk="1" latinLnBrk="0" hangingPunct="1">
              <a:spcBef>
                <a:spcPts val="0"/>
              </a:spcBef>
              <a:buNone/>
              <a:defRPr sz="1800" kern="1200">
                <a:solidFill>
                  <a:schemeClr val="tx1"/>
                </a:solidFill>
                <a:latin typeface="+mn-lt"/>
                <a:ea typeface="+mn-ea"/>
                <a:cs typeface="+mn-cs"/>
              </a:defRPr>
            </a:lvl2pPr>
            <a:lvl3pPr marL="0" lvl="2" indent="0" algn="r" defTabSz="914400" rtl="0" eaLnBrk="1" latinLnBrk="0" hangingPunct="1">
              <a:spcBef>
                <a:spcPts val="0"/>
              </a:spcBef>
              <a:buNone/>
              <a:defRPr sz="1800" kern="1200">
                <a:solidFill>
                  <a:schemeClr val="tx1"/>
                </a:solidFill>
                <a:latin typeface="+mn-lt"/>
                <a:ea typeface="+mn-ea"/>
                <a:cs typeface="+mn-cs"/>
              </a:defRPr>
            </a:lvl3pPr>
            <a:lvl4pPr marL="0" lvl="3" indent="0" algn="r" defTabSz="914400" rtl="0" eaLnBrk="1" latinLnBrk="0" hangingPunct="1">
              <a:spcBef>
                <a:spcPts val="0"/>
              </a:spcBef>
              <a:buNone/>
              <a:defRPr sz="1800" kern="1200">
                <a:solidFill>
                  <a:schemeClr val="tx1"/>
                </a:solidFill>
                <a:latin typeface="+mn-lt"/>
                <a:ea typeface="+mn-ea"/>
                <a:cs typeface="+mn-cs"/>
              </a:defRPr>
            </a:lvl4pPr>
            <a:lvl5pPr marL="0" lvl="4" indent="0" algn="r" defTabSz="914400" rtl="0" eaLnBrk="1" latinLnBrk="0" hangingPunct="1">
              <a:spcBef>
                <a:spcPts val="0"/>
              </a:spcBef>
              <a:buNone/>
              <a:defRPr sz="1800" kern="1200">
                <a:solidFill>
                  <a:schemeClr val="tx1"/>
                </a:solidFill>
                <a:latin typeface="+mn-lt"/>
                <a:ea typeface="+mn-ea"/>
                <a:cs typeface="+mn-cs"/>
              </a:defRPr>
            </a:lvl5pPr>
            <a:lvl6pPr marL="0" lvl="5" indent="0" algn="r" defTabSz="914400" rtl="0" eaLnBrk="1" latinLnBrk="0" hangingPunct="1">
              <a:spcBef>
                <a:spcPts val="0"/>
              </a:spcBef>
              <a:buNone/>
              <a:defRPr sz="1800" kern="1200">
                <a:solidFill>
                  <a:schemeClr val="tx1"/>
                </a:solidFill>
                <a:latin typeface="+mn-lt"/>
                <a:ea typeface="+mn-ea"/>
                <a:cs typeface="+mn-cs"/>
              </a:defRPr>
            </a:lvl6pPr>
            <a:lvl7pPr marL="0" lvl="6" indent="0" algn="r" defTabSz="914400" rtl="0" eaLnBrk="1" latinLnBrk="0" hangingPunct="1">
              <a:spcBef>
                <a:spcPts val="0"/>
              </a:spcBef>
              <a:buNone/>
              <a:defRPr sz="1800" kern="1200">
                <a:solidFill>
                  <a:schemeClr val="tx1"/>
                </a:solidFill>
                <a:latin typeface="+mn-lt"/>
                <a:ea typeface="+mn-ea"/>
                <a:cs typeface="+mn-cs"/>
              </a:defRPr>
            </a:lvl7pPr>
            <a:lvl8pPr marL="0" lvl="7" indent="0" algn="r" defTabSz="914400" rtl="0" eaLnBrk="1" latinLnBrk="0" hangingPunct="1">
              <a:spcBef>
                <a:spcPts val="0"/>
              </a:spcBef>
              <a:buNone/>
              <a:defRPr sz="1800" kern="1200">
                <a:solidFill>
                  <a:schemeClr val="tx1"/>
                </a:solidFill>
                <a:latin typeface="+mn-lt"/>
                <a:ea typeface="+mn-ea"/>
                <a:cs typeface="+mn-cs"/>
              </a:defRPr>
            </a:lvl8pPr>
            <a:lvl9pPr marL="0" lvl="8" indent="0" algn="r" defTabSz="914400" rtl="0" eaLnBrk="1" latinLnBrk="0" hangingPunct="1">
              <a:spcBef>
                <a:spcPts val="0"/>
              </a:spcBef>
              <a:buNone/>
              <a:defRPr sz="1800" kern="1200">
                <a:solidFill>
                  <a:schemeClr val="tx1"/>
                </a:solidFill>
                <a:latin typeface="+mn-lt"/>
                <a:ea typeface="+mn-ea"/>
                <a:cs typeface="+mn-cs"/>
              </a:defRPr>
            </a:lvl9pPr>
          </a:lstStyle>
          <a:p>
            <a:pPr>
              <a:defRPr/>
            </a:pPr>
            <a:fld id="{00000000-1234-1234-1234-123412341234}" type="slidenum">
              <a:rPr lang="en-US" smtClean="0">
                <a:solidFill>
                  <a:srgbClr val="2E5684">
                    <a:tint val="75000"/>
                  </a:srgbClr>
                </a:solidFill>
                <a:latin typeface="Calibri" panose="020F0502020204030204"/>
              </a:rPr>
              <a:pPr>
                <a:defRPr/>
              </a:pPr>
              <a:t>7</a:t>
            </a:fld>
            <a:endParaRPr lang="en-US">
              <a:solidFill>
                <a:srgbClr val="2E5684">
                  <a:tint val="75000"/>
                </a:srgbClr>
              </a:solidFill>
              <a:latin typeface="Calibri" panose="020F0502020204030204"/>
            </a:endParaRPr>
          </a:p>
        </p:txBody>
      </p:sp>
      <p:graphicFrame>
        <p:nvGraphicFramePr>
          <p:cNvPr id="5" name="Content Placeholder 4">
            <a:extLst>
              <a:ext uri="{FF2B5EF4-FFF2-40B4-BE49-F238E27FC236}">
                <a16:creationId xmlns:a16="http://schemas.microsoft.com/office/drawing/2014/main" id="{C611F14C-0E0E-C820-F65E-D9C0F0365070}"/>
              </a:ext>
            </a:extLst>
          </p:cNvPr>
          <p:cNvGraphicFramePr>
            <a:graphicFrameLocks/>
          </p:cNvGraphicFramePr>
          <p:nvPr>
            <p:extLst>
              <p:ext uri="{D42A27DB-BD31-4B8C-83A1-F6EECF244321}">
                <p14:modId xmlns:p14="http://schemas.microsoft.com/office/powerpoint/2010/main" val="4063348220"/>
              </p:ext>
            </p:extLst>
          </p:nvPr>
        </p:nvGraphicFramePr>
        <p:xfrm>
          <a:off x="5304063" y="23586"/>
          <a:ext cx="6613073" cy="695077"/>
        </p:xfrm>
        <a:graphic>
          <a:graphicData uri="http://schemas.openxmlformats.org/drawingml/2006/table">
            <a:tbl>
              <a:tblPr firstRow="1" bandRow="1"/>
              <a:tblGrid>
                <a:gridCol w="724595">
                  <a:extLst>
                    <a:ext uri="{9D8B030D-6E8A-4147-A177-3AD203B41FA5}">
                      <a16:colId xmlns:a16="http://schemas.microsoft.com/office/drawing/2014/main" val="20000"/>
                    </a:ext>
                  </a:extLst>
                </a:gridCol>
                <a:gridCol w="739303">
                  <a:extLst>
                    <a:ext uri="{9D8B030D-6E8A-4147-A177-3AD203B41FA5}">
                      <a16:colId xmlns:a16="http://schemas.microsoft.com/office/drawing/2014/main" val="20001"/>
                    </a:ext>
                  </a:extLst>
                </a:gridCol>
                <a:gridCol w="1712068">
                  <a:extLst>
                    <a:ext uri="{9D8B030D-6E8A-4147-A177-3AD203B41FA5}">
                      <a16:colId xmlns:a16="http://schemas.microsoft.com/office/drawing/2014/main" val="20002"/>
                    </a:ext>
                  </a:extLst>
                </a:gridCol>
                <a:gridCol w="2033080">
                  <a:extLst>
                    <a:ext uri="{9D8B030D-6E8A-4147-A177-3AD203B41FA5}">
                      <a16:colId xmlns:a16="http://schemas.microsoft.com/office/drawing/2014/main" val="3624839458"/>
                    </a:ext>
                  </a:extLst>
                </a:gridCol>
                <a:gridCol w="1404027">
                  <a:extLst>
                    <a:ext uri="{9D8B030D-6E8A-4147-A177-3AD203B41FA5}">
                      <a16:colId xmlns:a16="http://schemas.microsoft.com/office/drawing/2014/main" val="2847559459"/>
                    </a:ext>
                  </a:extLst>
                </a:gridCol>
              </a:tblGrid>
              <a:tr h="20602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SAP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JIRA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PM/BP</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Business Owner</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Involved Divisions</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435997">
                <a:tc>
                  <a:txBody>
                    <a:bodyPr/>
                    <a:lstStyle/>
                    <a:p>
                      <a:pPr lvl="0" algn="ctr">
                        <a:buNone/>
                      </a:pPr>
                      <a:r>
                        <a:rPr lang="en-US" sz="1100" b="1" kern="1200" noProof="0">
                          <a:solidFill>
                            <a:schemeClr val="dk1"/>
                          </a:solidFill>
                          <a:latin typeface="+mn-lt"/>
                          <a:ea typeface="+mn-ea"/>
                          <a:cs typeface="+mn-cs"/>
                        </a:rPr>
                        <a:t>R/00031</a:t>
                      </a:r>
                      <a:endParaRPr lang="en-US" sz="1100" b="1" kern="1200">
                        <a:solidFill>
                          <a:schemeClr val="dk1"/>
                        </a:solidFill>
                        <a:latin typeface="+mn-lt"/>
                        <a:ea typeface="+mn-ea"/>
                        <a:cs typeface="+mn-cs"/>
                      </a:endParaRPr>
                    </a:p>
                  </a:txBody>
                  <a:tcPr marL="9525" marR="9525" marT="9525" marB="0"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100" b="1" kern="1200">
                          <a:solidFill>
                            <a:schemeClr val="dk1"/>
                          </a:solidFill>
                          <a:latin typeface="+mn-lt"/>
                          <a:ea typeface="+mn-ea"/>
                          <a:cs typeface="+mn-cs"/>
                        </a:rPr>
                        <a:t>ID-174</a:t>
                      </a:r>
                    </a:p>
                  </a:txBody>
                  <a:tcPr marL="9525" marR="9525" marT="9525" marB="0" anchor="ctr">
                    <a:lnL w="12700" cap="flat" cmpd="sng" algn="ctr">
                      <a:solidFill>
                        <a:schemeClr val="bg1"/>
                      </a:solidFill>
                      <a:prstDash val="solid"/>
                      <a:round/>
                      <a:headEnd type="none" w="med" len="med"/>
                      <a:tailEnd type="none" w="med" len="med"/>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rtl="0" eaLnBrk="1" latinLnBrk="0" hangingPunct="1"/>
                      <a:r>
                        <a:rPr lang="en-US" sz="1100" b="1" kern="1200">
                          <a:solidFill>
                            <a:schemeClr val="dk1"/>
                          </a:solidFill>
                          <a:latin typeface="+mn-lt"/>
                          <a:ea typeface="+mn-ea"/>
                          <a:cs typeface="+mn-cs"/>
                        </a:rPr>
                        <a:t>Koutsogiannakopoulos/ Drougkas</a:t>
                      </a:r>
                      <a:endParaRPr lang="en-US" sz="1100" b="1" kern="1200" err="1">
                        <a:solidFill>
                          <a:schemeClr val="dk1"/>
                        </a:solidFill>
                        <a:latin typeface="+mn-lt"/>
                        <a:ea typeface="+mn-ea"/>
                        <a:cs typeface="+mn-cs"/>
                      </a:endParaRP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ENMA</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DDDE,IT</a:t>
                      </a:r>
                    </a:p>
                  </a:txBody>
                  <a:tcPr marL="84406" marR="84406" anchor="ctr">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946C1F6C-9509-828E-1586-B0B857A0FD45}"/>
              </a:ext>
            </a:extLst>
          </p:cNvPr>
          <p:cNvGraphicFramePr>
            <a:graphicFrameLocks/>
          </p:cNvGraphicFramePr>
          <p:nvPr/>
        </p:nvGraphicFramePr>
        <p:xfrm>
          <a:off x="5313134" y="740228"/>
          <a:ext cx="6604003" cy="566675"/>
        </p:xfrm>
        <a:graphic>
          <a:graphicData uri="http://schemas.openxmlformats.org/drawingml/2006/table">
            <a:tbl>
              <a:tblPr firstRow="1" bandRow="1"/>
              <a:tblGrid>
                <a:gridCol w="1651001">
                  <a:extLst>
                    <a:ext uri="{9D8B030D-6E8A-4147-A177-3AD203B41FA5}">
                      <a16:colId xmlns:a16="http://schemas.microsoft.com/office/drawing/2014/main" val="20000"/>
                    </a:ext>
                  </a:extLst>
                </a:gridCol>
                <a:gridCol w="1686788">
                  <a:extLst>
                    <a:ext uri="{9D8B030D-6E8A-4147-A177-3AD203B41FA5}">
                      <a16:colId xmlns:a16="http://schemas.microsoft.com/office/drawing/2014/main" val="20001"/>
                    </a:ext>
                  </a:extLst>
                </a:gridCol>
                <a:gridCol w="1615213">
                  <a:extLst>
                    <a:ext uri="{9D8B030D-6E8A-4147-A177-3AD203B41FA5}">
                      <a16:colId xmlns:a16="http://schemas.microsoft.com/office/drawing/2014/main" val="20002"/>
                    </a:ext>
                  </a:extLst>
                </a:gridCol>
                <a:gridCol w="1651001">
                  <a:extLst>
                    <a:ext uri="{9D8B030D-6E8A-4147-A177-3AD203B41FA5}">
                      <a16:colId xmlns:a16="http://schemas.microsoft.com/office/drawing/2014/main" val="20003"/>
                    </a:ext>
                  </a:extLst>
                </a:gridCol>
              </a:tblGrid>
              <a:tr h="227035">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Overall</a:t>
                      </a:r>
                    </a:p>
                  </a:txBody>
                  <a:tcPr marL="84406" marR="84406">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Schedule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Cost</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Scope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07595">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solidFill>
                          <a:schemeClr val="bg2"/>
                        </a:solidFill>
                      </a:endParaRPr>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27047014"/>
                  </a:ext>
                </a:extLst>
              </a:tr>
            </a:tbl>
          </a:graphicData>
        </a:graphic>
      </p:graphicFrame>
      <p:graphicFrame>
        <p:nvGraphicFramePr>
          <p:cNvPr id="7" name="Content Placeholder 4">
            <a:extLst>
              <a:ext uri="{FF2B5EF4-FFF2-40B4-BE49-F238E27FC236}">
                <a16:creationId xmlns:a16="http://schemas.microsoft.com/office/drawing/2014/main" id="{EEAC4F3F-ABD5-A5BD-78B9-E83548BD8C45}"/>
              </a:ext>
            </a:extLst>
          </p:cNvPr>
          <p:cNvGraphicFramePr>
            <a:graphicFrameLocks/>
          </p:cNvGraphicFramePr>
          <p:nvPr>
            <p:extLst>
              <p:ext uri="{D42A27DB-BD31-4B8C-83A1-F6EECF244321}">
                <p14:modId xmlns:p14="http://schemas.microsoft.com/office/powerpoint/2010/main" val="2476991636"/>
              </p:ext>
            </p:extLst>
          </p:nvPr>
        </p:nvGraphicFramePr>
        <p:xfrm>
          <a:off x="5304063" y="1293585"/>
          <a:ext cx="6613074" cy="873152"/>
        </p:xfrm>
        <a:graphic>
          <a:graphicData uri="http://schemas.openxmlformats.org/drawingml/2006/table">
            <a:tbl>
              <a:tblPr firstRow="1" bandRow="1"/>
              <a:tblGrid>
                <a:gridCol w="1322615">
                  <a:extLst>
                    <a:ext uri="{9D8B030D-6E8A-4147-A177-3AD203B41FA5}">
                      <a16:colId xmlns:a16="http://schemas.microsoft.com/office/drawing/2014/main" val="20000"/>
                    </a:ext>
                  </a:extLst>
                </a:gridCol>
                <a:gridCol w="1165775">
                  <a:extLst>
                    <a:ext uri="{9D8B030D-6E8A-4147-A177-3AD203B41FA5}">
                      <a16:colId xmlns:a16="http://schemas.microsoft.com/office/drawing/2014/main" val="20001"/>
                    </a:ext>
                  </a:extLst>
                </a:gridCol>
                <a:gridCol w="1479454">
                  <a:extLst>
                    <a:ext uri="{9D8B030D-6E8A-4147-A177-3AD203B41FA5}">
                      <a16:colId xmlns:a16="http://schemas.microsoft.com/office/drawing/2014/main" val="20002"/>
                    </a:ext>
                  </a:extLst>
                </a:gridCol>
                <a:gridCol w="1322615">
                  <a:extLst>
                    <a:ext uri="{9D8B030D-6E8A-4147-A177-3AD203B41FA5}">
                      <a16:colId xmlns:a16="http://schemas.microsoft.com/office/drawing/2014/main" val="20003"/>
                    </a:ext>
                  </a:extLst>
                </a:gridCol>
                <a:gridCol w="1322615">
                  <a:extLst>
                    <a:ext uri="{9D8B030D-6E8A-4147-A177-3AD203B41FA5}">
                      <a16:colId xmlns:a16="http://schemas.microsoft.com/office/drawing/2014/main" val="1179070743"/>
                    </a:ext>
                  </a:extLst>
                </a:gridCol>
              </a:tblGrid>
              <a:tr h="320516">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baseline="0">
                          <a:latin typeface="Calibri"/>
                        </a:rPr>
                        <a:t>Project  Status</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Work Completed</a:t>
                      </a:r>
                      <a:r>
                        <a:rPr lang="en-US" sz="1100" baseline="0">
                          <a:latin typeface="Calibri"/>
                        </a:rPr>
                        <a:t> (%)</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Baseline</a:t>
                      </a:r>
                      <a:r>
                        <a:rPr lang="en-US" sz="1100" baseline="0">
                          <a:latin typeface="Calibri"/>
                        </a:rPr>
                        <a:t> Budget</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 Start Date</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Planned/Estimated Completion Date</a:t>
                      </a:r>
                    </a:p>
                  </a:txBody>
                  <a:tcPr marL="84406" marR="84406">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44643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a:latin typeface="Calibri"/>
                        </a:rPr>
                        <a:t>Procurement</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kern="1200">
                          <a:solidFill>
                            <a:schemeClr val="dk1"/>
                          </a:solidFill>
                          <a:latin typeface="Calibri"/>
                          <a:ea typeface="+mn-ea"/>
                          <a:cs typeface="+mn-cs"/>
                        </a:rPr>
                        <a:t>10%</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457198" rtl="0" eaLnBrk="1" latinLnBrk="0" hangingPunct="1"/>
                      <a:r>
                        <a:rPr lang="en-US" sz="1100" kern="1200">
                          <a:solidFill>
                            <a:schemeClr val="dk1"/>
                          </a:solidFill>
                          <a:latin typeface="Calibri"/>
                          <a:ea typeface="+mn-ea"/>
                          <a:cs typeface="+mn-cs"/>
                        </a:rPr>
                        <a:t>380K</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a:latin typeface="Calibri"/>
                        </a:rPr>
                        <a:t>18 June 2025*</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100">
                          <a:latin typeface="Calibri"/>
                        </a:rPr>
                        <a:t>24 Mar </a:t>
                      </a:r>
                      <a:r>
                        <a:rPr lang="el-GR" sz="1100">
                          <a:latin typeface="Calibri"/>
                        </a:rPr>
                        <a:t>20</a:t>
                      </a:r>
                      <a:r>
                        <a:rPr lang="en-US" sz="1100">
                          <a:latin typeface="Calibri"/>
                        </a:rPr>
                        <a:t>26 </a:t>
                      </a:r>
                      <a:endParaRPr lang="el-GR" sz="1100">
                        <a:latin typeface="Calibri"/>
                      </a:endParaRPr>
                    </a:p>
                  </a:txBody>
                  <a:tcPr marL="84406" marR="84406">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12" name="Table 11">
            <a:extLst>
              <a:ext uri="{FF2B5EF4-FFF2-40B4-BE49-F238E27FC236}">
                <a16:creationId xmlns:a16="http://schemas.microsoft.com/office/drawing/2014/main" id="{A71EA3FF-9BE1-1937-19AA-AC2218B32585}"/>
              </a:ext>
            </a:extLst>
          </p:cNvPr>
          <p:cNvGraphicFramePr>
            <a:graphicFrameLocks noGrp="1"/>
          </p:cNvGraphicFramePr>
          <p:nvPr>
            <p:extLst>
              <p:ext uri="{D42A27DB-BD31-4B8C-83A1-F6EECF244321}">
                <p14:modId xmlns:p14="http://schemas.microsoft.com/office/powerpoint/2010/main" val="175800874"/>
              </p:ext>
            </p:extLst>
          </p:nvPr>
        </p:nvGraphicFramePr>
        <p:xfrm>
          <a:off x="251440" y="2210000"/>
          <a:ext cx="11634092" cy="1008480"/>
        </p:xfrm>
        <a:graphic>
          <a:graphicData uri="http://schemas.openxmlformats.org/drawingml/2006/table">
            <a:tbl>
              <a:tblPr firstRow="1" bandRow="1"/>
              <a:tblGrid>
                <a:gridCol w="4253309">
                  <a:extLst>
                    <a:ext uri="{9D8B030D-6E8A-4147-A177-3AD203B41FA5}">
                      <a16:colId xmlns:a16="http://schemas.microsoft.com/office/drawing/2014/main" val="20000"/>
                    </a:ext>
                  </a:extLst>
                </a:gridCol>
                <a:gridCol w="834650">
                  <a:extLst>
                    <a:ext uri="{9D8B030D-6E8A-4147-A177-3AD203B41FA5}">
                      <a16:colId xmlns:a16="http://schemas.microsoft.com/office/drawing/2014/main" val="20001"/>
                    </a:ext>
                  </a:extLst>
                </a:gridCol>
                <a:gridCol w="1303762">
                  <a:extLst>
                    <a:ext uri="{9D8B030D-6E8A-4147-A177-3AD203B41FA5}">
                      <a16:colId xmlns:a16="http://schemas.microsoft.com/office/drawing/2014/main" val="20002"/>
                    </a:ext>
                  </a:extLst>
                </a:gridCol>
                <a:gridCol w="5242371">
                  <a:extLst>
                    <a:ext uri="{9D8B030D-6E8A-4147-A177-3AD203B41FA5}">
                      <a16:colId xmlns:a16="http://schemas.microsoft.com/office/drawing/2014/main" val="20005"/>
                    </a:ext>
                  </a:extLst>
                </a:gridCol>
              </a:tblGrid>
              <a:tr h="44471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400" b="0">
                          <a:effectLst/>
                        </a:rPr>
                        <a:t>Phases/Milestones/Deliverables</a:t>
                      </a:r>
                      <a:endParaRPr lang="en-US" sz="1400">
                        <a:effectLst/>
                      </a:endParaRPr>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R/A/G</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Estimated Delivery Date</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Remarks on progress</a:t>
                      </a:r>
                      <a:endParaRPr lang="en-US" sz="1400"/>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235439">
                <a:tc>
                  <a:txBody>
                    <a:bodyPr/>
                    <a:lstStyle/>
                    <a:p>
                      <a:pPr marL="0" lvl="0" indent="0" algn="l">
                        <a:buClr>
                          <a:srgbClr val="2E5684"/>
                        </a:buClr>
                        <a:buNone/>
                      </a:pPr>
                      <a:r>
                        <a:rPr lang="en-US" sz="1100" b="0" i="0" u="none" strike="noStrike" kern="1200" noProof="0">
                          <a:solidFill>
                            <a:srgbClr val="2E5684"/>
                          </a:solidFill>
                          <a:latin typeface="Calibri"/>
                        </a:rPr>
                        <a:t>Expecting new Investment Approval for the Project</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200">
                          <a:solidFill>
                            <a:schemeClr val="bg1"/>
                          </a:solidFill>
                        </a:rPr>
                        <a:t>A</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E7F00"/>
                    </a:solidFill>
                  </a:tcPr>
                </a:tc>
                <a:tc>
                  <a:txBody>
                    <a:bodyPr/>
                    <a:lstStyle/>
                    <a:p>
                      <a:pPr algn="ctr"/>
                      <a:r>
                        <a:rPr lang="en-US" sz="1200"/>
                        <a:t>08/25</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200"/>
                        <a:t>To Do</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2038214"/>
                  </a:ext>
                </a:extLst>
              </a:tr>
              <a:tr h="23543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buNone/>
                      </a:pPr>
                      <a:r>
                        <a:rPr lang="en-US" sz="1100" b="0" i="0" u="none" strike="noStrike" noProof="0"/>
                        <a:t>Contract Sign Off</a:t>
                      </a:r>
                      <a:endParaRPr lang="en-US" sz="1100"/>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ctr">
                        <a:buNone/>
                      </a:pPr>
                      <a:r>
                        <a:rPr lang="en-US" sz="1150">
                          <a:solidFill>
                            <a:schemeClr val="bg1"/>
                          </a:solidFill>
                        </a:rPr>
                        <a:t>A</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D7D3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ctr">
                        <a:buNone/>
                      </a:pPr>
                      <a:r>
                        <a:rPr lang="en-US" sz="1150"/>
                        <a:t>TBD</a:t>
                      </a:r>
                      <a:endParaRPr lang="en-US"/>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ctr">
                        <a:buNone/>
                      </a:pPr>
                      <a:r>
                        <a:rPr lang="en-US" sz="1200" b="0" i="0" u="none" strike="noStrike" noProof="0">
                          <a:solidFill>
                            <a:srgbClr val="2E5684"/>
                          </a:solidFill>
                          <a:latin typeface="Calibri"/>
                        </a:rPr>
                        <a:t>Investment Approval will determine the contract sign-off date</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13" name="Table 12">
            <a:extLst>
              <a:ext uri="{FF2B5EF4-FFF2-40B4-BE49-F238E27FC236}">
                <a16:creationId xmlns:a16="http://schemas.microsoft.com/office/drawing/2014/main" id="{BA107CB2-F91F-A476-5F23-18649D1030FC}"/>
              </a:ext>
            </a:extLst>
          </p:cNvPr>
          <p:cNvGraphicFramePr>
            <a:graphicFrameLocks noGrp="1"/>
          </p:cNvGraphicFramePr>
          <p:nvPr>
            <p:extLst>
              <p:ext uri="{D42A27DB-BD31-4B8C-83A1-F6EECF244321}">
                <p14:modId xmlns:p14="http://schemas.microsoft.com/office/powerpoint/2010/main" val="592037229"/>
              </p:ext>
            </p:extLst>
          </p:nvPr>
        </p:nvGraphicFramePr>
        <p:xfrm>
          <a:off x="251442" y="32930"/>
          <a:ext cx="4958664" cy="428064"/>
        </p:xfrm>
        <a:graphic>
          <a:graphicData uri="http://schemas.openxmlformats.org/drawingml/2006/table">
            <a:tbl>
              <a:tblPr firstRow="1" bandRow="1"/>
              <a:tblGrid>
                <a:gridCol w="1254142">
                  <a:extLst>
                    <a:ext uri="{9D8B030D-6E8A-4147-A177-3AD203B41FA5}">
                      <a16:colId xmlns:a16="http://schemas.microsoft.com/office/drawing/2014/main" val="110687116"/>
                    </a:ext>
                  </a:extLst>
                </a:gridCol>
                <a:gridCol w="3704522">
                  <a:extLst>
                    <a:ext uri="{9D8B030D-6E8A-4147-A177-3AD203B41FA5}">
                      <a16:colId xmlns:a16="http://schemas.microsoft.com/office/drawing/2014/main" val="3314271387"/>
                    </a:ext>
                  </a:extLst>
                </a:gridCol>
              </a:tblGrid>
              <a:tr h="428064">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Name</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lvl="0" algn="ctr">
                        <a:buNone/>
                      </a:pPr>
                      <a:r>
                        <a:rPr lang="en-US" sz="1200" b="1" i="0" u="none" strike="noStrike" kern="1200" noProof="0">
                          <a:solidFill>
                            <a:schemeClr val="dk1"/>
                          </a:solidFill>
                          <a:effectLst/>
                          <a:latin typeface="Calibri"/>
                        </a:rPr>
                        <a:t>Distributed Energy Resources Management System</a:t>
                      </a:r>
                      <a:endParaRPr lang="en-US" sz="1200" b="1">
                        <a:latin typeface="Calibri"/>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graphicFrame>
        <p:nvGraphicFramePr>
          <p:cNvPr id="14" name="Table 13">
            <a:extLst>
              <a:ext uri="{FF2B5EF4-FFF2-40B4-BE49-F238E27FC236}">
                <a16:creationId xmlns:a16="http://schemas.microsoft.com/office/drawing/2014/main" id="{BB847264-25D6-D279-E3CE-A6E0CA975196}"/>
              </a:ext>
            </a:extLst>
          </p:cNvPr>
          <p:cNvGraphicFramePr>
            <a:graphicFrameLocks noGrp="1"/>
          </p:cNvGraphicFramePr>
          <p:nvPr>
            <p:extLst>
              <p:ext uri="{D42A27DB-BD31-4B8C-83A1-F6EECF244321}">
                <p14:modId xmlns:p14="http://schemas.microsoft.com/office/powerpoint/2010/main" val="4163104912"/>
              </p:ext>
            </p:extLst>
          </p:nvPr>
        </p:nvGraphicFramePr>
        <p:xfrm>
          <a:off x="272362" y="3800801"/>
          <a:ext cx="11649593" cy="1316179"/>
        </p:xfrm>
        <a:graphic>
          <a:graphicData uri="http://schemas.openxmlformats.org/drawingml/2006/table">
            <a:tbl>
              <a:tblPr>
                <a:tableStyleId>{5C22544A-7EE6-4342-B048-85BDC9FD1C3A}</a:tableStyleId>
              </a:tblPr>
              <a:tblGrid>
                <a:gridCol w="5388700">
                  <a:extLst>
                    <a:ext uri="{9D8B030D-6E8A-4147-A177-3AD203B41FA5}">
                      <a16:colId xmlns:a16="http://schemas.microsoft.com/office/drawing/2014/main" val="3768886055"/>
                    </a:ext>
                  </a:extLst>
                </a:gridCol>
                <a:gridCol w="6260893">
                  <a:extLst>
                    <a:ext uri="{9D8B030D-6E8A-4147-A177-3AD203B41FA5}">
                      <a16:colId xmlns:a16="http://schemas.microsoft.com/office/drawing/2014/main" val="2712732260"/>
                    </a:ext>
                  </a:extLst>
                </a:gridCol>
              </a:tblGrid>
              <a:tr h="233516">
                <a:tc>
                  <a:txBody>
                    <a:bodyPr/>
                    <a:lstStyle/>
                    <a:p>
                      <a:pPr algn="ctr" fontAlgn="ctr"/>
                      <a:r>
                        <a:rPr lang="en-US" sz="1400" b="1" u="none" strike="noStrike">
                          <a:effectLst/>
                        </a:rPr>
                        <a:t>Activities Performed &amp; Milestones Achieved</a:t>
                      </a:r>
                      <a:endParaRPr lang="en-US" sz="14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tc>
                  <a:txBody>
                    <a:bodyPr/>
                    <a:lstStyle/>
                    <a:p>
                      <a:pPr algn="ctr" fontAlgn="ctr"/>
                      <a:r>
                        <a:rPr lang="en-US" sz="1400" b="1" u="none" strike="noStrike">
                          <a:effectLst/>
                        </a:rPr>
                        <a:t>Major Action Items - Upcoming Activities - Comments</a:t>
                      </a:r>
                      <a:endParaRPr lang="en-US" sz="14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extLst>
                  <a:ext uri="{0D108BD9-81ED-4DB2-BD59-A6C34878D82A}">
                    <a16:rowId xmlns:a16="http://schemas.microsoft.com/office/drawing/2014/main" val="2763828571"/>
                  </a:ext>
                </a:extLst>
              </a:tr>
              <a:tr h="1082663">
                <a:tc>
                  <a:txBody>
                    <a:bodyPr/>
                    <a:lstStyle/>
                    <a:p>
                      <a:pPr marL="171450" indent="-171450" algn="l" fontAlgn="t">
                        <a:buFont typeface="Arial"/>
                        <a:buChar char="•"/>
                      </a:pPr>
                      <a:r>
                        <a:rPr lang="el-GR" sz="1100" u="none" strike="noStrike" err="1">
                          <a:effectLst/>
                        </a:rPr>
                        <a:t>Prospective</a:t>
                      </a:r>
                      <a:r>
                        <a:rPr lang="el-GR" sz="1100" u="none" strike="noStrike">
                          <a:effectLst/>
                        </a:rPr>
                        <a:t> </a:t>
                      </a:r>
                      <a:r>
                        <a:rPr lang="el-GR" sz="1100" u="none" strike="noStrike" err="1">
                          <a:effectLst/>
                        </a:rPr>
                        <a:t>vendors</a:t>
                      </a:r>
                      <a:r>
                        <a:rPr lang="el-GR" sz="1100" u="none" strike="noStrike">
                          <a:effectLst/>
                        </a:rPr>
                        <a:t>' </a:t>
                      </a:r>
                      <a:r>
                        <a:rPr lang="el-GR" sz="1100" u="none" strike="noStrike" err="1">
                          <a:effectLst/>
                        </a:rPr>
                        <a:t>Presentations</a:t>
                      </a:r>
                      <a:r>
                        <a:rPr lang="el-GR" sz="1100" u="none" strike="noStrike">
                          <a:effectLst/>
                        </a:rPr>
                        <a:t> </a:t>
                      </a:r>
                      <a:endParaRPr lang="en-US" sz="1100" u="none" strike="noStrike">
                        <a:effectLst/>
                      </a:endParaRPr>
                    </a:p>
                    <a:p>
                      <a:pPr marL="171450" marR="0" lvl="0" indent="-171450" algn="l" defTabSz="914400" rtl="0" eaLnBrk="1" fontAlgn="t" latinLnBrk="0" hangingPunct="1">
                        <a:lnSpc>
                          <a:spcPct val="100000"/>
                        </a:lnSpc>
                        <a:spcBef>
                          <a:spcPts val="0"/>
                        </a:spcBef>
                        <a:spcAft>
                          <a:spcPts val="0"/>
                        </a:spcAft>
                        <a:buClrTx/>
                        <a:buSzTx/>
                        <a:buFont typeface="Arial"/>
                        <a:buChar char="•"/>
                        <a:tabLst/>
                        <a:defRPr/>
                      </a:pPr>
                      <a:r>
                        <a:rPr lang="el-GR" sz="1100" b="0" i="0" u="none" strike="noStrike" noProof="0">
                          <a:solidFill>
                            <a:srgbClr val="2E5684"/>
                          </a:solidFill>
                          <a:effectLst/>
                          <a:latin typeface="+mn-lt"/>
                        </a:rPr>
                        <a:t>Technical </a:t>
                      </a:r>
                      <a:r>
                        <a:rPr lang="el-GR" sz="1100" b="0" i="0" u="none" strike="noStrike" noProof="0" err="1">
                          <a:solidFill>
                            <a:srgbClr val="2E5684"/>
                          </a:solidFill>
                          <a:effectLst/>
                          <a:latin typeface="+mn-lt"/>
                        </a:rPr>
                        <a:t>Evaluation</a:t>
                      </a:r>
                      <a:r>
                        <a:rPr lang="el-GR" sz="1100" b="0" i="0" u="none" strike="noStrike" noProof="0">
                          <a:solidFill>
                            <a:srgbClr val="2E5684"/>
                          </a:solidFill>
                          <a:effectLst/>
                          <a:latin typeface="+mn-lt"/>
                        </a:rPr>
                        <a:t> </a:t>
                      </a:r>
                      <a:endParaRPr lang="en-US" sz="1100" b="0" i="0" u="none" strike="noStrike" noProof="0">
                        <a:solidFill>
                          <a:srgbClr val="2E5684"/>
                        </a:solidFill>
                        <a:effectLst/>
                        <a:latin typeface="+mn-lt"/>
                      </a:endParaRPr>
                    </a:p>
                    <a:p>
                      <a:pPr marL="171450" marR="0" lvl="0" indent="-171450" algn="l" rtl="0" eaLnBrk="1" fontAlgn="t" latinLnBrk="0" hangingPunct="1">
                        <a:lnSpc>
                          <a:spcPct val="100000"/>
                        </a:lnSpc>
                        <a:spcBef>
                          <a:spcPts val="0"/>
                        </a:spcBef>
                        <a:spcAft>
                          <a:spcPts val="0"/>
                        </a:spcAft>
                        <a:buClrTx/>
                        <a:buSzTx/>
                        <a:buFont typeface="Arial"/>
                        <a:buChar char="•"/>
                      </a:pPr>
                      <a:r>
                        <a:rPr lang="en-US" sz="1100" b="0" i="0" u="none" strike="noStrike" noProof="0">
                          <a:solidFill>
                            <a:srgbClr val="2E5684"/>
                          </a:solidFill>
                          <a:effectLst/>
                          <a:latin typeface="+mn-lt"/>
                        </a:rPr>
                        <a:t>Negotiation and vendor selection concluded</a:t>
                      </a:r>
                      <a:endParaRPr lang="el-GR" sz="1100" u="none" strike="noStrike">
                        <a:effectLst/>
                      </a:endParaRPr>
                    </a:p>
                    <a:p>
                      <a:pPr marL="0" lvl="0" indent="0" algn="ctr">
                        <a:buFont typeface="Arial"/>
                        <a:buNone/>
                      </a:pPr>
                      <a:endParaRPr lang="el-GR" sz="1100" u="none" strike="noStrike">
                        <a:effectLst/>
                      </a:endParaRPr>
                    </a:p>
                  </a:txBody>
                  <a:tcPr marL="0" marR="0" marT="0" marB="0">
                    <a:solidFill>
                      <a:schemeClr val="accent4">
                        <a:lumMod val="20000"/>
                        <a:lumOff val="80000"/>
                      </a:schemeClr>
                    </a:solidFill>
                  </a:tcPr>
                </a:tc>
                <a:tc>
                  <a:txBody>
                    <a:bodyPr/>
                    <a:lstStyle/>
                    <a:p>
                      <a:pPr marL="171450" lvl="0" indent="-171450" algn="l">
                        <a:buFont typeface="Arial"/>
                        <a:buChar char="•"/>
                      </a:pPr>
                      <a:r>
                        <a:rPr lang="en-US" sz="1100" b="0" i="0" u="none" strike="noStrike" noProof="0">
                          <a:effectLst/>
                          <a:latin typeface="Calibri"/>
                        </a:rPr>
                        <a:t>Expecting new Investment Approval for the Project</a:t>
                      </a:r>
                    </a:p>
                    <a:p>
                      <a:pPr marL="171450" lvl="0" indent="-171450" algn="l">
                        <a:buFont typeface="Arial"/>
                        <a:buChar char="•"/>
                      </a:pPr>
                      <a:endParaRPr lang="en-US" sz="1100" b="0" i="0" u="none" strike="noStrike" noProof="0">
                        <a:effectLst/>
                        <a:latin typeface="Calibri"/>
                      </a:endParaRPr>
                    </a:p>
                    <a:p>
                      <a:pPr marL="0" marR="0" lvl="0" indent="0" algn="l">
                        <a:lnSpc>
                          <a:spcPct val="100000"/>
                        </a:lnSpc>
                        <a:spcBef>
                          <a:spcPts val="0"/>
                        </a:spcBef>
                        <a:spcAft>
                          <a:spcPts val="0"/>
                        </a:spcAft>
                        <a:buClrTx/>
                        <a:buSzTx/>
                        <a:buNone/>
                      </a:pPr>
                      <a:r>
                        <a:rPr lang="en-US" sz="1100" b="0" i="0" u="none" strike="noStrike" noProof="0">
                          <a:solidFill>
                            <a:srgbClr val="2E5684"/>
                          </a:solidFill>
                          <a:latin typeface="+mn-lt"/>
                        </a:rPr>
                        <a:t>*Planned Start Date moved due to first RFP unfruitful attempt</a:t>
                      </a:r>
                    </a:p>
                  </a:txBody>
                  <a:tcPr marL="0" marR="0" marT="0" marB="0">
                    <a:solidFill>
                      <a:schemeClr val="accent4">
                        <a:lumMod val="20000"/>
                        <a:lumOff val="80000"/>
                      </a:schemeClr>
                    </a:solidFill>
                  </a:tcPr>
                </a:tc>
                <a:extLst>
                  <a:ext uri="{0D108BD9-81ED-4DB2-BD59-A6C34878D82A}">
                    <a16:rowId xmlns:a16="http://schemas.microsoft.com/office/drawing/2014/main" val="2561788850"/>
                  </a:ext>
                </a:extLst>
              </a:tr>
            </a:tbl>
          </a:graphicData>
        </a:graphic>
      </p:graphicFrame>
      <p:graphicFrame>
        <p:nvGraphicFramePr>
          <p:cNvPr id="15" name="Table 14">
            <a:extLst>
              <a:ext uri="{FF2B5EF4-FFF2-40B4-BE49-F238E27FC236}">
                <a16:creationId xmlns:a16="http://schemas.microsoft.com/office/drawing/2014/main" id="{EA46E1EC-C599-7852-2C7F-B283A529EE08}"/>
              </a:ext>
            </a:extLst>
          </p:cNvPr>
          <p:cNvGraphicFramePr>
            <a:graphicFrameLocks noGrp="1"/>
          </p:cNvGraphicFramePr>
          <p:nvPr>
            <p:extLst>
              <p:ext uri="{D42A27DB-BD31-4B8C-83A1-F6EECF244321}">
                <p14:modId xmlns:p14="http://schemas.microsoft.com/office/powerpoint/2010/main" val="1187810515"/>
              </p:ext>
            </p:extLst>
          </p:nvPr>
        </p:nvGraphicFramePr>
        <p:xfrm>
          <a:off x="263071" y="5152571"/>
          <a:ext cx="11683676" cy="1253138"/>
        </p:xfrm>
        <a:graphic>
          <a:graphicData uri="http://schemas.openxmlformats.org/drawingml/2006/table">
            <a:tbl>
              <a:tblPr>
                <a:tableStyleId>{5C22544A-7EE6-4342-B048-85BDC9FD1C3A}</a:tableStyleId>
              </a:tblPr>
              <a:tblGrid>
                <a:gridCol w="3633002">
                  <a:extLst>
                    <a:ext uri="{9D8B030D-6E8A-4147-A177-3AD203B41FA5}">
                      <a16:colId xmlns:a16="http://schemas.microsoft.com/office/drawing/2014/main" val="2003250863"/>
                    </a:ext>
                  </a:extLst>
                </a:gridCol>
                <a:gridCol w="889735">
                  <a:extLst>
                    <a:ext uri="{9D8B030D-6E8A-4147-A177-3AD203B41FA5}">
                      <a16:colId xmlns:a16="http://schemas.microsoft.com/office/drawing/2014/main" val="2445968811"/>
                    </a:ext>
                  </a:extLst>
                </a:gridCol>
                <a:gridCol w="7160939">
                  <a:extLst>
                    <a:ext uri="{9D8B030D-6E8A-4147-A177-3AD203B41FA5}">
                      <a16:colId xmlns:a16="http://schemas.microsoft.com/office/drawing/2014/main" val="187998877"/>
                    </a:ext>
                  </a:extLst>
                </a:gridCol>
              </a:tblGrid>
              <a:tr h="41320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Risk</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Risk Assessment</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Control</a:t>
                      </a:r>
                    </a:p>
                  </a:txBody>
                  <a:tcPr marL="0" marR="0" marT="0" marB="0" anchor="ctr">
                    <a:solidFill>
                      <a:schemeClr val="accent1"/>
                    </a:solidFill>
                  </a:tcPr>
                </a:tc>
                <a:extLst>
                  <a:ext uri="{0D108BD9-81ED-4DB2-BD59-A6C34878D82A}">
                    <a16:rowId xmlns:a16="http://schemas.microsoft.com/office/drawing/2014/main" val="2763828571"/>
                  </a:ext>
                </a:extLst>
              </a:tr>
              <a:tr h="413209">
                <a:tc>
                  <a:txBody>
                    <a:bodyPr/>
                    <a:lstStyle/>
                    <a:p>
                      <a:pPr marL="0" lvl="0" indent="0">
                        <a:buNone/>
                      </a:pPr>
                      <a:r>
                        <a:rPr lang="en-US" sz="1100" b="0" i="0" u="none" strike="noStrike" noProof="0">
                          <a:solidFill>
                            <a:srgbClr val="2E5684"/>
                          </a:solidFill>
                          <a:effectLst/>
                          <a:latin typeface="Calibri"/>
                        </a:rPr>
                        <a:t>Possible change of scope for the second vendor, that might affect cost and schedule.</a:t>
                      </a:r>
                    </a:p>
                  </a:txBody>
                  <a:tcPr marL="38099" marR="38099" marT="38099" marB="38099" anchor="ctr">
                    <a:solidFill>
                      <a:schemeClr val="accent4">
                        <a:lumMod val="20000"/>
                        <a:lumOff val="80000"/>
                      </a:schemeClr>
                    </a:solidFill>
                  </a:tcPr>
                </a:tc>
                <a:tc>
                  <a:txBody>
                    <a:bodyPr/>
                    <a:lstStyle/>
                    <a:p>
                      <a:pPr lvl="0" algn="ctr">
                        <a:buNone/>
                      </a:pPr>
                      <a:r>
                        <a:rPr lang="en-US" sz="1100" b="0">
                          <a:solidFill>
                            <a:schemeClr val="bg1"/>
                          </a:solidFill>
                          <a:effectLst/>
                        </a:rPr>
                        <a:t>L</a:t>
                      </a:r>
                    </a:p>
                  </a:txBody>
                  <a:tcPr marL="38099" marR="38099" marT="38099" marB="38099" anchor="ctr">
                    <a:solidFill>
                      <a:srgbClr val="00B050"/>
                    </a:solidFill>
                  </a:tcPr>
                </a:tc>
                <a:tc>
                  <a:txBody>
                    <a:bodyPr/>
                    <a:lstStyle/>
                    <a:p>
                      <a:pPr lvl="0">
                        <a:buNone/>
                      </a:pPr>
                      <a:r>
                        <a:rPr lang="en-US" sz="1100">
                          <a:effectLst/>
                        </a:rPr>
                        <a:t>Adjust project plan with cooperation with business, and resubmit Investment Proposal, if needed.</a:t>
                      </a:r>
                    </a:p>
                  </a:txBody>
                  <a:tcPr marL="38099" marR="38099" marT="38099" marB="38099" anchor="ctr">
                    <a:solidFill>
                      <a:schemeClr val="accent4">
                        <a:lumMod val="20000"/>
                        <a:lumOff val="80000"/>
                      </a:schemeClr>
                    </a:solidFill>
                  </a:tcPr>
                </a:tc>
                <a:extLst>
                  <a:ext uri="{0D108BD9-81ED-4DB2-BD59-A6C34878D82A}">
                    <a16:rowId xmlns:a16="http://schemas.microsoft.com/office/drawing/2014/main" val="994776590"/>
                  </a:ext>
                </a:extLst>
              </a:tr>
              <a:tr h="413209">
                <a:tc>
                  <a:txBody>
                    <a:bodyPr/>
                    <a:lstStyle/>
                    <a:p>
                      <a:pPr marL="0" lvl="0" indent="0">
                        <a:buNone/>
                      </a:pPr>
                      <a:r>
                        <a:rPr lang="en-US" sz="1100" b="0" i="0" u="none" strike="noStrike" noProof="0">
                          <a:solidFill>
                            <a:srgbClr val="2E5684"/>
                          </a:solidFill>
                          <a:effectLst/>
                        </a:rPr>
                        <a:t>Not enough clients for proper testing and deployment</a:t>
                      </a:r>
                      <a:endParaRPr lang="en-US" sz="1100" b="0" i="0" u="none" strike="noStrike" noProof="0">
                        <a:solidFill>
                          <a:srgbClr val="2E5684"/>
                        </a:solidFill>
                        <a:effectLst/>
                        <a:latin typeface="Calibri"/>
                      </a:endParaRPr>
                    </a:p>
                  </a:txBody>
                  <a:tcPr marL="38099" marR="38099" marT="38099" marB="38099" anchor="ctr">
                    <a:solidFill>
                      <a:schemeClr val="accent4">
                        <a:lumMod val="20000"/>
                        <a:lumOff val="80000"/>
                      </a:schemeClr>
                    </a:solidFill>
                  </a:tcPr>
                </a:tc>
                <a:tc>
                  <a:txBody>
                    <a:bodyPr/>
                    <a:lstStyle/>
                    <a:p>
                      <a:pPr lvl="0" algn="ctr">
                        <a:buNone/>
                      </a:pPr>
                      <a:r>
                        <a:rPr lang="en-US" sz="1100" b="0">
                          <a:solidFill>
                            <a:schemeClr val="bg1"/>
                          </a:solidFill>
                          <a:effectLst/>
                        </a:rPr>
                        <a:t>M</a:t>
                      </a:r>
                    </a:p>
                  </a:txBody>
                  <a:tcPr marL="38099" marR="38099" marT="38099" marB="38099" anchor="ctr">
                    <a:solidFill>
                      <a:srgbClr val="ED7D31"/>
                    </a:solidFill>
                  </a:tcPr>
                </a:tc>
                <a:tc>
                  <a:txBody>
                    <a:bodyPr/>
                    <a:lstStyle/>
                    <a:p>
                      <a:pPr lvl="0">
                        <a:buNone/>
                      </a:pPr>
                      <a:r>
                        <a:rPr lang="en-US" sz="1100" b="0" i="0" u="none" strike="noStrike" noProof="0">
                          <a:effectLst/>
                          <a:latin typeface="Calibri"/>
                        </a:rPr>
                        <a:t>Work with the Commercial Division to create the proper opportunities Find alternative, company-owned assets for testing</a:t>
                      </a:r>
                      <a:endParaRPr lang="en-US"/>
                    </a:p>
                  </a:txBody>
                  <a:tcPr marL="38099" marR="38099" marT="38099" marB="38099" anchor="ctr">
                    <a:solidFill>
                      <a:schemeClr val="accent4">
                        <a:lumMod val="20000"/>
                        <a:lumOff val="80000"/>
                      </a:schemeClr>
                    </a:solidFill>
                  </a:tcPr>
                </a:tc>
                <a:extLst>
                  <a:ext uri="{0D108BD9-81ED-4DB2-BD59-A6C34878D82A}">
                    <a16:rowId xmlns:a16="http://schemas.microsoft.com/office/drawing/2014/main" val="3259857153"/>
                  </a:ext>
                </a:extLst>
              </a:tr>
            </a:tbl>
          </a:graphicData>
        </a:graphic>
      </p:graphicFrame>
      <p:graphicFrame>
        <p:nvGraphicFramePr>
          <p:cNvPr id="16" name="Table 15">
            <a:extLst>
              <a:ext uri="{FF2B5EF4-FFF2-40B4-BE49-F238E27FC236}">
                <a16:creationId xmlns:a16="http://schemas.microsoft.com/office/drawing/2014/main" id="{7C9D8610-22A8-1E08-1047-05A15DCCAEDD}"/>
              </a:ext>
            </a:extLst>
          </p:cNvPr>
          <p:cNvGraphicFramePr>
            <a:graphicFrameLocks noGrp="1"/>
          </p:cNvGraphicFramePr>
          <p:nvPr>
            <p:extLst>
              <p:ext uri="{D42A27DB-BD31-4B8C-83A1-F6EECF244321}">
                <p14:modId xmlns:p14="http://schemas.microsoft.com/office/powerpoint/2010/main" val="1010385376"/>
              </p:ext>
            </p:extLst>
          </p:nvPr>
        </p:nvGraphicFramePr>
        <p:xfrm>
          <a:off x="251440" y="441143"/>
          <a:ext cx="4958665" cy="1691640"/>
        </p:xfrm>
        <a:graphic>
          <a:graphicData uri="http://schemas.openxmlformats.org/drawingml/2006/table">
            <a:tbl>
              <a:tblPr firstRow="1" bandRow="1"/>
              <a:tblGrid>
                <a:gridCol w="1253919">
                  <a:extLst>
                    <a:ext uri="{9D8B030D-6E8A-4147-A177-3AD203B41FA5}">
                      <a16:colId xmlns:a16="http://schemas.microsoft.com/office/drawing/2014/main" val="110687116"/>
                    </a:ext>
                  </a:extLst>
                </a:gridCol>
                <a:gridCol w="3704746">
                  <a:extLst>
                    <a:ext uri="{9D8B030D-6E8A-4147-A177-3AD203B41FA5}">
                      <a16:colId xmlns:a16="http://schemas.microsoft.com/office/drawing/2014/main" val="3314271387"/>
                    </a:ext>
                  </a:extLst>
                </a:gridCol>
              </a:tblGrid>
              <a:tr h="158286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a:ea typeface="+mn-ea"/>
                          <a:cs typeface="+mn-cs"/>
                        </a:rPr>
                        <a:t>Project </a:t>
                      </a:r>
                      <a:r>
                        <a:rPr lang="en-US" sz="1400" b="1" i="0" u="none" strike="noStrike" kern="1200" cap="none" spc="0" normalizeH="0" baseline="0" noProof="0">
                          <a:ln>
                            <a:noFill/>
                          </a:ln>
                          <a:solidFill>
                            <a:srgbClr val="FFFFFF"/>
                          </a:solidFill>
                          <a:effectLst/>
                          <a:uLnTx/>
                          <a:uFillTx/>
                          <a:latin typeface="Calibri"/>
                          <a:ea typeface="+mn-ea"/>
                          <a:cs typeface="+mn-cs"/>
                        </a:rPr>
                        <a:t>Scope</a:t>
                      </a:r>
                      <a:endParaRPr kumimoji="0" lang="en-US" sz="1400" b="1" i="0" u="none" strike="noStrike" kern="1200" cap="none" spc="0" normalizeH="0" baseline="0" noProof="0">
                        <a:ln>
                          <a:noFill/>
                        </a:ln>
                        <a:solidFill>
                          <a:srgbClr val="FFFFFF"/>
                        </a:solidFill>
                        <a:effectLst/>
                        <a:uLnTx/>
                        <a:uFillTx/>
                        <a:latin typeface="Calibri"/>
                        <a:ea typeface="+mn-ea"/>
                        <a:cs typeface="+mn-cs"/>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lvl="0" indent="0" algn="l">
                        <a:lnSpc>
                          <a:spcPct val="100000"/>
                        </a:lnSpc>
                        <a:buNone/>
                      </a:pPr>
                      <a:r>
                        <a:rPr lang="en-US" sz="1050" b="0" i="0" u="none" strike="noStrike" kern="1200" baseline="0" noProof="0">
                          <a:solidFill>
                            <a:srgbClr val="2E5684"/>
                          </a:solidFill>
                          <a:effectLst/>
                          <a:latin typeface="Calibri"/>
                        </a:rPr>
                        <a:t>A Virtual power plant (VPP) system aggregates the capacity of diverse Distributed Energy Resources (DERs) dispersed around the network and creates an individual operating portfolio from the composition of DERs characteristics. VPPs can schedule the DERs to provide energy and different types of reserve services in order to trade in wholesale electricity markets or provide network services.</a:t>
                      </a:r>
                      <a:br>
                        <a:rPr lang="en-US" sz="1050" b="0" i="0" u="none" strike="noStrike" kern="1200" baseline="0" noProof="0">
                          <a:solidFill>
                            <a:srgbClr val="2E5684"/>
                          </a:solidFill>
                          <a:effectLst/>
                          <a:latin typeface="Calibri"/>
                        </a:rPr>
                      </a:br>
                      <a:r>
                        <a:rPr lang="en-US" sz="1050" b="0" i="0" u="none" strike="noStrike" kern="1200" baseline="0" noProof="0">
                          <a:solidFill>
                            <a:srgbClr val="2E5684"/>
                          </a:solidFill>
                          <a:effectLst/>
                          <a:latin typeface="Calibri"/>
                        </a:rPr>
                        <a:t>A VPP system is required when managing many medium and small Distributed Energy Resources (generation, storage, flexible demand).</a:t>
                      </a:r>
                      <a:endParaRPr lang="en-US" sz="1050" b="0">
                        <a:latin typeface="Calibri"/>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sp>
        <p:nvSpPr>
          <p:cNvPr id="3" name="Oval 2">
            <a:extLst>
              <a:ext uri="{FF2B5EF4-FFF2-40B4-BE49-F238E27FC236}">
                <a16:creationId xmlns:a16="http://schemas.microsoft.com/office/drawing/2014/main" id="{7C638FB8-5DE2-D1BE-942F-510D9E9DC87C}"/>
              </a:ext>
            </a:extLst>
          </p:cNvPr>
          <p:cNvSpPr>
            <a:spLocks noChangeAspect="1"/>
          </p:cNvSpPr>
          <p:nvPr/>
        </p:nvSpPr>
        <p:spPr>
          <a:xfrm>
            <a:off x="7658044" y="1042303"/>
            <a:ext cx="214067" cy="20521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9D0EEB39-A752-C478-D140-3D32B30D5EFA}"/>
              </a:ext>
            </a:extLst>
          </p:cNvPr>
          <p:cNvSpPr>
            <a:spLocks noChangeAspect="1"/>
          </p:cNvSpPr>
          <p:nvPr/>
        </p:nvSpPr>
        <p:spPr>
          <a:xfrm>
            <a:off x="10964907" y="103611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68FC113-B780-3B2C-A235-2B4C506123B5}"/>
              </a:ext>
            </a:extLst>
          </p:cNvPr>
          <p:cNvSpPr>
            <a:spLocks noChangeAspect="1"/>
          </p:cNvSpPr>
          <p:nvPr/>
        </p:nvSpPr>
        <p:spPr>
          <a:xfrm>
            <a:off x="9343106" y="104568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9C974CED-E888-FF86-ACBF-37D5EDB1A39D}"/>
              </a:ext>
            </a:extLst>
          </p:cNvPr>
          <p:cNvSpPr>
            <a:spLocks noChangeAspect="1"/>
          </p:cNvSpPr>
          <p:nvPr/>
        </p:nvSpPr>
        <p:spPr>
          <a:xfrm>
            <a:off x="6004612" y="1050222"/>
            <a:ext cx="214068" cy="20521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CC8B891B-93EB-692C-C8E0-DC8C52B968F5}"/>
              </a:ext>
            </a:extLst>
          </p:cNvPr>
          <p:cNvSpPr>
            <a:spLocks noChangeAspect="1"/>
          </p:cNvSpPr>
          <p:nvPr/>
        </p:nvSpPr>
        <p:spPr>
          <a:xfrm>
            <a:off x="7660954" y="1040273"/>
            <a:ext cx="214067" cy="205211"/>
          </a:xfrm>
          <a:prstGeom prst="ellipse">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F12895C7-CEB9-591C-895C-57D5CD9CF526}"/>
              </a:ext>
            </a:extLst>
          </p:cNvPr>
          <p:cNvSpPr>
            <a:spLocks noChangeAspect="1"/>
          </p:cNvSpPr>
          <p:nvPr/>
        </p:nvSpPr>
        <p:spPr>
          <a:xfrm>
            <a:off x="5997661" y="1050168"/>
            <a:ext cx="214067" cy="205211"/>
          </a:xfrm>
          <a:prstGeom prst="ellipse">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8922D036-B76F-8C6C-1BB9-37215497F308}"/>
              </a:ext>
            </a:extLst>
          </p:cNvPr>
          <p:cNvSpPr>
            <a:spLocks noChangeAspect="1"/>
          </p:cNvSpPr>
          <p:nvPr/>
        </p:nvSpPr>
        <p:spPr>
          <a:xfrm>
            <a:off x="9342608" y="1057789"/>
            <a:ext cx="214067" cy="205211"/>
          </a:xfrm>
          <a:prstGeom prst="ellipse">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7343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CF3472-8FA4-8C4F-868D-2C759477A0D3}"/>
              </a:ext>
            </a:extLst>
          </p:cNvPr>
          <p:cNvSpPr>
            <a:spLocks noGrp="1"/>
          </p:cNvSpPr>
          <p:nvPr>
            <p:ph type="sldNum" idx="12"/>
          </p:nvPr>
        </p:nvSpPr>
        <p:spPr>
          <a:xfrm>
            <a:off x="8610600" y="6302032"/>
            <a:ext cx="2743200" cy="365125"/>
          </a:xfrm>
        </p:spPr>
        <p:txBody>
          <a:bodyPr/>
          <a:lstStyle/>
          <a:p>
            <a:pPr marL="0" lvl="0" indent="0" algn="r" rtl="0">
              <a:spcBef>
                <a:spcPts val="0"/>
              </a:spcBef>
              <a:spcAft>
                <a:spcPts val="0"/>
              </a:spcAft>
              <a:buNone/>
            </a:pPr>
            <a:fld id="{00000000-1234-1234-1234-123412341234}" type="slidenum">
              <a:rPr lang="en-US"/>
              <a:t>8</a:t>
            </a:fld>
            <a:endParaRPr lang="en-US"/>
          </a:p>
        </p:txBody>
      </p:sp>
      <p:sp>
        <p:nvSpPr>
          <p:cNvPr id="4" name="Slide Number Placeholder 1">
            <a:extLst>
              <a:ext uri="{FF2B5EF4-FFF2-40B4-BE49-F238E27FC236}">
                <a16:creationId xmlns:a16="http://schemas.microsoft.com/office/drawing/2014/main" id="{AEC4B26A-7BC3-42F8-65F1-55529F222BD4}"/>
              </a:ext>
            </a:extLst>
          </p:cNvPr>
          <p:cNvSpPr txBox="1">
            <a:spLocks/>
          </p:cNvSpPr>
          <p:nvPr/>
        </p:nvSpPr>
        <p:spPr>
          <a:xfrm>
            <a:off x="8610600" y="6302032"/>
            <a:ext cx="2743200" cy="365125"/>
          </a:xfrm>
          <a:prstGeom prst="rect">
            <a:avLst/>
          </a:prstGeom>
          <a:noFill/>
          <a:ln>
            <a:noFill/>
          </a:ln>
        </p:spPr>
        <p:txBody>
          <a:bodyPr spcFirstLastPara="1" vert="horz" wrap="square" lIns="91425" tIns="45700" rIns="91425" bIns="45700" rtlCol="0" anchor="ctr" anchorCtr="0">
            <a:noAutofit/>
          </a:bodyPr>
          <a:lstStyle>
            <a:defPPr>
              <a:defRPr lang="en-US"/>
            </a:defPPr>
            <a:lvl1pPr marL="0" lvl="0" indent="0" algn="r" defTabSz="914400" rtl="0" eaLnBrk="1" latinLnBrk="0" hangingPunct="1">
              <a:spcBef>
                <a:spcPts val="0"/>
              </a:spcBef>
              <a:buNone/>
              <a:defRPr sz="1200" kern="1200">
                <a:solidFill>
                  <a:schemeClr val="tx1">
                    <a:tint val="75000"/>
                  </a:schemeClr>
                </a:solidFill>
                <a:latin typeface="+mn-lt"/>
                <a:ea typeface="+mn-ea"/>
                <a:cs typeface="+mn-cs"/>
              </a:defRPr>
            </a:lvl1pPr>
            <a:lvl2pPr marL="0" lvl="1" indent="0" algn="r" defTabSz="914400" rtl="0" eaLnBrk="1" latinLnBrk="0" hangingPunct="1">
              <a:spcBef>
                <a:spcPts val="0"/>
              </a:spcBef>
              <a:buNone/>
              <a:defRPr sz="1800" kern="1200">
                <a:solidFill>
                  <a:schemeClr val="tx1"/>
                </a:solidFill>
                <a:latin typeface="+mn-lt"/>
                <a:ea typeface="+mn-ea"/>
                <a:cs typeface="+mn-cs"/>
              </a:defRPr>
            </a:lvl2pPr>
            <a:lvl3pPr marL="0" lvl="2" indent="0" algn="r" defTabSz="914400" rtl="0" eaLnBrk="1" latinLnBrk="0" hangingPunct="1">
              <a:spcBef>
                <a:spcPts val="0"/>
              </a:spcBef>
              <a:buNone/>
              <a:defRPr sz="1800" kern="1200">
                <a:solidFill>
                  <a:schemeClr val="tx1"/>
                </a:solidFill>
                <a:latin typeface="+mn-lt"/>
                <a:ea typeface="+mn-ea"/>
                <a:cs typeface="+mn-cs"/>
              </a:defRPr>
            </a:lvl3pPr>
            <a:lvl4pPr marL="0" lvl="3" indent="0" algn="r" defTabSz="914400" rtl="0" eaLnBrk="1" latinLnBrk="0" hangingPunct="1">
              <a:spcBef>
                <a:spcPts val="0"/>
              </a:spcBef>
              <a:buNone/>
              <a:defRPr sz="1800" kern="1200">
                <a:solidFill>
                  <a:schemeClr val="tx1"/>
                </a:solidFill>
                <a:latin typeface="+mn-lt"/>
                <a:ea typeface="+mn-ea"/>
                <a:cs typeface="+mn-cs"/>
              </a:defRPr>
            </a:lvl4pPr>
            <a:lvl5pPr marL="0" lvl="4" indent="0" algn="r" defTabSz="914400" rtl="0" eaLnBrk="1" latinLnBrk="0" hangingPunct="1">
              <a:spcBef>
                <a:spcPts val="0"/>
              </a:spcBef>
              <a:buNone/>
              <a:defRPr sz="1800" kern="1200">
                <a:solidFill>
                  <a:schemeClr val="tx1"/>
                </a:solidFill>
                <a:latin typeface="+mn-lt"/>
                <a:ea typeface="+mn-ea"/>
                <a:cs typeface="+mn-cs"/>
              </a:defRPr>
            </a:lvl5pPr>
            <a:lvl6pPr marL="0" lvl="5" indent="0" algn="r" defTabSz="914400" rtl="0" eaLnBrk="1" latinLnBrk="0" hangingPunct="1">
              <a:spcBef>
                <a:spcPts val="0"/>
              </a:spcBef>
              <a:buNone/>
              <a:defRPr sz="1800" kern="1200">
                <a:solidFill>
                  <a:schemeClr val="tx1"/>
                </a:solidFill>
                <a:latin typeface="+mn-lt"/>
                <a:ea typeface="+mn-ea"/>
                <a:cs typeface="+mn-cs"/>
              </a:defRPr>
            </a:lvl6pPr>
            <a:lvl7pPr marL="0" lvl="6" indent="0" algn="r" defTabSz="914400" rtl="0" eaLnBrk="1" latinLnBrk="0" hangingPunct="1">
              <a:spcBef>
                <a:spcPts val="0"/>
              </a:spcBef>
              <a:buNone/>
              <a:defRPr sz="1800" kern="1200">
                <a:solidFill>
                  <a:schemeClr val="tx1"/>
                </a:solidFill>
                <a:latin typeface="+mn-lt"/>
                <a:ea typeface="+mn-ea"/>
                <a:cs typeface="+mn-cs"/>
              </a:defRPr>
            </a:lvl7pPr>
            <a:lvl8pPr marL="0" lvl="7" indent="0" algn="r" defTabSz="914400" rtl="0" eaLnBrk="1" latinLnBrk="0" hangingPunct="1">
              <a:spcBef>
                <a:spcPts val="0"/>
              </a:spcBef>
              <a:buNone/>
              <a:defRPr sz="1800" kern="1200">
                <a:solidFill>
                  <a:schemeClr val="tx1"/>
                </a:solidFill>
                <a:latin typeface="+mn-lt"/>
                <a:ea typeface="+mn-ea"/>
                <a:cs typeface="+mn-cs"/>
              </a:defRPr>
            </a:lvl8pPr>
            <a:lvl9pPr marL="0" lvl="8" indent="0" algn="r" defTabSz="914400" rtl="0" eaLnBrk="1" latinLnBrk="0" hangingPunct="1">
              <a:spcBef>
                <a:spcPts val="0"/>
              </a:spcBef>
              <a:buNone/>
              <a:defRPr sz="1800" kern="1200">
                <a:solidFill>
                  <a:schemeClr val="tx1"/>
                </a:solidFill>
                <a:latin typeface="+mn-lt"/>
                <a:ea typeface="+mn-ea"/>
                <a:cs typeface="+mn-cs"/>
              </a:defRPr>
            </a:lvl9pPr>
          </a:lstStyle>
          <a:p>
            <a:pPr>
              <a:defRPr/>
            </a:pPr>
            <a:fld id="{00000000-1234-1234-1234-123412341234}" type="slidenum">
              <a:rPr lang="en-US" smtClean="0">
                <a:solidFill>
                  <a:srgbClr val="2E5684">
                    <a:tint val="75000"/>
                  </a:srgbClr>
                </a:solidFill>
                <a:latin typeface="Calibri" panose="020F0502020204030204"/>
              </a:rPr>
              <a:pPr>
                <a:defRPr/>
              </a:pPr>
              <a:t>8</a:t>
            </a:fld>
            <a:endParaRPr lang="en-US">
              <a:solidFill>
                <a:srgbClr val="2E5684">
                  <a:tint val="75000"/>
                </a:srgbClr>
              </a:solidFill>
              <a:latin typeface="Calibri" panose="020F0502020204030204"/>
            </a:endParaRPr>
          </a:p>
        </p:txBody>
      </p:sp>
      <p:graphicFrame>
        <p:nvGraphicFramePr>
          <p:cNvPr id="5" name="Content Placeholder 4">
            <a:extLst>
              <a:ext uri="{FF2B5EF4-FFF2-40B4-BE49-F238E27FC236}">
                <a16:creationId xmlns:a16="http://schemas.microsoft.com/office/drawing/2014/main" id="{C611F14C-0E0E-C820-F65E-D9C0F0365070}"/>
              </a:ext>
            </a:extLst>
          </p:cNvPr>
          <p:cNvGraphicFramePr>
            <a:graphicFrameLocks/>
          </p:cNvGraphicFramePr>
          <p:nvPr>
            <p:extLst>
              <p:ext uri="{D42A27DB-BD31-4B8C-83A1-F6EECF244321}">
                <p14:modId xmlns:p14="http://schemas.microsoft.com/office/powerpoint/2010/main" val="3555225870"/>
              </p:ext>
            </p:extLst>
          </p:nvPr>
        </p:nvGraphicFramePr>
        <p:xfrm>
          <a:off x="5304063" y="23586"/>
          <a:ext cx="6613073" cy="695077"/>
        </p:xfrm>
        <a:graphic>
          <a:graphicData uri="http://schemas.openxmlformats.org/drawingml/2006/table">
            <a:tbl>
              <a:tblPr firstRow="1" bandRow="1"/>
              <a:tblGrid>
                <a:gridCol w="724595">
                  <a:extLst>
                    <a:ext uri="{9D8B030D-6E8A-4147-A177-3AD203B41FA5}">
                      <a16:colId xmlns:a16="http://schemas.microsoft.com/office/drawing/2014/main" val="20000"/>
                    </a:ext>
                  </a:extLst>
                </a:gridCol>
                <a:gridCol w="739303">
                  <a:extLst>
                    <a:ext uri="{9D8B030D-6E8A-4147-A177-3AD203B41FA5}">
                      <a16:colId xmlns:a16="http://schemas.microsoft.com/office/drawing/2014/main" val="20001"/>
                    </a:ext>
                  </a:extLst>
                </a:gridCol>
                <a:gridCol w="1712068">
                  <a:extLst>
                    <a:ext uri="{9D8B030D-6E8A-4147-A177-3AD203B41FA5}">
                      <a16:colId xmlns:a16="http://schemas.microsoft.com/office/drawing/2014/main" val="20002"/>
                    </a:ext>
                  </a:extLst>
                </a:gridCol>
                <a:gridCol w="2033080">
                  <a:extLst>
                    <a:ext uri="{9D8B030D-6E8A-4147-A177-3AD203B41FA5}">
                      <a16:colId xmlns:a16="http://schemas.microsoft.com/office/drawing/2014/main" val="3624839458"/>
                    </a:ext>
                  </a:extLst>
                </a:gridCol>
                <a:gridCol w="1404027">
                  <a:extLst>
                    <a:ext uri="{9D8B030D-6E8A-4147-A177-3AD203B41FA5}">
                      <a16:colId xmlns:a16="http://schemas.microsoft.com/office/drawing/2014/main" val="2847559459"/>
                    </a:ext>
                  </a:extLst>
                </a:gridCol>
              </a:tblGrid>
              <a:tr h="20602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SAP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JIRA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PM/BP</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Business Owner</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Involved Divisions</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435997">
                <a:tc>
                  <a:txBody>
                    <a:bodyPr/>
                    <a:lstStyle/>
                    <a:p>
                      <a:pPr lvl="0" algn="ctr">
                        <a:buNone/>
                      </a:pPr>
                      <a:r>
                        <a:rPr lang="en-US" sz="1100" b="1" kern="1200" noProof="0">
                          <a:solidFill>
                            <a:schemeClr val="dk1"/>
                          </a:solidFill>
                          <a:latin typeface="+mn-lt"/>
                          <a:ea typeface="+mn-ea"/>
                          <a:cs typeface="+mn-cs"/>
                        </a:rPr>
                        <a:t>L/00080</a:t>
                      </a:r>
                    </a:p>
                  </a:txBody>
                  <a:tcPr marL="9525" marR="9525" marT="9525" marB="0"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100" b="1" kern="1200">
                          <a:solidFill>
                            <a:schemeClr val="dk1"/>
                          </a:solidFill>
                          <a:latin typeface="+mn-lt"/>
                          <a:ea typeface="+mn-ea"/>
                          <a:cs typeface="+mn-cs"/>
                        </a:rPr>
                        <a:t>ID-212</a:t>
                      </a:r>
                    </a:p>
                  </a:txBody>
                  <a:tcPr marL="9525" marR="9525" marT="9525" marB="0" anchor="ctr">
                    <a:lnL w="12700" cap="flat" cmpd="sng" algn="ctr">
                      <a:solidFill>
                        <a:schemeClr val="bg1"/>
                      </a:solidFill>
                      <a:prstDash val="solid"/>
                      <a:round/>
                      <a:headEnd type="none" w="med" len="med"/>
                      <a:tailEnd type="none" w="med" len="med"/>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rtl="0" eaLnBrk="1" latinLnBrk="0" hangingPunct="1"/>
                      <a:r>
                        <a:rPr lang="en-US" sz="1100" b="1" kern="1200">
                          <a:solidFill>
                            <a:schemeClr val="dk1"/>
                          </a:solidFill>
                          <a:latin typeface="+mn-lt"/>
                          <a:ea typeface="+mn-ea"/>
                          <a:cs typeface="+mn-cs"/>
                        </a:rPr>
                        <a:t>Koutsogiannakopoulos/</a:t>
                      </a:r>
                      <a:endParaRPr lang="en-US" b="1"/>
                    </a:p>
                    <a:p>
                      <a:pPr marL="0" lvl="0" algn="ctr" defTabSz="457198">
                        <a:buNone/>
                      </a:pPr>
                      <a:r>
                        <a:rPr lang="en-US" sz="1100" b="1" kern="1200">
                          <a:solidFill>
                            <a:schemeClr val="dk1"/>
                          </a:solidFill>
                          <a:latin typeface="+mn-lt"/>
                          <a:ea typeface="+mn-ea"/>
                          <a:cs typeface="+mn-cs"/>
                        </a:rPr>
                        <a:t>Drougkas</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IT/DDDE</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algn="ctr" defTabSz="457198">
                        <a:buNone/>
                      </a:pPr>
                      <a:r>
                        <a:rPr lang="en-US" sz="1100" b="0" i="0" u="none" strike="noStrike" kern="1200" noProof="0">
                          <a:solidFill>
                            <a:schemeClr val="dk1"/>
                          </a:solidFill>
                          <a:latin typeface="Calibri"/>
                        </a:rPr>
                        <a:t>IT/DDDE</a:t>
                      </a:r>
                      <a:endParaRPr lang="en-US" sz="1100" b="0" kern="1200">
                        <a:solidFill>
                          <a:schemeClr val="dk1"/>
                        </a:solidFill>
                        <a:latin typeface="+mn-lt"/>
                        <a:ea typeface="+mn-ea"/>
                        <a:cs typeface="+mn-cs"/>
                      </a:endParaRPr>
                    </a:p>
                  </a:txBody>
                  <a:tcPr marL="84406" marR="84406" anchor="ctr">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946C1F6C-9509-828E-1586-B0B857A0FD45}"/>
              </a:ext>
            </a:extLst>
          </p:cNvPr>
          <p:cNvGraphicFramePr>
            <a:graphicFrameLocks/>
          </p:cNvGraphicFramePr>
          <p:nvPr/>
        </p:nvGraphicFramePr>
        <p:xfrm>
          <a:off x="5313134" y="740228"/>
          <a:ext cx="6604003" cy="566675"/>
        </p:xfrm>
        <a:graphic>
          <a:graphicData uri="http://schemas.openxmlformats.org/drawingml/2006/table">
            <a:tbl>
              <a:tblPr firstRow="1" bandRow="1"/>
              <a:tblGrid>
                <a:gridCol w="1651001">
                  <a:extLst>
                    <a:ext uri="{9D8B030D-6E8A-4147-A177-3AD203B41FA5}">
                      <a16:colId xmlns:a16="http://schemas.microsoft.com/office/drawing/2014/main" val="20000"/>
                    </a:ext>
                  </a:extLst>
                </a:gridCol>
                <a:gridCol w="1686788">
                  <a:extLst>
                    <a:ext uri="{9D8B030D-6E8A-4147-A177-3AD203B41FA5}">
                      <a16:colId xmlns:a16="http://schemas.microsoft.com/office/drawing/2014/main" val="20001"/>
                    </a:ext>
                  </a:extLst>
                </a:gridCol>
                <a:gridCol w="1615213">
                  <a:extLst>
                    <a:ext uri="{9D8B030D-6E8A-4147-A177-3AD203B41FA5}">
                      <a16:colId xmlns:a16="http://schemas.microsoft.com/office/drawing/2014/main" val="20002"/>
                    </a:ext>
                  </a:extLst>
                </a:gridCol>
                <a:gridCol w="1651001">
                  <a:extLst>
                    <a:ext uri="{9D8B030D-6E8A-4147-A177-3AD203B41FA5}">
                      <a16:colId xmlns:a16="http://schemas.microsoft.com/office/drawing/2014/main" val="20003"/>
                    </a:ext>
                  </a:extLst>
                </a:gridCol>
              </a:tblGrid>
              <a:tr h="227035">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Overall</a:t>
                      </a:r>
                    </a:p>
                  </a:txBody>
                  <a:tcPr marL="84406" marR="84406">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Schedule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Cost</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Scope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07595">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solidFill>
                          <a:schemeClr val="bg2"/>
                        </a:solidFill>
                      </a:endParaRPr>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27047014"/>
                  </a:ext>
                </a:extLst>
              </a:tr>
            </a:tbl>
          </a:graphicData>
        </a:graphic>
      </p:graphicFrame>
      <p:graphicFrame>
        <p:nvGraphicFramePr>
          <p:cNvPr id="7" name="Content Placeholder 4">
            <a:extLst>
              <a:ext uri="{FF2B5EF4-FFF2-40B4-BE49-F238E27FC236}">
                <a16:creationId xmlns:a16="http://schemas.microsoft.com/office/drawing/2014/main" id="{EEAC4F3F-ABD5-A5BD-78B9-E83548BD8C45}"/>
              </a:ext>
            </a:extLst>
          </p:cNvPr>
          <p:cNvGraphicFramePr>
            <a:graphicFrameLocks/>
          </p:cNvGraphicFramePr>
          <p:nvPr>
            <p:extLst>
              <p:ext uri="{D42A27DB-BD31-4B8C-83A1-F6EECF244321}">
                <p14:modId xmlns:p14="http://schemas.microsoft.com/office/powerpoint/2010/main" val="3755579962"/>
              </p:ext>
            </p:extLst>
          </p:nvPr>
        </p:nvGraphicFramePr>
        <p:xfrm>
          <a:off x="5304063" y="1293585"/>
          <a:ext cx="6613074" cy="853440"/>
        </p:xfrm>
        <a:graphic>
          <a:graphicData uri="http://schemas.openxmlformats.org/drawingml/2006/table">
            <a:tbl>
              <a:tblPr firstRow="1" bandRow="1"/>
              <a:tblGrid>
                <a:gridCol w="1322615">
                  <a:extLst>
                    <a:ext uri="{9D8B030D-6E8A-4147-A177-3AD203B41FA5}">
                      <a16:colId xmlns:a16="http://schemas.microsoft.com/office/drawing/2014/main" val="20000"/>
                    </a:ext>
                  </a:extLst>
                </a:gridCol>
                <a:gridCol w="1165775">
                  <a:extLst>
                    <a:ext uri="{9D8B030D-6E8A-4147-A177-3AD203B41FA5}">
                      <a16:colId xmlns:a16="http://schemas.microsoft.com/office/drawing/2014/main" val="20001"/>
                    </a:ext>
                  </a:extLst>
                </a:gridCol>
                <a:gridCol w="1479454">
                  <a:extLst>
                    <a:ext uri="{9D8B030D-6E8A-4147-A177-3AD203B41FA5}">
                      <a16:colId xmlns:a16="http://schemas.microsoft.com/office/drawing/2014/main" val="20002"/>
                    </a:ext>
                  </a:extLst>
                </a:gridCol>
                <a:gridCol w="1322615">
                  <a:extLst>
                    <a:ext uri="{9D8B030D-6E8A-4147-A177-3AD203B41FA5}">
                      <a16:colId xmlns:a16="http://schemas.microsoft.com/office/drawing/2014/main" val="20003"/>
                    </a:ext>
                  </a:extLst>
                </a:gridCol>
                <a:gridCol w="1322615">
                  <a:extLst>
                    <a:ext uri="{9D8B030D-6E8A-4147-A177-3AD203B41FA5}">
                      <a16:colId xmlns:a16="http://schemas.microsoft.com/office/drawing/2014/main" val="1179070743"/>
                    </a:ext>
                  </a:extLst>
                </a:gridCol>
              </a:tblGrid>
              <a:tr h="347539">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baseline="0">
                          <a:latin typeface="Calibri"/>
                        </a:rPr>
                        <a:t>Project  Status</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Work Completed</a:t>
                      </a:r>
                      <a:r>
                        <a:rPr lang="en-US" sz="1100" baseline="0">
                          <a:latin typeface="Calibri"/>
                        </a:rPr>
                        <a:t> (%)</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Baseline</a:t>
                      </a:r>
                      <a:r>
                        <a:rPr lang="en-US" sz="1100" baseline="0">
                          <a:latin typeface="Calibri"/>
                        </a:rPr>
                        <a:t> Budget</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 Start Date</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Planned/Estimated Completion Date</a:t>
                      </a:r>
                    </a:p>
                  </a:txBody>
                  <a:tcPr marL="84406" marR="84406">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47539">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a:t>Implementation</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kern="1200">
                          <a:solidFill>
                            <a:schemeClr val="dk1"/>
                          </a:solidFill>
                          <a:latin typeface="Arial" panose="020B0604020202020204"/>
                          <a:ea typeface="+mn-ea"/>
                          <a:cs typeface="+mn-cs"/>
                        </a:rPr>
                        <a:t>85%</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457198" rtl="0" eaLnBrk="1" latinLnBrk="0" hangingPunct="1"/>
                      <a:r>
                        <a:rPr lang="en-US" sz="1100" kern="1200">
                          <a:solidFill>
                            <a:schemeClr val="dk1"/>
                          </a:solidFill>
                          <a:latin typeface="Arial" panose="020B0604020202020204"/>
                          <a:ea typeface="+mn-ea"/>
                          <a:cs typeface="+mn-cs"/>
                        </a:rPr>
                        <a:t>150K</a:t>
                      </a:r>
                      <a:endParaRPr lang="en-US" sz="1100" kern="1200">
                        <a:solidFill>
                          <a:schemeClr val="dk1"/>
                        </a:solidFill>
                        <a:latin typeface="+mn-lt"/>
                        <a:ea typeface="+mn-ea"/>
                        <a:cs typeface="+mn-cs"/>
                      </a:endParaRP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a:t>3 Jun </a:t>
                      </a:r>
                      <a:r>
                        <a:rPr lang="el-GR" sz="1100"/>
                        <a:t>2024</a:t>
                      </a:r>
                      <a:endParaRPr lang="en-US" sz="1100"/>
                    </a:p>
                  </a:txBody>
                  <a:tcPr marL="84406" marR="84406">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p>
                      <a:pPr lvl="0" algn="ctr">
                        <a:buNone/>
                      </a:pPr>
                      <a:r>
                        <a:rPr lang="en-US" sz="1100" b="0" i="0" u="none" strike="noStrike" noProof="0">
                          <a:solidFill>
                            <a:srgbClr val="2E5684"/>
                          </a:solidFill>
                          <a:latin typeface="Calibri"/>
                        </a:rPr>
                        <a:t>5 May </a:t>
                      </a:r>
                      <a:r>
                        <a:rPr lang="el-GR" sz="1100" b="0" i="0" u="none" strike="noStrike" noProof="0">
                          <a:solidFill>
                            <a:srgbClr val="2E5684"/>
                          </a:solidFill>
                          <a:latin typeface="Calibri"/>
                        </a:rPr>
                        <a:t>20</a:t>
                      </a:r>
                      <a:r>
                        <a:rPr lang="en-US" sz="1100" b="0" i="0" u="none" strike="noStrike" noProof="0">
                          <a:solidFill>
                            <a:srgbClr val="2E5684"/>
                          </a:solidFill>
                          <a:latin typeface="Calibri"/>
                        </a:rPr>
                        <a:t>25</a:t>
                      </a:r>
                      <a:r>
                        <a:rPr lang="el-GR" sz="1100" b="0" i="0" u="none" strike="noStrike" noProof="0">
                          <a:solidFill>
                            <a:srgbClr val="2E5684"/>
                          </a:solidFill>
                          <a:latin typeface="Calibri"/>
                        </a:rPr>
                        <a:t> </a:t>
                      </a:r>
                      <a:r>
                        <a:rPr lang="en-US" sz="1100" b="0" i="0" u="none" strike="noStrike" noProof="0">
                          <a:solidFill>
                            <a:srgbClr val="2E5684"/>
                          </a:solidFill>
                          <a:latin typeface="Calibri"/>
                        </a:rPr>
                        <a:t>/</a:t>
                      </a:r>
                      <a:endParaRPr lang="el-GR" sz="1100"/>
                    </a:p>
                    <a:p>
                      <a:pPr lvl="0" algn="ctr">
                        <a:buNone/>
                      </a:pPr>
                      <a:r>
                        <a:rPr lang="en-US" sz="1100"/>
                        <a:t> 11 July</a:t>
                      </a:r>
                      <a:r>
                        <a:rPr lang="en-US" sz="1100" b="0" i="0" u="none" strike="noStrike" noProof="0">
                          <a:solidFill>
                            <a:srgbClr val="2E5684"/>
                          </a:solidFill>
                          <a:latin typeface="Calibri"/>
                        </a:rPr>
                        <a:t> 20</a:t>
                      </a:r>
                      <a:r>
                        <a:rPr lang="el-GR" sz="1100" b="0" i="0" u="none" strike="noStrike" noProof="0">
                          <a:solidFill>
                            <a:srgbClr val="2E5684"/>
                          </a:solidFill>
                          <a:latin typeface="Calibri"/>
                        </a:rPr>
                        <a:t>25</a:t>
                      </a:r>
                      <a:endParaRPr lang="el-GR" sz="1100"/>
                    </a:p>
                  </a:txBody>
                  <a:tcPr marL="84406" marR="84406">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12" name="Table 11">
            <a:extLst>
              <a:ext uri="{FF2B5EF4-FFF2-40B4-BE49-F238E27FC236}">
                <a16:creationId xmlns:a16="http://schemas.microsoft.com/office/drawing/2014/main" id="{A71EA3FF-9BE1-1937-19AA-AC2218B32585}"/>
              </a:ext>
            </a:extLst>
          </p:cNvPr>
          <p:cNvGraphicFramePr>
            <a:graphicFrameLocks noGrp="1"/>
          </p:cNvGraphicFramePr>
          <p:nvPr>
            <p:extLst>
              <p:ext uri="{D42A27DB-BD31-4B8C-83A1-F6EECF244321}">
                <p14:modId xmlns:p14="http://schemas.microsoft.com/office/powerpoint/2010/main" val="208478254"/>
              </p:ext>
            </p:extLst>
          </p:nvPr>
        </p:nvGraphicFramePr>
        <p:xfrm>
          <a:off x="258066" y="2103285"/>
          <a:ext cx="11683580" cy="1788968"/>
        </p:xfrm>
        <a:graphic>
          <a:graphicData uri="http://schemas.openxmlformats.org/drawingml/2006/table">
            <a:tbl>
              <a:tblPr firstRow="1" bandRow="1"/>
              <a:tblGrid>
                <a:gridCol w="3493300">
                  <a:extLst>
                    <a:ext uri="{9D8B030D-6E8A-4147-A177-3AD203B41FA5}">
                      <a16:colId xmlns:a16="http://schemas.microsoft.com/office/drawing/2014/main" val="20000"/>
                    </a:ext>
                  </a:extLst>
                </a:gridCol>
                <a:gridCol w="885137">
                  <a:extLst>
                    <a:ext uri="{9D8B030D-6E8A-4147-A177-3AD203B41FA5}">
                      <a16:colId xmlns:a16="http://schemas.microsoft.com/office/drawing/2014/main" val="20001"/>
                    </a:ext>
                  </a:extLst>
                </a:gridCol>
                <a:gridCol w="2040473">
                  <a:extLst>
                    <a:ext uri="{9D8B030D-6E8A-4147-A177-3AD203B41FA5}">
                      <a16:colId xmlns:a16="http://schemas.microsoft.com/office/drawing/2014/main" val="20002"/>
                    </a:ext>
                  </a:extLst>
                </a:gridCol>
                <a:gridCol w="5264670">
                  <a:extLst>
                    <a:ext uri="{9D8B030D-6E8A-4147-A177-3AD203B41FA5}">
                      <a16:colId xmlns:a16="http://schemas.microsoft.com/office/drawing/2014/main" val="20005"/>
                    </a:ext>
                  </a:extLst>
                </a:gridCol>
              </a:tblGrid>
              <a:tr h="346682">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400" b="0">
                          <a:effectLst/>
                        </a:rPr>
                        <a:t>Phases/Milestones/Deliverables</a:t>
                      </a:r>
                      <a:endParaRPr lang="en-US" sz="1400">
                        <a:effectLst/>
                      </a:endParaRPr>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R/A/G</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Estimated Delivery Date</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Remarks on progress</a:t>
                      </a:r>
                      <a:endParaRPr lang="en-US" sz="1400"/>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29569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lnSpc>
                          <a:spcPct val="100000"/>
                        </a:lnSpc>
                        <a:spcBef>
                          <a:spcPts val="0"/>
                        </a:spcBef>
                        <a:spcAft>
                          <a:spcPts val="0"/>
                        </a:spcAft>
                        <a:buNone/>
                      </a:pPr>
                      <a:r>
                        <a:rPr lang="en-US" sz="1200" b="0" i="0" u="none" strike="noStrike" kern="1200" noProof="0">
                          <a:solidFill>
                            <a:schemeClr val="dk1"/>
                          </a:solidFill>
                          <a:latin typeface="Calibri"/>
                        </a:rPr>
                        <a:t>Phase 3| IT Dlv sign-off</a:t>
                      </a:r>
                      <a:endParaRPr lang="en-US" sz="1200" b="0" i="0" u="none" strike="noStrike" kern="1200" noProof="0">
                        <a:solidFill>
                          <a:srgbClr val="2E5684"/>
                        </a:solidFill>
                        <a:latin typeface="Calibri"/>
                      </a:endParaRP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ctr">
                        <a:lnSpc>
                          <a:spcPct val="100000"/>
                        </a:lnSpc>
                        <a:spcBef>
                          <a:spcPts val="0"/>
                        </a:spcBef>
                        <a:spcAft>
                          <a:spcPts val="0"/>
                        </a:spcAft>
                        <a:buNone/>
                      </a:pPr>
                      <a:endParaRPr lang="en-US" sz="1200" kern="1200" noProof="0">
                        <a:solidFill>
                          <a:schemeClr val="dk1"/>
                        </a:solidFill>
                        <a:latin typeface="Calibri"/>
                        <a:ea typeface="+mn-ea"/>
                        <a:cs typeface="+mn-cs"/>
                      </a:endParaRP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lnSpc>
                          <a:spcPct val="100000"/>
                        </a:lnSpc>
                        <a:spcBef>
                          <a:spcPts val="0"/>
                        </a:spcBef>
                        <a:spcAft>
                          <a:spcPts val="0"/>
                        </a:spcAft>
                        <a:buNone/>
                      </a:pPr>
                      <a:r>
                        <a:rPr lang="en-US" sz="1200" b="0" i="0" u="none" strike="noStrike" noProof="0">
                          <a:solidFill>
                            <a:srgbClr val="2E5684"/>
                          </a:solidFill>
                          <a:latin typeface="Calibri"/>
                        </a:rPr>
                        <a:t>Delays from vendors – issues raised from business</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2038214"/>
                  </a:ext>
                </a:extLst>
              </a:tr>
              <a:tr h="295699">
                <a:tc>
                  <a:txBody>
                    <a:bodyPr/>
                    <a:lstStyle/>
                    <a:p>
                      <a:pPr lvl="0" algn="l">
                        <a:lnSpc>
                          <a:spcPct val="100000"/>
                        </a:lnSpc>
                        <a:spcBef>
                          <a:spcPts val="0"/>
                        </a:spcBef>
                        <a:spcAft>
                          <a:spcPts val="0"/>
                        </a:spcAft>
                        <a:buNone/>
                      </a:pPr>
                      <a:r>
                        <a:rPr lang="en-US" sz="1200" b="0" i="0" u="none" strike="noStrike" kern="1200" noProof="0">
                          <a:solidFill>
                            <a:schemeClr val="dk1"/>
                          </a:solidFill>
                          <a:latin typeface="Calibri"/>
                        </a:rPr>
                        <a:t>Phase 4 | Produce Roadmap</a:t>
                      </a:r>
                      <a:endParaRPr lang="en-US"/>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15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lvl="0" algn="ctr">
                        <a:lnSpc>
                          <a:spcPct val="100000"/>
                        </a:lnSpc>
                        <a:spcBef>
                          <a:spcPts val="0"/>
                        </a:spcBef>
                        <a:spcAft>
                          <a:spcPts val="0"/>
                        </a:spcAft>
                        <a:buNone/>
                      </a:pPr>
                      <a:endParaRPr lang="en-US" sz="1200" kern="1200" noProof="0">
                        <a:solidFill>
                          <a:schemeClr val="dk1"/>
                        </a:solidFill>
                        <a:latin typeface="Calibri"/>
                        <a:ea typeface="+mn-ea"/>
                        <a:cs typeface="+mn-cs"/>
                      </a:endParaRP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lvl="0" algn="l">
                        <a:lnSpc>
                          <a:spcPct val="100000"/>
                        </a:lnSpc>
                        <a:spcBef>
                          <a:spcPts val="0"/>
                        </a:spcBef>
                        <a:spcAft>
                          <a:spcPts val="0"/>
                        </a:spcAft>
                        <a:buNone/>
                      </a:pPr>
                      <a:r>
                        <a:rPr lang="en-US" sz="1200" b="0" i="0" u="none" strike="noStrike" noProof="0">
                          <a:solidFill>
                            <a:srgbClr val="2E5684"/>
                          </a:solidFill>
                          <a:latin typeface="Calibri"/>
                        </a:rPr>
                        <a:t>Done</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499105613"/>
                  </a:ext>
                </a:extLst>
              </a:tr>
              <a:tr h="259490">
                <a:tc>
                  <a:txBody>
                    <a:bodyPr/>
                    <a:lstStyle/>
                    <a:p>
                      <a:pPr lvl="0" algn="l">
                        <a:lnSpc>
                          <a:spcPct val="100000"/>
                        </a:lnSpc>
                        <a:spcBef>
                          <a:spcPts val="0"/>
                        </a:spcBef>
                        <a:spcAft>
                          <a:spcPts val="0"/>
                        </a:spcAft>
                        <a:buNone/>
                      </a:pPr>
                      <a:r>
                        <a:rPr lang="en-US" sz="1200" b="0" i="0" u="none" strike="noStrike" kern="1200" noProof="0">
                          <a:solidFill>
                            <a:schemeClr val="dk1"/>
                          </a:solidFill>
                          <a:latin typeface="Calibri"/>
                        </a:rPr>
                        <a:t>Phase 3 | </a:t>
                      </a:r>
                      <a:r>
                        <a:rPr lang="en-US" sz="1200" kern="1200" noProof="0">
                          <a:solidFill>
                            <a:schemeClr val="dk1"/>
                          </a:solidFill>
                          <a:latin typeface="Calibri"/>
                          <a:ea typeface="+mn-ea"/>
                          <a:cs typeface="+mn-cs"/>
                        </a:rPr>
                        <a:t>Review and sign-off</a:t>
                      </a:r>
                    </a:p>
                  </a:txBody>
                  <a:tcPr marL="36000" marR="36000" marT="36000" marB="36000">
                    <a:lnL w="12700">
                      <a:solidFill>
                        <a:sysClr val="window" lastClr="FFFFFF"/>
                      </a:solidFill>
                    </a:lnL>
                    <a:lnR w="12700">
                      <a:solidFill>
                        <a:sysClr val="window" lastClr="FFFFFF"/>
                      </a:solidFill>
                    </a:lnR>
                    <a:lnT w="12700" cap="flat" cmpd="sng" algn="ctr">
                      <a:solidFill>
                        <a:sysClr val="window" lastClr="FFFFFF"/>
                      </a:solidFill>
                      <a:prstDash val="solid"/>
                      <a:round/>
                      <a:headEnd type="none" w="med" len="med"/>
                      <a:tailEnd type="none" w="med" len="med"/>
                    </a:lnT>
                    <a:lnB w="12700">
                      <a:solidFill>
                        <a:sysClr val="window" lastClr="FFFFFF"/>
                      </a:solidFill>
                    </a:lnB>
                    <a:lnTlToBr w="0">
                      <a:noFill/>
                    </a:lnTlToBr>
                    <a:lnBlToTr w="0">
                      <a:noFill/>
                    </a:lnBlToTr>
                    <a:solidFill>
                      <a:schemeClr val="accent4">
                        <a:lumMod val="20000"/>
                        <a:lumOff val="80000"/>
                      </a:schemeClr>
                    </a:solidFill>
                  </a:tcPr>
                </a:tc>
                <a:tc>
                  <a:txBody>
                    <a:bodyPr/>
                    <a:lstStyle/>
                    <a:p>
                      <a:pPr lvl="0" algn="ctr">
                        <a:buNone/>
                      </a:pPr>
                      <a:r>
                        <a:rPr lang="en-US" sz="1150">
                          <a:solidFill>
                            <a:schemeClr val="bg1"/>
                          </a:solidFill>
                        </a:rPr>
                        <a:t>G</a:t>
                      </a:r>
                    </a:p>
                  </a:txBody>
                  <a:tcPr marL="36000" marR="36000" marT="36000" marB="36000">
                    <a:lnL w="12700">
                      <a:solidFill>
                        <a:sysClr val="window" lastClr="FFFFFF"/>
                      </a:solidFill>
                    </a:lnL>
                    <a:lnR w="12700">
                      <a:solidFill>
                        <a:sysClr val="window" lastClr="FFFFFF"/>
                      </a:solidFill>
                    </a:lnR>
                    <a:lnT w="12700" cap="flat" cmpd="sng" algn="ctr">
                      <a:solidFill>
                        <a:sysClr val="window" lastClr="FFFFFF"/>
                      </a:solidFill>
                      <a:prstDash val="solid"/>
                      <a:round/>
                      <a:headEnd type="none" w="med" len="med"/>
                      <a:tailEnd type="none" w="med" len="med"/>
                    </a:lnT>
                    <a:lnB w="12700">
                      <a:solidFill>
                        <a:sysClr val="window" lastClr="FFFFFF"/>
                      </a:solidFill>
                    </a:lnB>
                    <a:lnTlToBr w="0">
                      <a:noFill/>
                    </a:lnTlToBr>
                    <a:lnBlToTr w="0">
                      <a:noFill/>
                    </a:lnBlToTr>
                    <a:solidFill>
                      <a:srgbClr val="00B050"/>
                    </a:solidFill>
                  </a:tcPr>
                </a:tc>
                <a:tc>
                  <a:txBody>
                    <a:bodyPr/>
                    <a:lstStyle/>
                    <a:p>
                      <a:pPr lvl="0" algn="ctr">
                        <a:lnSpc>
                          <a:spcPct val="100000"/>
                        </a:lnSpc>
                        <a:spcBef>
                          <a:spcPts val="0"/>
                        </a:spcBef>
                        <a:spcAft>
                          <a:spcPts val="0"/>
                        </a:spcAft>
                        <a:buNone/>
                      </a:pPr>
                      <a:endParaRPr lang="en-US" sz="1200" kern="1200" noProof="0">
                        <a:solidFill>
                          <a:schemeClr val="dk1"/>
                        </a:solidFill>
                        <a:latin typeface="Calibri"/>
                        <a:ea typeface="+mn-ea"/>
                        <a:cs typeface="+mn-cs"/>
                      </a:endParaRPr>
                    </a:p>
                  </a:txBody>
                  <a:tcPr marL="36000" marR="36000" marT="36000" marB="36000">
                    <a:lnL w="12700">
                      <a:solidFill>
                        <a:sysClr val="window" lastClr="FFFFFF"/>
                      </a:solidFill>
                    </a:lnL>
                    <a:lnR w="12700">
                      <a:solidFill>
                        <a:sysClr val="window" lastClr="FFFFFF"/>
                      </a:solidFill>
                    </a:lnR>
                    <a:lnT w="12700" cap="flat" cmpd="sng" algn="ctr">
                      <a:solidFill>
                        <a:sysClr val="window" lastClr="FFFFFF"/>
                      </a:solidFill>
                      <a:prstDash val="solid"/>
                      <a:round/>
                      <a:headEnd type="none" w="med" len="med"/>
                      <a:tailEnd type="none" w="med" len="med"/>
                    </a:lnT>
                    <a:lnB w="12700">
                      <a:solidFill>
                        <a:sysClr val="window" lastClr="FFFFFF"/>
                      </a:solidFill>
                    </a:lnB>
                    <a:lnTlToBr w="0">
                      <a:noFill/>
                    </a:lnTlToBr>
                    <a:lnBlToTr w="0">
                      <a:noFill/>
                    </a:lnBlToTr>
                    <a:solidFill>
                      <a:schemeClr val="accent4">
                        <a:lumMod val="20000"/>
                        <a:lumOff val="80000"/>
                      </a:schemeClr>
                    </a:solidFill>
                  </a:tcPr>
                </a:tc>
                <a:tc>
                  <a:txBody>
                    <a:bodyPr/>
                    <a:lstStyle/>
                    <a:p>
                      <a:pPr lvl="0" algn="l">
                        <a:lnSpc>
                          <a:spcPct val="100000"/>
                        </a:lnSpc>
                        <a:spcBef>
                          <a:spcPts val="0"/>
                        </a:spcBef>
                        <a:spcAft>
                          <a:spcPts val="0"/>
                        </a:spcAft>
                        <a:buNone/>
                      </a:pPr>
                      <a:r>
                        <a:rPr lang="en-US" sz="1200" b="0" i="0" u="none" strike="noStrike" noProof="0">
                          <a:solidFill>
                            <a:srgbClr val="2E5684"/>
                          </a:solidFill>
                        </a:rPr>
                        <a:t>To Do</a:t>
                      </a:r>
                    </a:p>
                  </a:txBody>
                  <a:tcPr marL="36000" marR="36000" marT="36000" marB="36000">
                    <a:lnL w="12700">
                      <a:solidFill>
                        <a:sysClr val="window" lastClr="FFFFFF"/>
                      </a:solidFill>
                    </a:lnL>
                    <a:lnR w="12700">
                      <a:solidFill>
                        <a:sysClr val="window" lastClr="FFFFFF"/>
                      </a:solidFill>
                    </a:lnR>
                    <a:lnT w="12700" cap="flat" cmpd="sng" algn="ctr">
                      <a:solidFill>
                        <a:sysClr val="window" lastClr="FFFFFF"/>
                      </a:solidFill>
                      <a:prstDash val="solid"/>
                      <a:round/>
                      <a:headEnd type="none" w="med" len="med"/>
                      <a:tailEnd type="none" w="med" len="med"/>
                    </a:lnT>
                    <a:lnB w="12700">
                      <a:solidFill>
                        <a:sysClr val="window" lastClr="FFFFFF"/>
                      </a:solidFill>
                    </a:lnB>
                    <a:lnTlToBr w="0">
                      <a:noFill/>
                    </a:lnTlToBr>
                    <a:lnBlToTr w="0">
                      <a:noFill/>
                    </a:lnBlToTr>
                    <a:solidFill>
                      <a:schemeClr val="accent4">
                        <a:lumMod val="20000"/>
                        <a:lumOff val="80000"/>
                      </a:schemeClr>
                    </a:solidFill>
                  </a:tcPr>
                </a:tc>
                <a:extLst>
                  <a:ext uri="{0D108BD9-81ED-4DB2-BD59-A6C34878D82A}">
                    <a16:rowId xmlns:a16="http://schemas.microsoft.com/office/drawing/2014/main" val="2850971941"/>
                  </a:ext>
                </a:extLst>
              </a:tr>
              <a:tr h="295699">
                <a:tc>
                  <a:txBody>
                    <a:bodyPr/>
                    <a:lstStyle/>
                    <a:p>
                      <a:pPr lvl="0" algn="l">
                        <a:lnSpc>
                          <a:spcPct val="100000"/>
                        </a:lnSpc>
                        <a:spcBef>
                          <a:spcPts val="0"/>
                        </a:spcBef>
                        <a:spcAft>
                          <a:spcPts val="0"/>
                        </a:spcAft>
                        <a:buNone/>
                      </a:pPr>
                      <a:r>
                        <a:rPr lang="en-US" sz="1200" kern="1200" noProof="0">
                          <a:solidFill>
                            <a:schemeClr val="dk1"/>
                          </a:solidFill>
                          <a:latin typeface="Calibri"/>
                          <a:ea typeface="+mn-ea"/>
                          <a:cs typeface="+mn-cs"/>
                        </a:rPr>
                        <a:t>Phase 4| Produce supporting text for RFP</a:t>
                      </a:r>
                      <a:endParaRPr lang="en-US" sz="1200" kern="1200">
                        <a:solidFill>
                          <a:schemeClr val="dk1"/>
                        </a:solidFill>
                        <a:latin typeface="Calibri"/>
                        <a:ea typeface="+mn-ea"/>
                        <a:cs typeface="+mn-cs"/>
                      </a:endParaRP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15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lvl="0" algn="ctr">
                        <a:lnSpc>
                          <a:spcPct val="100000"/>
                        </a:lnSpc>
                        <a:spcBef>
                          <a:spcPts val="0"/>
                        </a:spcBef>
                        <a:spcAft>
                          <a:spcPts val="0"/>
                        </a:spcAft>
                        <a:buNone/>
                      </a:pPr>
                      <a:endParaRPr lang="en-US" sz="1200" kern="1200" noProof="0">
                        <a:solidFill>
                          <a:schemeClr val="dk1"/>
                        </a:solidFill>
                        <a:latin typeface="Calibri"/>
                        <a:ea typeface="+mn-ea"/>
                        <a:cs typeface="+mn-cs"/>
                      </a:endParaRP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l">
                        <a:lnSpc>
                          <a:spcPct val="100000"/>
                        </a:lnSpc>
                        <a:spcBef>
                          <a:spcPts val="0"/>
                        </a:spcBef>
                        <a:spcAft>
                          <a:spcPts val="0"/>
                        </a:spcAft>
                        <a:buNone/>
                      </a:pPr>
                      <a:r>
                        <a:rPr lang="en-US" sz="1200" b="0" i="0" u="none" strike="noStrike" noProof="0">
                          <a:solidFill>
                            <a:srgbClr val="2E5684"/>
                          </a:solidFill>
                          <a:latin typeface="Calibri"/>
                        </a:rPr>
                        <a:t>To Do</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716607362"/>
                  </a:ext>
                </a:extLst>
              </a:tr>
              <a:tr h="295699">
                <a:tc>
                  <a:txBody>
                    <a:bodyPr/>
                    <a:lstStyle/>
                    <a:p>
                      <a:pPr lvl="0" algn="l">
                        <a:lnSpc>
                          <a:spcPct val="100000"/>
                        </a:lnSpc>
                        <a:spcBef>
                          <a:spcPts val="0"/>
                        </a:spcBef>
                        <a:spcAft>
                          <a:spcPts val="0"/>
                        </a:spcAft>
                        <a:buNone/>
                      </a:pPr>
                      <a:r>
                        <a:rPr lang="en-US" sz="1200" b="0" i="0" u="none" strike="noStrike" kern="1200" noProof="0">
                          <a:solidFill>
                            <a:schemeClr val="dk1"/>
                          </a:solidFill>
                          <a:latin typeface="Calibri"/>
                        </a:rPr>
                        <a:t>Phase 4| Review Roadmap and RFP and sign-off</a:t>
                      </a:r>
                    </a:p>
                  </a:txBody>
                  <a:tcPr marL="36000" marR="36000" marT="36000" marB="36000">
                    <a:lnL w="12700">
                      <a:solidFill>
                        <a:sysClr val="window" lastClr="FFFFFF"/>
                      </a:solidFill>
                    </a:lnL>
                    <a:lnR w="12700">
                      <a:solidFill>
                        <a:sysClr val="window" lastClr="FFFFFF"/>
                      </a:solidFill>
                    </a:lnR>
                    <a:lnT w="12700">
                      <a:solidFill>
                        <a:sysClr val="window" lastClr="FFFFFF"/>
                      </a:solidFill>
                    </a:lnT>
                    <a:lnB w="12700">
                      <a:solidFill>
                        <a:sysClr val="window" lastClr="FFFFFF"/>
                      </a:solidFill>
                    </a:lnB>
                    <a:lnTlToBr w="0">
                      <a:noFill/>
                    </a:lnTlToBr>
                    <a:lnBlToTr w="0">
                      <a:noFill/>
                    </a:lnBlToTr>
                    <a:solidFill>
                      <a:schemeClr val="accent4">
                        <a:lumMod val="20000"/>
                        <a:lumOff val="80000"/>
                      </a:schemeClr>
                    </a:solidFill>
                  </a:tcPr>
                </a:tc>
                <a:tc>
                  <a:txBody>
                    <a:bodyPr/>
                    <a:lstStyle/>
                    <a:p>
                      <a:pPr lvl="0" algn="ctr">
                        <a:buNone/>
                      </a:pPr>
                      <a:r>
                        <a:rPr lang="en-US" sz="1150">
                          <a:solidFill>
                            <a:schemeClr val="bg1"/>
                          </a:solidFill>
                        </a:rPr>
                        <a:t>G</a:t>
                      </a:r>
                    </a:p>
                  </a:txBody>
                  <a:tcPr marL="36000" marR="36000" marT="36000" marB="36000">
                    <a:lnL w="12700">
                      <a:solidFill>
                        <a:sysClr val="window" lastClr="FFFFFF"/>
                      </a:solidFill>
                    </a:lnL>
                    <a:lnR w="12700">
                      <a:solidFill>
                        <a:sysClr val="window" lastClr="FFFFFF"/>
                      </a:solidFill>
                    </a:lnR>
                    <a:lnT w="12700">
                      <a:solidFill>
                        <a:sysClr val="window" lastClr="FFFFFF"/>
                      </a:solidFill>
                    </a:lnT>
                    <a:lnB w="12700">
                      <a:solidFill>
                        <a:sysClr val="window" lastClr="FFFFFF"/>
                      </a:solidFill>
                    </a:lnB>
                    <a:lnTlToBr w="0">
                      <a:noFill/>
                    </a:lnTlToBr>
                    <a:lnBlToTr w="0">
                      <a:noFill/>
                    </a:lnBlToTr>
                    <a:solidFill>
                      <a:srgbClr val="00B050"/>
                    </a:solidFill>
                  </a:tcPr>
                </a:tc>
                <a:tc>
                  <a:txBody>
                    <a:bodyPr/>
                    <a:lstStyle/>
                    <a:p>
                      <a:pPr lvl="0" algn="ctr">
                        <a:lnSpc>
                          <a:spcPct val="100000"/>
                        </a:lnSpc>
                        <a:spcBef>
                          <a:spcPts val="0"/>
                        </a:spcBef>
                        <a:spcAft>
                          <a:spcPts val="0"/>
                        </a:spcAft>
                        <a:buNone/>
                      </a:pPr>
                      <a:endParaRPr lang="en-US" sz="1200" kern="1200" noProof="0">
                        <a:solidFill>
                          <a:schemeClr val="dk1"/>
                        </a:solidFill>
                        <a:latin typeface="Calibri"/>
                        <a:ea typeface="+mn-ea"/>
                        <a:cs typeface="+mn-cs"/>
                      </a:endParaRPr>
                    </a:p>
                  </a:txBody>
                  <a:tcPr marL="36000" marR="36000" marT="36000" marB="36000">
                    <a:lnL w="12700">
                      <a:solidFill>
                        <a:sysClr val="window" lastClr="FFFFFF"/>
                      </a:solidFill>
                    </a:lnL>
                    <a:lnR w="12700">
                      <a:solidFill>
                        <a:sysClr val="window" lastClr="FFFFFF"/>
                      </a:solidFill>
                    </a:lnR>
                    <a:lnT w="12700">
                      <a:solidFill>
                        <a:sysClr val="window" lastClr="FFFFFF"/>
                      </a:solidFill>
                    </a:lnT>
                    <a:lnB w="12700">
                      <a:solidFill>
                        <a:sysClr val="window" lastClr="FFFFFF"/>
                      </a:solidFill>
                    </a:lnB>
                    <a:lnTlToBr w="0">
                      <a:noFill/>
                    </a:lnTlToBr>
                    <a:lnBlToTr w="0">
                      <a:noFill/>
                    </a:lnBlToTr>
                    <a:solidFill>
                      <a:schemeClr val="accent4">
                        <a:lumMod val="20000"/>
                        <a:lumOff val="80000"/>
                      </a:schemeClr>
                    </a:solidFill>
                  </a:tcPr>
                </a:tc>
                <a:tc>
                  <a:txBody>
                    <a:bodyPr/>
                    <a:lstStyle/>
                    <a:p>
                      <a:pPr marL="0" lvl="0" indent="0" algn="l">
                        <a:lnSpc>
                          <a:spcPct val="100000"/>
                        </a:lnSpc>
                        <a:spcBef>
                          <a:spcPts val="0"/>
                        </a:spcBef>
                        <a:spcAft>
                          <a:spcPts val="0"/>
                        </a:spcAft>
                        <a:buNone/>
                      </a:pPr>
                      <a:r>
                        <a:rPr lang="en-US" sz="1200" b="0" i="0" u="none" strike="noStrike" noProof="0">
                          <a:solidFill>
                            <a:srgbClr val="2E5684"/>
                          </a:solidFill>
                          <a:latin typeface="Calibri"/>
                        </a:rPr>
                        <a:t>To Do</a:t>
                      </a:r>
                    </a:p>
                  </a:txBody>
                  <a:tcPr marL="36000" marR="36000" marT="36000" marB="36000">
                    <a:lnL w="12700">
                      <a:solidFill>
                        <a:sysClr val="window" lastClr="FFFFFF"/>
                      </a:solidFill>
                    </a:lnL>
                    <a:lnR w="12700">
                      <a:solidFill>
                        <a:sysClr val="window" lastClr="FFFFFF"/>
                      </a:solidFill>
                    </a:lnR>
                    <a:lnT w="12700">
                      <a:solidFill>
                        <a:sysClr val="window" lastClr="FFFFFF"/>
                      </a:solidFill>
                    </a:lnT>
                    <a:lnB w="12700">
                      <a:solidFill>
                        <a:sysClr val="window" lastClr="FFFFFF"/>
                      </a:solidFill>
                    </a:lnB>
                    <a:lnTlToBr w="0">
                      <a:noFill/>
                    </a:lnTlToBr>
                    <a:lnBlToTr w="0">
                      <a:noFill/>
                    </a:lnBlToTr>
                    <a:solidFill>
                      <a:schemeClr val="accent4">
                        <a:lumMod val="20000"/>
                        <a:lumOff val="80000"/>
                      </a:schemeClr>
                    </a:solidFill>
                  </a:tcPr>
                </a:tc>
                <a:extLst>
                  <a:ext uri="{0D108BD9-81ED-4DB2-BD59-A6C34878D82A}">
                    <a16:rowId xmlns:a16="http://schemas.microsoft.com/office/drawing/2014/main" val="371634843"/>
                  </a:ext>
                </a:extLst>
              </a:tr>
            </a:tbl>
          </a:graphicData>
        </a:graphic>
      </p:graphicFrame>
      <p:graphicFrame>
        <p:nvGraphicFramePr>
          <p:cNvPr id="13" name="Table 12">
            <a:extLst>
              <a:ext uri="{FF2B5EF4-FFF2-40B4-BE49-F238E27FC236}">
                <a16:creationId xmlns:a16="http://schemas.microsoft.com/office/drawing/2014/main" id="{BA107CB2-F91F-A476-5F23-18649D1030FC}"/>
              </a:ext>
            </a:extLst>
          </p:cNvPr>
          <p:cNvGraphicFramePr>
            <a:graphicFrameLocks noGrp="1"/>
          </p:cNvGraphicFramePr>
          <p:nvPr>
            <p:extLst>
              <p:ext uri="{D42A27DB-BD31-4B8C-83A1-F6EECF244321}">
                <p14:modId xmlns:p14="http://schemas.microsoft.com/office/powerpoint/2010/main" val="2900307275"/>
              </p:ext>
            </p:extLst>
          </p:nvPr>
        </p:nvGraphicFramePr>
        <p:xfrm>
          <a:off x="251442" y="32930"/>
          <a:ext cx="4958664" cy="406005"/>
        </p:xfrm>
        <a:graphic>
          <a:graphicData uri="http://schemas.openxmlformats.org/drawingml/2006/table">
            <a:tbl>
              <a:tblPr firstRow="1" bandRow="1"/>
              <a:tblGrid>
                <a:gridCol w="1254142">
                  <a:extLst>
                    <a:ext uri="{9D8B030D-6E8A-4147-A177-3AD203B41FA5}">
                      <a16:colId xmlns:a16="http://schemas.microsoft.com/office/drawing/2014/main" val="110687116"/>
                    </a:ext>
                  </a:extLst>
                </a:gridCol>
                <a:gridCol w="3704522">
                  <a:extLst>
                    <a:ext uri="{9D8B030D-6E8A-4147-A177-3AD203B41FA5}">
                      <a16:colId xmlns:a16="http://schemas.microsoft.com/office/drawing/2014/main" val="3314271387"/>
                    </a:ext>
                  </a:extLst>
                </a:gridCol>
              </a:tblGrid>
              <a:tr h="40600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Name</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lvl="0" algn="ctr">
                        <a:buNone/>
                      </a:pPr>
                      <a:r>
                        <a:rPr lang="en-US" sz="1100" b="1" i="0" kern="1200">
                          <a:solidFill>
                            <a:schemeClr val="dk1"/>
                          </a:solidFill>
                          <a:effectLst/>
                          <a:latin typeface="Arial" panose="020B0604020202020204"/>
                          <a:ea typeface="+mn-ea"/>
                          <a:cs typeface="+mn-cs"/>
                        </a:rPr>
                        <a:t>Data &amp; IT Enterprise Architecture Study</a:t>
                      </a:r>
                      <a:endParaRPr lang="en-US" sz="1100"/>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graphicFrame>
        <p:nvGraphicFramePr>
          <p:cNvPr id="14" name="Table 13">
            <a:extLst>
              <a:ext uri="{FF2B5EF4-FFF2-40B4-BE49-F238E27FC236}">
                <a16:creationId xmlns:a16="http://schemas.microsoft.com/office/drawing/2014/main" id="{BB847264-25D6-D279-E3CE-A6E0CA975196}"/>
              </a:ext>
            </a:extLst>
          </p:cNvPr>
          <p:cNvGraphicFramePr>
            <a:graphicFrameLocks noGrp="1"/>
          </p:cNvGraphicFramePr>
          <p:nvPr>
            <p:extLst>
              <p:ext uri="{D42A27DB-BD31-4B8C-83A1-F6EECF244321}">
                <p14:modId xmlns:p14="http://schemas.microsoft.com/office/powerpoint/2010/main" val="245513476"/>
              </p:ext>
            </p:extLst>
          </p:nvPr>
        </p:nvGraphicFramePr>
        <p:xfrm>
          <a:off x="260102" y="4151583"/>
          <a:ext cx="11666171" cy="1009353"/>
        </p:xfrm>
        <a:graphic>
          <a:graphicData uri="http://schemas.openxmlformats.org/drawingml/2006/table">
            <a:tbl>
              <a:tblPr>
                <a:tableStyleId>{5C22544A-7EE6-4342-B048-85BDC9FD1C3A}</a:tableStyleId>
              </a:tblPr>
              <a:tblGrid>
                <a:gridCol w="4148767">
                  <a:extLst>
                    <a:ext uri="{9D8B030D-6E8A-4147-A177-3AD203B41FA5}">
                      <a16:colId xmlns:a16="http://schemas.microsoft.com/office/drawing/2014/main" val="3768886055"/>
                    </a:ext>
                  </a:extLst>
                </a:gridCol>
                <a:gridCol w="7517404">
                  <a:extLst>
                    <a:ext uri="{9D8B030D-6E8A-4147-A177-3AD203B41FA5}">
                      <a16:colId xmlns:a16="http://schemas.microsoft.com/office/drawing/2014/main" val="2712732260"/>
                    </a:ext>
                  </a:extLst>
                </a:gridCol>
              </a:tblGrid>
              <a:tr h="156589">
                <a:tc>
                  <a:txBody>
                    <a:bodyPr/>
                    <a:lstStyle/>
                    <a:p>
                      <a:pPr algn="ctr" fontAlgn="ctr"/>
                      <a:r>
                        <a:rPr lang="en-US" sz="1400" b="1" u="none" strike="noStrike">
                          <a:effectLst/>
                        </a:rPr>
                        <a:t>Activities Performed &amp; Milestones Achieved</a:t>
                      </a:r>
                      <a:endParaRPr lang="en-US" sz="14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tc>
                  <a:txBody>
                    <a:bodyPr/>
                    <a:lstStyle/>
                    <a:p>
                      <a:pPr algn="ctr" fontAlgn="ctr"/>
                      <a:r>
                        <a:rPr lang="en-US" sz="1400" b="1" u="none" strike="noStrike">
                          <a:effectLst/>
                        </a:rPr>
                        <a:t>Major Action Items - Upcoming Activities - Comments</a:t>
                      </a:r>
                      <a:endParaRPr lang="en-US" sz="14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extLst>
                  <a:ext uri="{0D108BD9-81ED-4DB2-BD59-A6C34878D82A}">
                    <a16:rowId xmlns:a16="http://schemas.microsoft.com/office/drawing/2014/main" val="2763828571"/>
                  </a:ext>
                </a:extLst>
              </a:tr>
              <a:tr h="795993">
                <a:tc>
                  <a:txBody>
                    <a:bodyPr/>
                    <a:lstStyle/>
                    <a:p>
                      <a:pPr marL="171450" marR="0" lvl="0" indent="-171450" algn="l">
                        <a:lnSpc>
                          <a:spcPct val="100000"/>
                        </a:lnSpc>
                        <a:spcBef>
                          <a:spcPts val="0"/>
                        </a:spcBef>
                        <a:spcAft>
                          <a:spcPts val="0"/>
                        </a:spcAft>
                        <a:buClrTx/>
                        <a:buSzTx/>
                        <a:buFont typeface="Arial"/>
                        <a:buChar char="•"/>
                      </a:pPr>
                      <a:r>
                        <a:rPr lang="en-US" sz="1200" b="0" i="0" u="none" strike="noStrike" kern="1200" noProof="0">
                          <a:solidFill>
                            <a:schemeClr val="dk1"/>
                          </a:solidFill>
                          <a:latin typeface="Calibri"/>
                        </a:rPr>
                        <a:t>Phase 2 | Data Stream | Deliverable accepted </a:t>
                      </a:r>
                      <a:endParaRPr lang="en-US" sz="1200" b="0" i="0" u="none" strike="noStrike" kern="1200" noProof="0">
                        <a:solidFill>
                          <a:srgbClr val="2E5684"/>
                        </a:solidFill>
                        <a:latin typeface="Calibri"/>
                      </a:endParaRPr>
                    </a:p>
                    <a:p>
                      <a:pPr marL="171450" marR="0" lvl="0" indent="-171450" algn="l">
                        <a:lnSpc>
                          <a:spcPct val="100000"/>
                        </a:lnSpc>
                        <a:spcBef>
                          <a:spcPts val="0"/>
                        </a:spcBef>
                        <a:spcAft>
                          <a:spcPts val="0"/>
                        </a:spcAft>
                        <a:buClr>
                          <a:srgbClr val="2E5684"/>
                        </a:buClr>
                        <a:buSzTx/>
                        <a:buFont typeface="Arial,Sans-Serif"/>
                        <a:buChar char="•"/>
                      </a:pPr>
                      <a:r>
                        <a:rPr lang="en-US" sz="1200" b="0" i="0" u="none" strike="noStrike" kern="1200" noProof="0">
                          <a:solidFill>
                            <a:schemeClr val="dk1"/>
                          </a:solidFill>
                          <a:latin typeface="Calibri"/>
                        </a:rPr>
                        <a:t>Phase 3 | Data Stream | Deliverable accepted </a:t>
                      </a:r>
                    </a:p>
                    <a:p>
                      <a:pPr marL="171450" marR="0" lvl="0" indent="-171450" algn="l">
                        <a:lnSpc>
                          <a:spcPct val="100000"/>
                        </a:lnSpc>
                        <a:spcBef>
                          <a:spcPts val="0"/>
                        </a:spcBef>
                        <a:spcAft>
                          <a:spcPts val="0"/>
                        </a:spcAft>
                        <a:buClr>
                          <a:srgbClr val="2E5684"/>
                        </a:buClr>
                        <a:buSzTx/>
                        <a:buFont typeface="Arial,Sans-Serif"/>
                        <a:buChar char="•"/>
                      </a:pPr>
                      <a:r>
                        <a:rPr lang="en-US" sz="1200" b="0" i="0" u="none" strike="noStrike" kern="1200" noProof="0">
                          <a:solidFill>
                            <a:schemeClr val="dk1"/>
                          </a:solidFill>
                          <a:latin typeface="Calibri"/>
                        </a:rPr>
                        <a:t>Phase 2 | IT Stream |Review completed</a:t>
                      </a:r>
                    </a:p>
                  </a:txBody>
                  <a:tcPr marL="0" marR="0" marT="0" marB="0">
                    <a:lnL w="12700" cmpd="sng">
                      <a:solidFill>
                        <a:sysClr val="window" lastClr="FFFFFF"/>
                      </a:solidFill>
                    </a:lnL>
                    <a:lnR w="12700" cap="flat" cmpd="sng" algn="ctr">
                      <a:solidFill>
                        <a:sysClr val="window" lastClr="FFFFFF"/>
                      </a:solidFill>
                      <a:prstDash val="solid"/>
                      <a:round/>
                      <a:headEnd type="none" w="med" len="med"/>
                      <a:tailEnd type="none" w="med" len="med"/>
                    </a:lnR>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lvl="0" indent="0" algn="l">
                        <a:lnSpc>
                          <a:spcPct val="100000"/>
                        </a:lnSpc>
                        <a:spcBef>
                          <a:spcPts val="0"/>
                        </a:spcBef>
                        <a:spcAft>
                          <a:spcPts val="0"/>
                        </a:spcAft>
                        <a:buNone/>
                      </a:pPr>
                      <a:r>
                        <a:rPr lang="en-US" sz="1100" b="0" i="0" u="none" strike="noStrike" noProof="0">
                          <a:effectLst/>
                          <a:latin typeface="Calibri"/>
                        </a:rPr>
                        <a:t>Phase 4 Roadmap submission as a conclusion of the project. Project to be signed off by 13/6</a:t>
                      </a:r>
                    </a:p>
                    <a:p>
                      <a:pPr marL="0" lvl="0" indent="0" algn="l">
                        <a:lnSpc>
                          <a:spcPct val="100000"/>
                        </a:lnSpc>
                        <a:spcBef>
                          <a:spcPts val="0"/>
                        </a:spcBef>
                        <a:spcAft>
                          <a:spcPts val="0"/>
                        </a:spcAft>
                        <a:buNone/>
                      </a:pPr>
                      <a:endParaRPr lang="en-US" sz="1100" b="0" i="0" u="none" strike="noStrike" noProof="0">
                        <a:effectLst/>
                        <a:latin typeface="Calibri"/>
                      </a:endParaRPr>
                    </a:p>
                    <a:p>
                      <a:pPr marL="0" lvl="0" indent="0" algn="l">
                        <a:lnSpc>
                          <a:spcPct val="100000"/>
                        </a:lnSpc>
                        <a:spcBef>
                          <a:spcPts val="0"/>
                        </a:spcBef>
                        <a:spcAft>
                          <a:spcPts val="0"/>
                        </a:spcAft>
                        <a:buNone/>
                      </a:pPr>
                      <a:r>
                        <a:rPr lang="en-US" sz="1100" b="0" i="1" u="none" strike="noStrike" noProof="0">
                          <a:effectLst/>
                          <a:latin typeface="Calibri"/>
                        </a:rPr>
                        <a:t>Issues of the deliverables are raised and expecting vendor feedback for project closure.</a:t>
                      </a:r>
                    </a:p>
                    <a:p>
                      <a:pPr marL="0" lvl="0" indent="0" algn="l">
                        <a:lnSpc>
                          <a:spcPct val="100000"/>
                        </a:lnSpc>
                        <a:spcBef>
                          <a:spcPts val="0"/>
                        </a:spcBef>
                        <a:spcAft>
                          <a:spcPts val="0"/>
                        </a:spcAft>
                        <a:buNone/>
                      </a:pPr>
                      <a:endParaRPr lang="en-US"/>
                    </a:p>
                  </a:txBody>
                  <a:tcPr marL="0" marR="0" marT="0" marB="0">
                    <a:lnL w="12700" cap="flat" cmpd="sng" algn="ctr">
                      <a:solidFill>
                        <a:sysClr val="window" lastClr="FFFFFF"/>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val="2561788850"/>
                  </a:ext>
                </a:extLst>
              </a:tr>
            </a:tbl>
          </a:graphicData>
        </a:graphic>
      </p:graphicFrame>
      <p:graphicFrame>
        <p:nvGraphicFramePr>
          <p:cNvPr id="15" name="Table 14">
            <a:extLst>
              <a:ext uri="{FF2B5EF4-FFF2-40B4-BE49-F238E27FC236}">
                <a16:creationId xmlns:a16="http://schemas.microsoft.com/office/drawing/2014/main" id="{EA46E1EC-C599-7852-2C7F-B283A529EE08}"/>
              </a:ext>
            </a:extLst>
          </p:cNvPr>
          <p:cNvGraphicFramePr>
            <a:graphicFrameLocks noGrp="1"/>
          </p:cNvGraphicFramePr>
          <p:nvPr>
            <p:extLst>
              <p:ext uri="{D42A27DB-BD31-4B8C-83A1-F6EECF244321}">
                <p14:modId xmlns:p14="http://schemas.microsoft.com/office/powerpoint/2010/main" val="1507017742"/>
              </p:ext>
            </p:extLst>
          </p:nvPr>
        </p:nvGraphicFramePr>
        <p:xfrm>
          <a:off x="214085" y="5196954"/>
          <a:ext cx="11683676" cy="1672585"/>
        </p:xfrm>
        <a:graphic>
          <a:graphicData uri="http://schemas.openxmlformats.org/drawingml/2006/table">
            <a:tbl>
              <a:tblPr>
                <a:tableStyleId>{5C22544A-7EE6-4342-B048-85BDC9FD1C3A}</a:tableStyleId>
              </a:tblPr>
              <a:tblGrid>
                <a:gridCol w="3633002">
                  <a:extLst>
                    <a:ext uri="{9D8B030D-6E8A-4147-A177-3AD203B41FA5}">
                      <a16:colId xmlns:a16="http://schemas.microsoft.com/office/drawing/2014/main" val="2003250863"/>
                    </a:ext>
                  </a:extLst>
                </a:gridCol>
                <a:gridCol w="889735">
                  <a:extLst>
                    <a:ext uri="{9D8B030D-6E8A-4147-A177-3AD203B41FA5}">
                      <a16:colId xmlns:a16="http://schemas.microsoft.com/office/drawing/2014/main" val="2445968811"/>
                    </a:ext>
                  </a:extLst>
                </a:gridCol>
                <a:gridCol w="7160939">
                  <a:extLst>
                    <a:ext uri="{9D8B030D-6E8A-4147-A177-3AD203B41FA5}">
                      <a16:colId xmlns:a16="http://schemas.microsoft.com/office/drawing/2014/main" val="187998877"/>
                    </a:ext>
                  </a:extLst>
                </a:gridCol>
              </a:tblGrid>
              <a:tr h="43814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Risk</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Risk Assessment</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Control</a:t>
                      </a:r>
                    </a:p>
                  </a:txBody>
                  <a:tcPr marL="0" marR="0" marT="0" marB="0" anchor="ctr">
                    <a:solidFill>
                      <a:schemeClr val="accent1"/>
                    </a:solidFill>
                  </a:tcPr>
                </a:tc>
                <a:extLst>
                  <a:ext uri="{0D108BD9-81ED-4DB2-BD59-A6C34878D82A}">
                    <a16:rowId xmlns:a16="http://schemas.microsoft.com/office/drawing/2014/main" val="2763828571"/>
                  </a:ext>
                </a:extLst>
              </a:tr>
              <a:tr h="391537">
                <a:tc>
                  <a:txBody>
                    <a:bodyPr/>
                    <a:lstStyle/>
                    <a:p>
                      <a:pPr marL="171450" indent="-171450">
                        <a:buFont typeface="Arial"/>
                        <a:buChar char="•"/>
                      </a:pPr>
                      <a:r>
                        <a:rPr lang="en-US" sz="1100">
                          <a:effectLst/>
                        </a:rPr>
                        <a:t>Increase Demand for IT resources in combination with other projects running</a:t>
                      </a:r>
                    </a:p>
                  </a:txBody>
                  <a:tcPr marL="38100" marR="38100" marT="38100" marB="38100" anchor="ctr">
                    <a:solidFill>
                      <a:schemeClr val="accent4">
                        <a:lumMod val="20000"/>
                        <a:lumOff val="80000"/>
                      </a:schemeClr>
                    </a:solidFill>
                  </a:tcPr>
                </a:tc>
                <a:tc>
                  <a:txBody>
                    <a:bodyPr/>
                    <a:lstStyle/>
                    <a:p>
                      <a:pPr algn="ctr"/>
                      <a:r>
                        <a:rPr lang="en-US" sz="1100" b="1">
                          <a:solidFill>
                            <a:schemeClr val="bg1"/>
                          </a:solidFill>
                          <a:effectLst/>
                        </a:rPr>
                        <a:t>L</a:t>
                      </a:r>
                    </a:p>
                  </a:txBody>
                  <a:tcPr marL="38100" marR="38100" marT="38100" marB="38100" anchor="ctr">
                    <a:solidFill>
                      <a:srgbClr val="00B050"/>
                    </a:solidFill>
                  </a:tcPr>
                </a:tc>
                <a:tc>
                  <a:txBody>
                    <a:bodyPr/>
                    <a:lstStyle/>
                    <a:p>
                      <a:r>
                        <a:rPr lang="en-US" sz="1100">
                          <a:effectLst/>
                        </a:rPr>
                        <a:t>Detailed project planning and alignment with other projects. Perform preparatory activities in parallel, in order to avoid/limit infrastructure operations downtime in IT</a:t>
                      </a:r>
                    </a:p>
                  </a:txBody>
                  <a:tcPr marL="38100" marR="38100" marT="38100" marB="38100" anchor="ctr">
                    <a:solidFill>
                      <a:schemeClr val="accent4">
                        <a:lumMod val="20000"/>
                        <a:lumOff val="80000"/>
                      </a:schemeClr>
                    </a:solidFill>
                  </a:tcPr>
                </a:tc>
                <a:extLst>
                  <a:ext uri="{0D108BD9-81ED-4DB2-BD59-A6C34878D82A}">
                    <a16:rowId xmlns:a16="http://schemas.microsoft.com/office/drawing/2014/main" val="2561788850"/>
                  </a:ext>
                </a:extLst>
              </a:tr>
              <a:tr h="391537">
                <a:tc>
                  <a:txBody>
                    <a:bodyPr/>
                    <a:lstStyle/>
                    <a:p>
                      <a:pPr marL="171450" lvl="0" indent="-171450">
                        <a:buFont typeface="Arial"/>
                        <a:buChar char="•"/>
                      </a:pPr>
                      <a:r>
                        <a:rPr lang="en-US" sz="1100" kern="1200" noProof="0">
                          <a:solidFill>
                            <a:schemeClr val="dk1"/>
                          </a:solidFill>
                          <a:effectLst/>
                          <a:latin typeface="+mn-lt"/>
                          <a:ea typeface="+mn-ea"/>
                          <a:cs typeface="+mn-cs"/>
                        </a:rPr>
                        <a:t>Alignment with Shareholder Strategy. To Be State may be impacted</a:t>
                      </a:r>
                    </a:p>
                  </a:txBody>
                  <a:tcPr marL="38099" marR="38099" marT="38099" marB="38099" anchor="ctr">
                    <a:solidFill>
                      <a:schemeClr val="accent4">
                        <a:lumMod val="20000"/>
                        <a:lumOff val="80000"/>
                      </a:schemeClr>
                    </a:solidFill>
                  </a:tcPr>
                </a:tc>
                <a:tc>
                  <a:txBody>
                    <a:bodyPr/>
                    <a:lstStyle/>
                    <a:p>
                      <a:pPr lvl="0" algn="ctr">
                        <a:buNone/>
                      </a:pPr>
                      <a:r>
                        <a:rPr lang="en-US" sz="1100" b="1">
                          <a:solidFill>
                            <a:schemeClr val="bg1"/>
                          </a:solidFill>
                          <a:effectLst/>
                        </a:rPr>
                        <a:t>L</a:t>
                      </a:r>
                    </a:p>
                  </a:txBody>
                  <a:tcPr marL="38099" marR="38099" marT="38099" marB="38099" anchor="ctr">
                    <a:solidFill>
                      <a:srgbClr val="00B050"/>
                    </a:solidFill>
                  </a:tcPr>
                </a:tc>
                <a:tc>
                  <a:txBody>
                    <a:bodyPr/>
                    <a:lstStyle/>
                    <a:p>
                      <a:pPr lvl="0" algn="l">
                        <a:lnSpc>
                          <a:spcPct val="100000"/>
                        </a:lnSpc>
                        <a:spcBef>
                          <a:spcPts val="0"/>
                        </a:spcBef>
                        <a:spcAft>
                          <a:spcPts val="0"/>
                        </a:spcAft>
                        <a:buNone/>
                      </a:pPr>
                      <a:r>
                        <a:rPr lang="en-US" sz="1100" kern="1200" noProof="0">
                          <a:solidFill>
                            <a:schemeClr val="dk1"/>
                          </a:solidFill>
                          <a:effectLst/>
                          <a:latin typeface="+mn-lt"/>
                          <a:ea typeface="+mn-ea"/>
                          <a:cs typeface="+mn-cs"/>
                        </a:rPr>
                        <a:t>Recurring | obtain and evaluate provided input in terms of impact on the to be state</a:t>
                      </a:r>
                    </a:p>
                  </a:txBody>
                  <a:tcPr marL="38099" marR="38099" marT="38099" marB="38099" anchor="ctr">
                    <a:solidFill>
                      <a:schemeClr val="accent4">
                        <a:lumMod val="20000"/>
                        <a:lumOff val="80000"/>
                      </a:schemeClr>
                    </a:solidFill>
                  </a:tcPr>
                </a:tc>
                <a:extLst>
                  <a:ext uri="{0D108BD9-81ED-4DB2-BD59-A6C34878D82A}">
                    <a16:rowId xmlns:a16="http://schemas.microsoft.com/office/drawing/2014/main" val="994776590"/>
                  </a:ext>
                </a:extLst>
              </a:tr>
              <a:tr h="391537">
                <a:tc>
                  <a:txBody>
                    <a:bodyPr/>
                    <a:lstStyle/>
                    <a:p>
                      <a:pPr marL="171450" lvl="0" indent="-171450">
                        <a:buFont typeface="Arial"/>
                        <a:buChar char="•"/>
                      </a:pPr>
                      <a:r>
                        <a:rPr lang="en-US" sz="1100" b="0" i="0" u="none" strike="noStrike" kern="1200" noProof="0">
                          <a:solidFill>
                            <a:schemeClr val="dk1"/>
                          </a:solidFill>
                          <a:effectLst/>
                        </a:rPr>
                        <a:t>Non-timely engagement of the business and the data owners according to the requirement of the project </a:t>
                      </a:r>
                      <a:endParaRPr lang="en-US" sz="1100" kern="1200" noProof="0">
                        <a:solidFill>
                          <a:schemeClr val="dk1"/>
                        </a:solidFill>
                        <a:effectLst/>
                        <a:latin typeface="+mn-lt"/>
                        <a:ea typeface="+mn-ea"/>
                        <a:cs typeface="+mn-cs"/>
                      </a:endParaRPr>
                    </a:p>
                  </a:txBody>
                  <a:tcPr marL="38099" marR="38099" marT="38099" marB="38099" anchor="ctr">
                    <a:solidFill>
                      <a:schemeClr val="accent4">
                        <a:lumMod val="20000"/>
                        <a:lumOff val="80000"/>
                      </a:schemeClr>
                    </a:solidFill>
                  </a:tcPr>
                </a:tc>
                <a:tc>
                  <a:txBody>
                    <a:bodyPr/>
                    <a:lstStyle/>
                    <a:p>
                      <a:pPr lvl="0" algn="ctr">
                        <a:buNone/>
                      </a:pPr>
                      <a:r>
                        <a:rPr lang="en-US" sz="1100" b="1">
                          <a:solidFill>
                            <a:schemeClr val="bg1"/>
                          </a:solidFill>
                          <a:effectLst/>
                        </a:rPr>
                        <a:t>M</a:t>
                      </a:r>
                    </a:p>
                  </a:txBody>
                  <a:tcPr marL="38099" marR="38099" marT="38099" marB="38099" anchor="ctr">
                    <a:solidFill>
                      <a:srgbClr val="EE7F00"/>
                    </a:solidFill>
                  </a:tcPr>
                </a:tc>
                <a:tc>
                  <a:txBody>
                    <a:bodyPr/>
                    <a:lstStyle/>
                    <a:p>
                      <a:pPr lvl="0" algn="l">
                        <a:lnSpc>
                          <a:spcPct val="100000"/>
                        </a:lnSpc>
                        <a:spcBef>
                          <a:spcPts val="0"/>
                        </a:spcBef>
                        <a:spcAft>
                          <a:spcPts val="0"/>
                        </a:spcAft>
                        <a:buNone/>
                      </a:pPr>
                      <a:r>
                        <a:rPr lang="en-US" sz="1100" b="0" i="0" u="none" strike="noStrike" kern="1200" noProof="0">
                          <a:solidFill>
                            <a:srgbClr val="2E5684"/>
                          </a:solidFill>
                          <a:effectLst/>
                          <a:latin typeface="Calibri"/>
                        </a:rPr>
                        <a:t>Perform preparatory activities to avoid/limit resource availability</a:t>
                      </a:r>
                    </a:p>
                  </a:txBody>
                  <a:tcPr marL="38099" marR="38099" marT="38099" marB="38099" anchor="ctr">
                    <a:solidFill>
                      <a:schemeClr val="accent4">
                        <a:lumMod val="20000"/>
                        <a:lumOff val="80000"/>
                      </a:schemeClr>
                    </a:solidFill>
                  </a:tcPr>
                </a:tc>
                <a:extLst>
                  <a:ext uri="{0D108BD9-81ED-4DB2-BD59-A6C34878D82A}">
                    <a16:rowId xmlns:a16="http://schemas.microsoft.com/office/drawing/2014/main" val="3261707435"/>
                  </a:ext>
                </a:extLst>
              </a:tr>
            </a:tbl>
          </a:graphicData>
        </a:graphic>
      </p:graphicFrame>
      <p:graphicFrame>
        <p:nvGraphicFramePr>
          <p:cNvPr id="16" name="Table 15">
            <a:extLst>
              <a:ext uri="{FF2B5EF4-FFF2-40B4-BE49-F238E27FC236}">
                <a16:creationId xmlns:a16="http://schemas.microsoft.com/office/drawing/2014/main" id="{7C9D8610-22A8-1E08-1047-05A15DCCAEDD}"/>
              </a:ext>
            </a:extLst>
          </p:cNvPr>
          <p:cNvGraphicFramePr>
            <a:graphicFrameLocks noGrp="1"/>
          </p:cNvGraphicFramePr>
          <p:nvPr>
            <p:extLst>
              <p:ext uri="{D42A27DB-BD31-4B8C-83A1-F6EECF244321}">
                <p14:modId xmlns:p14="http://schemas.microsoft.com/office/powerpoint/2010/main" val="204778488"/>
              </p:ext>
            </p:extLst>
          </p:nvPr>
        </p:nvGraphicFramePr>
        <p:xfrm>
          <a:off x="251440" y="441143"/>
          <a:ext cx="4958665" cy="1640433"/>
        </p:xfrm>
        <a:graphic>
          <a:graphicData uri="http://schemas.openxmlformats.org/drawingml/2006/table">
            <a:tbl>
              <a:tblPr firstRow="1" bandRow="1"/>
              <a:tblGrid>
                <a:gridCol w="1253919">
                  <a:extLst>
                    <a:ext uri="{9D8B030D-6E8A-4147-A177-3AD203B41FA5}">
                      <a16:colId xmlns:a16="http://schemas.microsoft.com/office/drawing/2014/main" val="110687116"/>
                    </a:ext>
                  </a:extLst>
                </a:gridCol>
                <a:gridCol w="3704746">
                  <a:extLst>
                    <a:ext uri="{9D8B030D-6E8A-4147-A177-3AD203B41FA5}">
                      <a16:colId xmlns:a16="http://schemas.microsoft.com/office/drawing/2014/main" val="3314271387"/>
                    </a:ext>
                  </a:extLst>
                </a:gridCol>
              </a:tblGrid>
              <a:tr h="1640433">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a:t>
                      </a:r>
                      <a:r>
                        <a:rPr lang="en-US" sz="1400" b="1" i="0" u="none" strike="noStrike" kern="1200" cap="none" spc="0" normalizeH="0" baseline="0" noProof="0">
                          <a:ln>
                            <a:noFill/>
                          </a:ln>
                          <a:solidFill>
                            <a:srgbClr val="FFFFFF"/>
                          </a:solidFill>
                          <a:effectLst/>
                          <a:uLnTx/>
                          <a:uFillTx/>
                          <a:latin typeface="+mn-lt"/>
                          <a:ea typeface="+mn-ea"/>
                          <a:cs typeface="+mn-cs"/>
                        </a:rPr>
                        <a:t>Scope</a:t>
                      </a:r>
                      <a:endParaRPr kumimoji="0" lang="en-US" sz="1400" b="1" i="0" u="none" strike="noStrike" kern="1200" cap="none" spc="0" normalizeH="0" baseline="0" noProof="0">
                        <a:ln>
                          <a:noFill/>
                        </a:ln>
                        <a:solidFill>
                          <a:srgbClr val="FFFFFF"/>
                        </a:solidFill>
                        <a:effectLst/>
                        <a:uLnTx/>
                        <a:uFillTx/>
                        <a:latin typeface="+mn-lt"/>
                        <a:ea typeface="+mn-ea"/>
                        <a:cs typeface="+mn-cs"/>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lvl="0" indent="0" algn="just">
                        <a:buNone/>
                      </a:pPr>
                      <a:r>
                        <a:rPr lang="en-US" sz="1200" b="0" i="0" kern="1200">
                          <a:solidFill>
                            <a:schemeClr val="dk1"/>
                          </a:solidFill>
                          <a:effectLst/>
                          <a:latin typeface="Arial" panose="020B0604020202020204"/>
                          <a:ea typeface="+mn-ea"/>
                          <a:cs typeface="+mn-cs"/>
                        </a:rPr>
                        <a:t>   Data Lake will serve as a singular, centralized data repository from which the Company’s data consumers can seamlessly access information.</a:t>
                      </a:r>
                    </a:p>
                    <a:p>
                      <a:pPr marL="0" lvl="0" indent="0" algn="just">
                        <a:buNone/>
                      </a:pPr>
                      <a:r>
                        <a:rPr lang="en-US" sz="1200" b="0" i="0" kern="1200">
                          <a:solidFill>
                            <a:schemeClr val="dk1"/>
                          </a:solidFill>
                          <a:effectLst/>
                          <a:latin typeface="Arial" panose="020B0604020202020204"/>
                          <a:ea typeface="+mn-ea"/>
                          <a:cs typeface="+mn-cs"/>
                        </a:rPr>
                        <a:t>   Depict As-Is Architecture and identify areas and tech improvements, define the To-Be model and alternative technological options on the target IT architecture and design the implementation roadmap.</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sp>
        <p:nvSpPr>
          <p:cNvPr id="3" name="Oval 2">
            <a:extLst>
              <a:ext uri="{FF2B5EF4-FFF2-40B4-BE49-F238E27FC236}">
                <a16:creationId xmlns:a16="http://schemas.microsoft.com/office/drawing/2014/main" id="{7C638FB8-5DE2-D1BE-942F-510D9E9DC87C}"/>
              </a:ext>
            </a:extLst>
          </p:cNvPr>
          <p:cNvSpPr>
            <a:spLocks noChangeAspect="1"/>
          </p:cNvSpPr>
          <p:nvPr/>
        </p:nvSpPr>
        <p:spPr>
          <a:xfrm>
            <a:off x="7658044" y="1042303"/>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9D0EEB39-A752-C478-D140-3D32B30D5EFA}"/>
              </a:ext>
            </a:extLst>
          </p:cNvPr>
          <p:cNvSpPr>
            <a:spLocks noChangeAspect="1"/>
          </p:cNvSpPr>
          <p:nvPr/>
        </p:nvSpPr>
        <p:spPr>
          <a:xfrm>
            <a:off x="10964907" y="103611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68FC113-B780-3B2C-A235-2B4C506123B5}"/>
              </a:ext>
            </a:extLst>
          </p:cNvPr>
          <p:cNvSpPr>
            <a:spLocks noChangeAspect="1"/>
          </p:cNvSpPr>
          <p:nvPr/>
        </p:nvSpPr>
        <p:spPr>
          <a:xfrm>
            <a:off x="9343106" y="104568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9C974CED-E888-FF86-ACBF-37D5EDB1A39D}"/>
              </a:ext>
            </a:extLst>
          </p:cNvPr>
          <p:cNvSpPr>
            <a:spLocks noChangeAspect="1"/>
          </p:cNvSpPr>
          <p:nvPr/>
        </p:nvSpPr>
        <p:spPr>
          <a:xfrm>
            <a:off x="6004612" y="1050222"/>
            <a:ext cx="214068" cy="20521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5024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E019C-5C93-9AE9-EF15-4C34FC20A4E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F92AB1-F3E3-1D56-A714-7B630AB9E073}"/>
              </a:ext>
            </a:extLst>
          </p:cNvPr>
          <p:cNvSpPr>
            <a:spLocks noGrp="1"/>
          </p:cNvSpPr>
          <p:nvPr>
            <p:ph type="sldNum" idx="12"/>
          </p:nvPr>
        </p:nvSpPr>
        <p:spPr>
          <a:xfrm>
            <a:off x="8610600" y="6302032"/>
            <a:ext cx="2743200" cy="365125"/>
          </a:xfrm>
        </p:spPr>
        <p:txBody>
          <a:bodyPr/>
          <a:lstStyle/>
          <a:p>
            <a:pPr marL="0" lvl="0" indent="0" algn="r" rtl="0">
              <a:spcBef>
                <a:spcPts val="0"/>
              </a:spcBef>
              <a:spcAft>
                <a:spcPts val="0"/>
              </a:spcAft>
              <a:buNone/>
            </a:pPr>
            <a:fld id="{00000000-1234-1234-1234-123412341234}" type="slidenum">
              <a:rPr lang="en-US"/>
              <a:t>9</a:t>
            </a:fld>
            <a:endParaRPr lang="en-US"/>
          </a:p>
        </p:txBody>
      </p:sp>
      <p:sp>
        <p:nvSpPr>
          <p:cNvPr id="4" name="Slide Number Placeholder 1">
            <a:extLst>
              <a:ext uri="{FF2B5EF4-FFF2-40B4-BE49-F238E27FC236}">
                <a16:creationId xmlns:a16="http://schemas.microsoft.com/office/drawing/2014/main" id="{D9115C1D-3F15-9157-C0CE-AA8E3B45E23C}"/>
              </a:ext>
            </a:extLst>
          </p:cNvPr>
          <p:cNvSpPr txBox="1">
            <a:spLocks/>
          </p:cNvSpPr>
          <p:nvPr/>
        </p:nvSpPr>
        <p:spPr>
          <a:xfrm>
            <a:off x="8610600" y="6302032"/>
            <a:ext cx="2743200" cy="365125"/>
          </a:xfrm>
          <a:prstGeom prst="rect">
            <a:avLst/>
          </a:prstGeom>
          <a:noFill/>
          <a:ln>
            <a:noFill/>
          </a:ln>
        </p:spPr>
        <p:txBody>
          <a:bodyPr spcFirstLastPara="1" vert="horz" wrap="square" lIns="91425" tIns="45700" rIns="91425" bIns="45700" rtlCol="0" anchor="ctr" anchorCtr="0">
            <a:noAutofit/>
          </a:bodyPr>
          <a:lstStyle>
            <a:defPPr>
              <a:defRPr lang="en-US"/>
            </a:defPPr>
            <a:lvl1pPr marL="0" lvl="0" indent="0" algn="r" defTabSz="914400" rtl="0" eaLnBrk="1" latinLnBrk="0" hangingPunct="1">
              <a:spcBef>
                <a:spcPts val="0"/>
              </a:spcBef>
              <a:buNone/>
              <a:defRPr sz="1200" kern="1200">
                <a:solidFill>
                  <a:schemeClr val="tx1">
                    <a:tint val="75000"/>
                  </a:schemeClr>
                </a:solidFill>
                <a:latin typeface="+mn-lt"/>
                <a:ea typeface="+mn-ea"/>
                <a:cs typeface="+mn-cs"/>
              </a:defRPr>
            </a:lvl1pPr>
            <a:lvl2pPr marL="0" lvl="1" indent="0" algn="r" defTabSz="914400" rtl="0" eaLnBrk="1" latinLnBrk="0" hangingPunct="1">
              <a:spcBef>
                <a:spcPts val="0"/>
              </a:spcBef>
              <a:buNone/>
              <a:defRPr sz="1800" kern="1200">
                <a:solidFill>
                  <a:schemeClr val="tx1"/>
                </a:solidFill>
                <a:latin typeface="+mn-lt"/>
                <a:ea typeface="+mn-ea"/>
                <a:cs typeface="+mn-cs"/>
              </a:defRPr>
            </a:lvl2pPr>
            <a:lvl3pPr marL="0" lvl="2" indent="0" algn="r" defTabSz="914400" rtl="0" eaLnBrk="1" latinLnBrk="0" hangingPunct="1">
              <a:spcBef>
                <a:spcPts val="0"/>
              </a:spcBef>
              <a:buNone/>
              <a:defRPr sz="1800" kern="1200">
                <a:solidFill>
                  <a:schemeClr val="tx1"/>
                </a:solidFill>
                <a:latin typeface="+mn-lt"/>
                <a:ea typeface="+mn-ea"/>
                <a:cs typeface="+mn-cs"/>
              </a:defRPr>
            </a:lvl3pPr>
            <a:lvl4pPr marL="0" lvl="3" indent="0" algn="r" defTabSz="914400" rtl="0" eaLnBrk="1" latinLnBrk="0" hangingPunct="1">
              <a:spcBef>
                <a:spcPts val="0"/>
              </a:spcBef>
              <a:buNone/>
              <a:defRPr sz="1800" kern="1200">
                <a:solidFill>
                  <a:schemeClr val="tx1"/>
                </a:solidFill>
                <a:latin typeface="+mn-lt"/>
                <a:ea typeface="+mn-ea"/>
                <a:cs typeface="+mn-cs"/>
              </a:defRPr>
            </a:lvl4pPr>
            <a:lvl5pPr marL="0" lvl="4" indent="0" algn="r" defTabSz="914400" rtl="0" eaLnBrk="1" latinLnBrk="0" hangingPunct="1">
              <a:spcBef>
                <a:spcPts val="0"/>
              </a:spcBef>
              <a:buNone/>
              <a:defRPr sz="1800" kern="1200">
                <a:solidFill>
                  <a:schemeClr val="tx1"/>
                </a:solidFill>
                <a:latin typeface="+mn-lt"/>
                <a:ea typeface="+mn-ea"/>
                <a:cs typeface="+mn-cs"/>
              </a:defRPr>
            </a:lvl5pPr>
            <a:lvl6pPr marL="0" lvl="5" indent="0" algn="r" defTabSz="914400" rtl="0" eaLnBrk="1" latinLnBrk="0" hangingPunct="1">
              <a:spcBef>
                <a:spcPts val="0"/>
              </a:spcBef>
              <a:buNone/>
              <a:defRPr sz="1800" kern="1200">
                <a:solidFill>
                  <a:schemeClr val="tx1"/>
                </a:solidFill>
                <a:latin typeface="+mn-lt"/>
                <a:ea typeface="+mn-ea"/>
                <a:cs typeface="+mn-cs"/>
              </a:defRPr>
            </a:lvl6pPr>
            <a:lvl7pPr marL="0" lvl="6" indent="0" algn="r" defTabSz="914400" rtl="0" eaLnBrk="1" latinLnBrk="0" hangingPunct="1">
              <a:spcBef>
                <a:spcPts val="0"/>
              </a:spcBef>
              <a:buNone/>
              <a:defRPr sz="1800" kern="1200">
                <a:solidFill>
                  <a:schemeClr val="tx1"/>
                </a:solidFill>
                <a:latin typeface="+mn-lt"/>
                <a:ea typeface="+mn-ea"/>
                <a:cs typeface="+mn-cs"/>
              </a:defRPr>
            </a:lvl7pPr>
            <a:lvl8pPr marL="0" lvl="7" indent="0" algn="r" defTabSz="914400" rtl="0" eaLnBrk="1" latinLnBrk="0" hangingPunct="1">
              <a:spcBef>
                <a:spcPts val="0"/>
              </a:spcBef>
              <a:buNone/>
              <a:defRPr sz="1800" kern="1200">
                <a:solidFill>
                  <a:schemeClr val="tx1"/>
                </a:solidFill>
                <a:latin typeface="+mn-lt"/>
                <a:ea typeface="+mn-ea"/>
                <a:cs typeface="+mn-cs"/>
              </a:defRPr>
            </a:lvl8pPr>
            <a:lvl9pPr marL="0" lvl="8" indent="0" algn="r" defTabSz="914400" rtl="0" eaLnBrk="1" latinLnBrk="0" hangingPunct="1">
              <a:spcBef>
                <a:spcPts val="0"/>
              </a:spcBef>
              <a:buNone/>
              <a:defRPr sz="1800" kern="1200">
                <a:solidFill>
                  <a:schemeClr val="tx1"/>
                </a:solidFill>
                <a:latin typeface="+mn-lt"/>
                <a:ea typeface="+mn-ea"/>
                <a:cs typeface="+mn-cs"/>
              </a:defRPr>
            </a:lvl9pPr>
          </a:lstStyle>
          <a:p>
            <a:pPr>
              <a:defRPr/>
            </a:pPr>
            <a:fld id="{00000000-1234-1234-1234-123412341234}" type="slidenum">
              <a:rPr lang="en-US" smtClean="0">
                <a:solidFill>
                  <a:srgbClr val="2E5684">
                    <a:tint val="75000"/>
                  </a:srgbClr>
                </a:solidFill>
                <a:latin typeface="Calibri" panose="020F0502020204030204"/>
              </a:rPr>
              <a:pPr>
                <a:defRPr/>
              </a:pPr>
              <a:t>9</a:t>
            </a:fld>
            <a:endParaRPr lang="en-US">
              <a:solidFill>
                <a:srgbClr val="2E5684">
                  <a:tint val="75000"/>
                </a:srgbClr>
              </a:solidFill>
              <a:latin typeface="Calibri" panose="020F0502020204030204"/>
            </a:endParaRPr>
          </a:p>
        </p:txBody>
      </p:sp>
      <p:graphicFrame>
        <p:nvGraphicFramePr>
          <p:cNvPr id="5" name="Content Placeholder 4">
            <a:extLst>
              <a:ext uri="{FF2B5EF4-FFF2-40B4-BE49-F238E27FC236}">
                <a16:creationId xmlns:a16="http://schemas.microsoft.com/office/drawing/2014/main" id="{4B8C7B9F-EB3F-3245-75BE-B01586AF1597}"/>
              </a:ext>
            </a:extLst>
          </p:cNvPr>
          <p:cNvGraphicFramePr>
            <a:graphicFrameLocks/>
          </p:cNvGraphicFramePr>
          <p:nvPr>
            <p:extLst>
              <p:ext uri="{D42A27DB-BD31-4B8C-83A1-F6EECF244321}">
                <p14:modId xmlns:p14="http://schemas.microsoft.com/office/powerpoint/2010/main" val="3955010211"/>
              </p:ext>
            </p:extLst>
          </p:nvPr>
        </p:nvGraphicFramePr>
        <p:xfrm>
          <a:off x="5304063" y="23586"/>
          <a:ext cx="6613073" cy="695077"/>
        </p:xfrm>
        <a:graphic>
          <a:graphicData uri="http://schemas.openxmlformats.org/drawingml/2006/table">
            <a:tbl>
              <a:tblPr firstRow="1" bandRow="1"/>
              <a:tblGrid>
                <a:gridCol w="724595">
                  <a:extLst>
                    <a:ext uri="{9D8B030D-6E8A-4147-A177-3AD203B41FA5}">
                      <a16:colId xmlns:a16="http://schemas.microsoft.com/office/drawing/2014/main" val="20000"/>
                    </a:ext>
                  </a:extLst>
                </a:gridCol>
                <a:gridCol w="739303">
                  <a:extLst>
                    <a:ext uri="{9D8B030D-6E8A-4147-A177-3AD203B41FA5}">
                      <a16:colId xmlns:a16="http://schemas.microsoft.com/office/drawing/2014/main" val="20001"/>
                    </a:ext>
                  </a:extLst>
                </a:gridCol>
                <a:gridCol w="1712068">
                  <a:extLst>
                    <a:ext uri="{9D8B030D-6E8A-4147-A177-3AD203B41FA5}">
                      <a16:colId xmlns:a16="http://schemas.microsoft.com/office/drawing/2014/main" val="20002"/>
                    </a:ext>
                  </a:extLst>
                </a:gridCol>
                <a:gridCol w="2033080">
                  <a:extLst>
                    <a:ext uri="{9D8B030D-6E8A-4147-A177-3AD203B41FA5}">
                      <a16:colId xmlns:a16="http://schemas.microsoft.com/office/drawing/2014/main" val="3624839458"/>
                    </a:ext>
                  </a:extLst>
                </a:gridCol>
                <a:gridCol w="1404027">
                  <a:extLst>
                    <a:ext uri="{9D8B030D-6E8A-4147-A177-3AD203B41FA5}">
                      <a16:colId xmlns:a16="http://schemas.microsoft.com/office/drawing/2014/main" val="2847559459"/>
                    </a:ext>
                  </a:extLst>
                </a:gridCol>
              </a:tblGrid>
              <a:tr h="20602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SAP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JIRA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PM/BP</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Business Owner</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Involved Divisions</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435997">
                <a:tc>
                  <a:txBody>
                    <a:bodyPr/>
                    <a:lstStyle/>
                    <a:p>
                      <a:pPr lvl="0" algn="ctr">
                        <a:buNone/>
                      </a:pPr>
                      <a:r>
                        <a:rPr lang="en-US" sz="1100" b="1" kern="1200" noProof="0">
                          <a:solidFill>
                            <a:schemeClr val="dk1"/>
                          </a:solidFill>
                          <a:latin typeface="+mn-lt"/>
                          <a:ea typeface="+mn-ea"/>
                          <a:cs typeface="+mn-cs"/>
                        </a:rPr>
                        <a:t>L/00080</a:t>
                      </a:r>
                    </a:p>
                  </a:txBody>
                  <a:tcPr marL="9525" marR="9525" marT="9525" marB="0"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100" b="1" kern="1200">
                          <a:solidFill>
                            <a:schemeClr val="dk1"/>
                          </a:solidFill>
                          <a:latin typeface="+mn-lt"/>
                          <a:ea typeface="+mn-ea"/>
                          <a:cs typeface="+mn-cs"/>
                        </a:rPr>
                        <a:t>ID-273</a:t>
                      </a:r>
                    </a:p>
                  </a:txBody>
                  <a:tcPr marL="9525" marR="9525" marT="9525" marB="0" anchor="ctr">
                    <a:lnL w="12700" cap="flat" cmpd="sng" algn="ctr">
                      <a:solidFill>
                        <a:schemeClr val="bg1"/>
                      </a:solidFill>
                      <a:prstDash val="solid"/>
                      <a:round/>
                      <a:headEnd type="none" w="med" len="med"/>
                      <a:tailEnd type="none" w="med" len="med"/>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rtl="0" eaLnBrk="1" latinLnBrk="0" hangingPunct="1"/>
                      <a:r>
                        <a:rPr lang="en-US" sz="1100" b="1" kern="1200" err="1">
                          <a:solidFill>
                            <a:schemeClr val="dk1"/>
                          </a:solidFill>
                          <a:latin typeface="+mn-lt"/>
                          <a:ea typeface="+mn-ea"/>
                          <a:cs typeface="+mn-cs"/>
                        </a:rPr>
                        <a:t>Koutsogiannakopoulos</a:t>
                      </a:r>
                      <a:r>
                        <a:rPr lang="en-US" sz="1100" b="1" kern="1200">
                          <a:solidFill>
                            <a:schemeClr val="dk1"/>
                          </a:solidFill>
                          <a:latin typeface="+mn-lt"/>
                          <a:ea typeface="+mn-ea"/>
                          <a:cs typeface="+mn-cs"/>
                        </a:rPr>
                        <a:t>/-</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457198" rtl="0" eaLnBrk="1" latinLnBrk="0" hangingPunct="1"/>
                      <a:r>
                        <a:rPr lang="en-US" sz="1100" b="0" kern="1200">
                          <a:solidFill>
                            <a:schemeClr val="dk1"/>
                          </a:solidFill>
                          <a:latin typeface="+mn-lt"/>
                          <a:ea typeface="+mn-ea"/>
                          <a:cs typeface="+mn-cs"/>
                        </a:rPr>
                        <a:t>DDDE</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algn="ctr" defTabSz="457198">
                        <a:buNone/>
                      </a:pPr>
                      <a:r>
                        <a:rPr lang="en-US" sz="1100" b="0" i="0" u="none" strike="noStrike" kern="1200" noProof="0">
                          <a:solidFill>
                            <a:schemeClr val="dk1"/>
                          </a:solidFill>
                          <a:latin typeface="Calibri"/>
                        </a:rPr>
                        <a:t>DDDE</a:t>
                      </a:r>
                      <a:endParaRPr lang="en-US" sz="1100" b="0" kern="1200">
                        <a:solidFill>
                          <a:schemeClr val="dk1"/>
                        </a:solidFill>
                        <a:latin typeface="+mn-lt"/>
                        <a:ea typeface="+mn-ea"/>
                        <a:cs typeface="+mn-cs"/>
                      </a:endParaRPr>
                    </a:p>
                  </a:txBody>
                  <a:tcPr marL="84406" marR="84406" anchor="ctr">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3A83D155-550F-C570-8650-8E57F6B2A1A7}"/>
              </a:ext>
            </a:extLst>
          </p:cNvPr>
          <p:cNvGraphicFramePr>
            <a:graphicFrameLocks/>
          </p:cNvGraphicFramePr>
          <p:nvPr/>
        </p:nvGraphicFramePr>
        <p:xfrm>
          <a:off x="5313134" y="740228"/>
          <a:ext cx="6604003" cy="566675"/>
        </p:xfrm>
        <a:graphic>
          <a:graphicData uri="http://schemas.openxmlformats.org/drawingml/2006/table">
            <a:tbl>
              <a:tblPr firstRow="1" bandRow="1"/>
              <a:tblGrid>
                <a:gridCol w="1651001">
                  <a:extLst>
                    <a:ext uri="{9D8B030D-6E8A-4147-A177-3AD203B41FA5}">
                      <a16:colId xmlns:a16="http://schemas.microsoft.com/office/drawing/2014/main" val="20000"/>
                    </a:ext>
                  </a:extLst>
                </a:gridCol>
                <a:gridCol w="1686788">
                  <a:extLst>
                    <a:ext uri="{9D8B030D-6E8A-4147-A177-3AD203B41FA5}">
                      <a16:colId xmlns:a16="http://schemas.microsoft.com/office/drawing/2014/main" val="20001"/>
                    </a:ext>
                  </a:extLst>
                </a:gridCol>
                <a:gridCol w="1615213">
                  <a:extLst>
                    <a:ext uri="{9D8B030D-6E8A-4147-A177-3AD203B41FA5}">
                      <a16:colId xmlns:a16="http://schemas.microsoft.com/office/drawing/2014/main" val="20002"/>
                    </a:ext>
                  </a:extLst>
                </a:gridCol>
                <a:gridCol w="1651001">
                  <a:extLst>
                    <a:ext uri="{9D8B030D-6E8A-4147-A177-3AD203B41FA5}">
                      <a16:colId xmlns:a16="http://schemas.microsoft.com/office/drawing/2014/main" val="20003"/>
                    </a:ext>
                  </a:extLst>
                </a:gridCol>
              </a:tblGrid>
              <a:tr h="227035">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Overall</a:t>
                      </a:r>
                    </a:p>
                  </a:txBody>
                  <a:tcPr marL="84406" marR="84406">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Schedule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Cost</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Scope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07595">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solidFill>
                          <a:schemeClr val="bg2"/>
                        </a:solidFill>
                      </a:endParaRPr>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27047014"/>
                  </a:ext>
                </a:extLst>
              </a:tr>
            </a:tbl>
          </a:graphicData>
        </a:graphic>
      </p:graphicFrame>
      <p:graphicFrame>
        <p:nvGraphicFramePr>
          <p:cNvPr id="7" name="Content Placeholder 4">
            <a:extLst>
              <a:ext uri="{FF2B5EF4-FFF2-40B4-BE49-F238E27FC236}">
                <a16:creationId xmlns:a16="http://schemas.microsoft.com/office/drawing/2014/main" id="{CF1594E0-14F4-16FF-0DA5-1D12BBA9AC34}"/>
              </a:ext>
            </a:extLst>
          </p:cNvPr>
          <p:cNvGraphicFramePr>
            <a:graphicFrameLocks/>
          </p:cNvGraphicFramePr>
          <p:nvPr>
            <p:extLst>
              <p:ext uri="{D42A27DB-BD31-4B8C-83A1-F6EECF244321}">
                <p14:modId xmlns:p14="http://schemas.microsoft.com/office/powerpoint/2010/main" val="2411427781"/>
              </p:ext>
            </p:extLst>
          </p:nvPr>
        </p:nvGraphicFramePr>
        <p:xfrm>
          <a:off x="5304063" y="1293585"/>
          <a:ext cx="6613074" cy="774259"/>
        </p:xfrm>
        <a:graphic>
          <a:graphicData uri="http://schemas.openxmlformats.org/drawingml/2006/table">
            <a:tbl>
              <a:tblPr firstRow="1" bandRow="1"/>
              <a:tblGrid>
                <a:gridCol w="1322615">
                  <a:extLst>
                    <a:ext uri="{9D8B030D-6E8A-4147-A177-3AD203B41FA5}">
                      <a16:colId xmlns:a16="http://schemas.microsoft.com/office/drawing/2014/main" val="20000"/>
                    </a:ext>
                  </a:extLst>
                </a:gridCol>
                <a:gridCol w="1165775">
                  <a:extLst>
                    <a:ext uri="{9D8B030D-6E8A-4147-A177-3AD203B41FA5}">
                      <a16:colId xmlns:a16="http://schemas.microsoft.com/office/drawing/2014/main" val="20001"/>
                    </a:ext>
                  </a:extLst>
                </a:gridCol>
                <a:gridCol w="1479454">
                  <a:extLst>
                    <a:ext uri="{9D8B030D-6E8A-4147-A177-3AD203B41FA5}">
                      <a16:colId xmlns:a16="http://schemas.microsoft.com/office/drawing/2014/main" val="20002"/>
                    </a:ext>
                  </a:extLst>
                </a:gridCol>
                <a:gridCol w="1322615">
                  <a:extLst>
                    <a:ext uri="{9D8B030D-6E8A-4147-A177-3AD203B41FA5}">
                      <a16:colId xmlns:a16="http://schemas.microsoft.com/office/drawing/2014/main" val="20003"/>
                    </a:ext>
                  </a:extLst>
                </a:gridCol>
                <a:gridCol w="1322615">
                  <a:extLst>
                    <a:ext uri="{9D8B030D-6E8A-4147-A177-3AD203B41FA5}">
                      <a16:colId xmlns:a16="http://schemas.microsoft.com/office/drawing/2014/main" val="1179070743"/>
                    </a:ext>
                  </a:extLst>
                </a:gridCol>
              </a:tblGrid>
              <a:tr h="347539">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baseline="0">
                          <a:latin typeface="Calibri"/>
                        </a:rPr>
                        <a:t>Project  Status</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Work Completed</a:t>
                      </a:r>
                      <a:r>
                        <a:rPr lang="en-US" sz="1100" baseline="0">
                          <a:latin typeface="Calibri"/>
                        </a:rPr>
                        <a:t> (%)</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Baseline</a:t>
                      </a:r>
                      <a:r>
                        <a:rPr lang="en-US" sz="1100" baseline="0">
                          <a:latin typeface="Calibri"/>
                        </a:rPr>
                        <a:t> Budget</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 Start Date</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Planned/Estimated Completion Date</a:t>
                      </a:r>
                    </a:p>
                  </a:txBody>
                  <a:tcPr marL="84406" marR="84406">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47539">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a:t>Planning</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kern="1200">
                          <a:solidFill>
                            <a:schemeClr val="dk1"/>
                          </a:solidFill>
                          <a:latin typeface="Arial" panose="020B0604020202020204"/>
                          <a:ea typeface="+mn-ea"/>
                          <a:cs typeface="+mn-cs"/>
                        </a:rPr>
                        <a:t>15%</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457198" rtl="0" eaLnBrk="1" latinLnBrk="0" hangingPunct="1"/>
                      <a:r>
                        <a:rPr lang="en-US" sz="1100" kern="1200">
                          <a:solidFill>
                            <a:schemeClr val="dk1"/>
                          </a:solidFill>
                          <a:latin typeface="Arial" panose="020B0604020202020204"/>
                          <a:ea typeface="+mn-ea"/>
                          <a:cs typeface="+mn-cs"/>
                        </a:rPr>
                        <a:t>21K</a:t>
                      </a:r>
                      <a:endParaRPr lang="en-US" sz="1100" kern="1200">
                        <a:solidFill>
                          <a:schemeClr val="dk1"/>
                        </a:solidFill>
                        <a:latin typeface="+mn-lt"/>
                        <a:ea typeface="+mn-ea"/>
                        <a:cs typeface="+mn-cs"/>
                      </a:endParaRP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lvl="0" algn="ctr">
                        <a:buNone/>
                      </a:pPr>
                      <a:r>
                        <a:rPr lang="en-US" sz="1100"/>
                        <a:t>TBD</a:t>
                      </a:r>
                      <a:endParaRPr lang="en-US"/>
                    </a:p>
                  </a:txBody>
                  <a:tcPr marL="84406" marR="84406">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p>
                      <a:pPr lvl="0" algn="ctr">
                        <a:buNone/>
                      </a:pPr>
                      <a:r>
                        <a:rPr lang="en-US" sz="1100" kern="1200" noProof="0">
                          <a:solidFill>
                            <a:schemeClr val="dk1"/>
                          </a:solidFill>
                          <a:latin typeface="Arial" panose="020B0604020202020204"/>
                          <a:ea typeface="+mn-ea"/>
                          <a:cs typeface="+mn-cs"/>
                        </a:rPr>
                        <a:t>TBD</a:t>
                      </a:r>
                    </a:p>
                  </a:txBody>
                  <a:tcPr marL="84406" marR="84406">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12" name="Table 11">
            <a:extLst>
              <a:ext uri="{FF2B5EF4-FFF2-40B4-BE49-F238E27FC236}">
                <a16:creationId xmlns:a16="http://schemas.microsoft.com/office/drawing/2014/main" id="{B13DF30E-81C8-0550-4439-890E98FD0844}"/>
              </a:ext>
            </a:extLst>
          </p:cNvPr>
          <p:cNvGraphicFramePr>
            <a:graphicFrameLocks noGrp="1"/>
          </p:cNvGraphicFramePr>
          <p:nvPr>
            <p:extLst>
              <p:ext uri="{D42A27DB-BD31-4B8C-83A1-F6EECF244321}">
                <p14:modId xmlns:p14="http://schemas.microsoft.com/office/powerpoint/2010/main" val="4257524253"/>
              </p:ext>
            </p:extLst>
          </p:nvPr>
        </p:nvGraphicFramePr>
        <p:xfrm>
          <a:off x="258066" y="2103285"/>
          <a:ext cx="11683580" cy="1233779"/>
        </p:xfrm>
        <a:graphic>
          <a:graphicData uri="http://schemas.openxmlformats.org/drawingml/2006/table">
            <a:tbl>
              <a:tblPr firstRow="1" bandRow="1"/>
              <a:tblGrid>
                <a:gridCol w="3493300">
                  <a:extLst>
                    <a:ext uri="{9D8B030D-6E8A-4147-A177-3AD203B41FA5}">
                      <a16:colId xmlns:a16="http://schemas.microsoft.com/office/drawing/2014/main" val="20000"/>
                    </a:ext>
                  </a:extLst>
                </a:gridCol>
                <a:gridCol w="885137">
                  <a:extLst>
                    <a:ext uri="{9D8B030D-6E8A-4147-A177-3AD203B41FA5}">
                      <a16:colId xmlns:a16="http://schemas.microsoft.com/office/drawing/2014/main" val="20001"/>
                    </a:ext>
                  </a:extLst>
                </a:gridCol>
                <a:gridCol w="2040473">
                  <a:extLst>
                    <a:ext uri="{9D8B030D-6E8A-4147-A177-3AD203B41FA5}">
                      <a16:colId xmlns:a16="http://schemas.microsoft.com/office/drawing/2014/main" val="20002"/>
                    </a:ext>
                  </a:extLst>
                </a:gridCol>
                <a:gridCol w="5264670">
                  <a:extLst>
                    <a:ext uri="{9D8B030D-6E8A-4147-A177-3AD203B41FA5}">
                      <a16:colId xmlns:a16="http://schemas.microsoft.com/office/drawing/2014/main" val="20005"/>
                    </a:ext>
                  </a:extLst>
                </a:gridCol>
              </a:tblGrid>
              <a:tr h="346682">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400" b="0">
                          <a:effectLst/>
                        </a:rPr>
                        <a:t>Phases/Milestones/Deliverables</a:t>
                      </a:r>
                      <a:endParaRPr lang="en-US" sz="1400">
                        <a:effectLst/>
                      </a:endParaRPr>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R/A/G</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Estimated Delivery Date</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Remarks on progress</a:t>
                      </a:r>
                      <a:endParaRPr lang="en-US" sz="1400"/>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295699">
                <a:tc>
                  <a:txBody>
                    <a:bodyPr/>
                    <a:lstStyle/>
                    <a:p>
                      <a:pPr lvl="0" algn="l">
                        <a:lnSpc>
                          <a:spcPct val="100000"/>
                        </a:lnSpc>
                        <a:spcBef>
                          <a:spcPts val="0"/>
                        </a:spcBef>
                        <a:spcAft>
                          <a:spcPts val="0"/>
                        </a:spcAft>
                        <a:buNone/>
                      </a:pPr>
                      <a:r>
                        <a:rPr lang="en-US" sz="1200" kern="1200" noProof="0">
                          <a:solidFill>
                            <a:schemeClr val="dk1"/>
                          </a:solidFill>
                          <a:latin typeface="Calibri"/>
                          <a:ea typeface="+mn-ea"/>
                          <a:cs typeface="+mn-cs"/>
                        </a:rPr>
                        <a:t>Vendor Assignment</a:t>
                      </a:r>
                    </a:p>
                  </a:txBody>
                  <a:tcPr marL="36000" marR="36000" marT="36000" marB="36000">
                    <a:lnL w="12700">
                      <a:solidFill>
                        <a:sysClr val="window" lastClr="FFFFFF"/>
                      </a:solidFill>
                    </a:lnL>
                    <a:lnR w="12700">
                      <a:solidFill>
                        <a:sysClr val="window" lastClr="FFFFFF"/>
                      </a:solidFill>
                    </a:lnR>
                    <a:lnT w="38100" cap="flat" cmpd="sng" algn="ctr">
                      <a:solidFill>
                        <a:sysClr val="window" lastClr="FFFFFF"/>
                      </a:solidFill>
                      <a:prstDash val="solid"/>
                      <a:round/>
                      <a:headEnd type="none" w="med" len="med"/>
                      <a:tailEnd type="none" w="med" len="med"/>
                    </a:lnT>
                    <a:lnB w="38099">
                      <a:solidFill>
                        <a:sysClr val="window" lastClr="FFFFFF"/>
                      </a:solidFill>
                    </a:lnB>
                    <a:lnTlToBr w="0">
                      <a:noFill/>
                    </a:lnTlToBr>
                    <a:lnBlToTr w="0">
                      <a:noFill/>
                    </a:lnBlToTr>
                    <a:solidFill>
                      <a:schemeClr val="accent4">
                        <a:lumMod val="20000"/>
                        <a:lumOff val="80000"/>
                      </a:schemeClr>
                    </a:solidFill>
                  </a:tcPr>
                </a:tc>
                <a:tc>
                  <a:txBody>
                    <a:bodyPr/>
                    <a:lstStyle/>
                    <a:p>
                      <a:pPr lvl="0" algn="ctr">
                        <a:buNone/>
                      </a:pPr>
                      <a:r>
                        <a:rPr lang="en-US" sz="1200">
                          <a:solidFill>
                            <a:schemeClr val="bg1"/>
                          </a:solidFill>
                        </a:rPr>
                        <a:t>G</a:t>
                      </a:r>
                    </a:p>
                  </a:txBody>
                  <a:tcPr marL="36000" marR="36000" marT="36000" marB="36000">
                    <a:lnL w="12700">
                      <a:solidFill>
                        <a:sysClr val="window" lastClr="FFFFFF"/>
                      </a:solidFill>
                    </a:lnL>
                    <a:lnR w="12700">
                      <a:solidFill>
                        <a:sysClr val="window" lastClr="FFFFFF"/>
                      </a:solidFill>
                    </a:lnR>
                    <a:lnT w="38100" cap="flat" cmpd="sng" algn="ctr">
                      <a:solidFill>
                        <a:sysClr val="window" lastClr="FFFFFF"/>
                      </a:solidFill>
                      <a:prstDash val="solid"/>
                      <a:round/>
                      <a:headEnd type="none" w="med" len="med"/>
                      <a:tailEnd type="none" w="med" len="med"/>
                    </a:lnT>
                    <a:lnB w="38099">
                      <a:solidFill>
                        <a:sysClr val="window" lastClr="FFFFFF"/>
                      </a:solidFill>
                    </a:lnB>
                    <a:lnTlToBr w="0">
                      <a:noFill/>
                    </a:lnTlToBr>
                    <a:lnBlToTr w="0">
                      <a:noFill/>
                    </a:lnBlToTr>
                    <a:solidFill>
                      <a:srgbClr val="00B050"/>
                    </a:solidFill>
                  </a:tcPr>
                </a:tc>
                <a:tc>
                  <a:txBody>
                    <a:bodyPr/>
                    <a:lstStyle/>
                    <a:p>
                      <a:pPr lvl="0" algn="ctr">
                        <a:lnSpc>
                          <a:spcPct val="100000"/>
                        </a:lnSpc>
                        <a:spcBef>
                          <a:spcPts val="0"/>
                        </a:spcBef>
                        <a:spcAft>
                          <a:spcPts val="0"/>
                        </a:spcAft>
                        <a:buNone/>
                      </a:pPr>
                      <a:r>
                        <a:rPr lang="en-US" sz="1200" kern="1200" noProof="0">
                          <a:solidFill>
                            <a:schemeClr val="dk1"/>
                          </a:solidFill>
                          <a:latin typeface="Calibri"/>
                          <a:ea typeface="+mn-ea"/>
                          <a:cs typeface="+mn-cs"/>
                        </a:rPr>
                        <a:t>19/6/25</a:t>
                      </a:r>
                    </a:p>
                  </a:txBody>
                  <a:tcPr marL="36000" marR="36000" marT="36000" marB="36000">
                    <a:lnL w="12700">
                      <a:solidFill>
                        <a:sysClr val="window" lastClr="FFFFFF"/>
                      </a:solidFill>
                    </a:lnL>
                    <a:lnR w="12700">
                      <a:solidFill>
                        <a:sysClr val="window" lastClr="FFFFFF"/>
                      </a:solidFill>
                    </a:lnR>
                    <a:lnT w="38100" cap="flat" cmpd="sng" algn="ctr">
                      <a:solidFill>
                        <a:sysClr val="window" lastClr="FFFFFF"/>
                      </a:solidFill>
                      <a:prstDash val="solid"/>
                      <a:round/>
                      <a:headEnd type="none" w="med" len="med"/>
                      <a:tailEnd type="none" w="med" len="med"/>
                    </a:lnT>
                    <a:lnB w="38099">
                      <a:solidFill>
                        <a:sysClr val="window" lastClr="FFFFFF"/>
                      </a:solidFill>
                    </a:lnB>
                    <a:lnTlToBr w="0">
                      <a:noFill/>
                    </a:lnTlToBr>
                    <a:lnBlToTr w="0">
                      <a:noFill/>
                    </a:lnBlToTr>
                    <a:solidFill>
                      <a:schemeClr val="accent4">
                        <a:lumMod val="20000"/>
                        <a:lumOff val="80000"/>
                      </a:schemeClr>
                    </a:solidFill>
                  </a:tcPr>
                </a:tc>
                <a:tc>
                  <a:txBody>
                    <a:bodyPr/>
                    <a:lstStyle/>
                    <a:p>
                      <a:pPr lvl="0" algn="l">
                        <a:lnSpc>
                          <a:spcPct val="100000"/>
                        </a:lnSpc>
                        <a:spcBef>
                          <a:spcPts val="0"/>
                        </a:spcBef>
                        <a:spcAft>
                          <a:spcPts val="0"/>
                        </a:spcAft>
                        <a:buNone/>
                      </a:pPr>
                      <a:r>
                        <a:rPr lang="en-US" sz="1200" b="0" i="0" u="none" strike="noStrike" noProof="0">
                          <a:solidFill>
                            <a:srgbClr val="2E5684"/>
                          </a:solidFill>
                          <a:latin typeface="Calibri"/>
                        </a:rPr>
                        <a:t>Done</a:t>
                      </a:r>
                    </a:p>
                  </a:txBody>
                  <a:tcPr marL="36000" marR="36000" marT="36000" marB="36000">
                    <a:lnL w="12700">
                      <a:solidFill>
                        <a:sysClr val="window" lastClr="FFFFFF"/>
                      </a:solidFill>
                    </a:lnL>
                    <a:lnR w="12700">
                      <a:solidFill>
                        <a:sysClr val="window" lastClr="FFFFFF"/>
                      </a:solidFill>
                    </a:lnR>
                    <a:lnT w="38100" cap="flat" cmpd="sng" algn="ctr">
                      <a:solidFill>
                        <a:sysClr val="window" lastClr="FFFFFF"/>
                      </a:solidFill>
                      <a:prstDash val="solid"/>
                      <a:round/>
                      <a:headEnd type="none" w="med" len="med"/>
                      <a:tailEnd type="none" w="med" len="med"/>
                    </a:lnT>
                    <a:lnB w="38099">
                      <a:solidFill>
                        <a:sysClr val="window" lastClr="FFFFFF"/>
                      </a:solidFill>
                    </a:lnB>
                    <a:lnTlToBr w="0">
                      <a:noFill/>
                    </a:lnTlToBr>
                    <a:lnBlToTr w="0">
                      <a:noFill/>
                    </a:lnBlToTr>
                    <a:solidFill>
                      <a:schemeClr val="accent4">
                        <a:lumMod val="20000"/>
                        <a:lumOff val="80000"/>
                      </a:schemeClr>
                    </a:solidFill>
                  </a:tcPr>
                </a:tc>
                <a:extLst>
                  <a:ext uri="{0D108BD9-81ED-4DB2-BD59-A6C34878D82A}">
                    <a16:rowId xmlns:a16="http://schemas.microsoft.com/office/drawing/2014/main" val="1563937717"/>
                  </a:ext>
                </a:extLst>
              </a:tr>
              <a:tr h="29569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lnSpc>
                          <a:spcPct val="100000"/>
                        </a:lnSpc>
                        <a:spcBef>
                          <a:spcPts val="0"/>
                        </a:spcBef>
                        <a:spcAft>
                          <a:spcPts val="0"/>
                        </a:spcAft>
                        <a:buNone/>
                      </a:pPr>
                      <a:r>
                        <a:rPr lang="en-US" sz="1200" kern="1200" noProof="0">
                          <a:solidFill>
                            <a:schemeClr val="dk1"/>
                          </a:solidFill>
                          <a:latin typeface="Calibri"/>
                          <a:ea typeface="+mn-ea"/>
                          <a:cs typeface="+mn-cs"/>
                        </a:rPr>
                        <a:t>Kick-Off</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099" cap="flat" cmpd="sng" algn="ctr">
                      <a:solidFill>
                        <a:sysClr val="window" lastClr="FFFFFF"/>
                      </a:solidFill>
                      <a:prstDash val="solid"/>
                      <a:round/>
                      <a:headEnd type="none" w="med" len="med"/>
                      <a:tailEnd type="none" w="med" len="med"/>
                    </a:lnT>
                    <a:lnB w="38100" cmpd="sng">
                      <a:solidFill>
                        <a:sysClr val="window" lastClr="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099" cap="flat" cmpd="sng" algn="ctr">
                      <a:solidFill>
                        <a:sysClr val="window" lastClr="FFFFFF"/>
                      </a:solidFill>
                      <a:prstDash val="solid"/>
                      <a:round/>
                      <a:headEnd type="none" w="med" len="med"/>
                      <a:tailEnd type="none" w="med" len="med"/>
                    </a:lnT>
                    <a:lnB w="381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ctr">
                        <a:lnSpc>
                          <a:spcPct val="100000"/>
                        </a:lnSpc>
                        <a:spcBef>
                          <a:spcPts val="0"/>
                        </a:spcBef>
                        <a:spcAft>
                          <a:spcPts val="0"/>
                        </a:spcAft>
                        <a:buNone/>
                      </a:pPr>
                      <a:r>
                        <a:rPr lang="en-US" sz="1200" kern="1200" noProof="0">
                          <a:solidFill>
                            <a:schemeClr val="dk1"/>
                          </a:solidFill>
                          <a:latin typeface="Calibri"/>
                          <a:ea typeface="+mn-ea"/>
                          <a:cs typeface="+mn-cs"/>
                        </a:rPr>
                        <a:t>TBD</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099" cap="flat" cmpd="sng" algn="ctr">
                      <a:solidFill>
                        <a:sysClr val="window" lastClr="FFFFFF"/>
                      </a:solidFill>
                      <a:prstDash val="solid"/>
                      <a:round/>
                      <a:headEnd type="none" w="med" len="med"/>
                      <a:tailEnd type="none" w="med" len="med"/>
                    </a:lnT>
                    <a:lnB w="38100" cmpd="sng">
                      <a:solidFill>
                        <a:sysClr val="window" lastClr="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lnSpc>
                          <a:spcPct val="100000"/>
                        </a:lnSpc>
                        <a:spcBef>
                          <a:spcPts val="0"/>
                        </a:spcBef>
                        <a:spcAft>
                          <a:spcPts val="0"/>
                        </a:spcAft>
                        <a:buNone/>
                      </a:pPr>
                      <a:r>
                        <a:rPr lang="en-US" sz="1200" b="0" i="0" u="none" strike="noStrike" noProof="0">
                          <a:solidFill>
                            <a:srgbClr val="2E5684"/>
                          </a:solidFill>
                          <a:latin typeface="Calibri"/>
                        </a:rPr>
                        <a:t>To Do</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099"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2038214"/>
                  </a:ext>
                </a:extLst>
              </a:tr>
              <a:tr h="295699">
                <a:tc>
                  <a:txBody>
                    <a:bodyPr/>
                    <a:lstStyle/>
                    <a:p>
                      <a:pPr lvl="0" algn="l">
                        <a:lnSpc>
                          <a:spcPct val="100000"/>
                        </a:lnSpc>
                        <a:spcBef>
                          <a:spcPts val="0"/>
                        </a:spcBef>
                        <a:spcAft>
                          <a:spcPts val="0"/>
                        </a:spcAft>
                        <a:buNone/>
                      </a:pPr>
                      <a:r>
                        <a:rPr lang="en-US" sz="1200" kern="1200" noProof="0">
                          <a:solidFill>
                            <a:schemeClr val="dk1"/>
                          </a:solidFill>
                          <a:latin typeface="Calibri"/>
                          <a:ea typeface="+mn-ea"/>
                          <a:cs typeface="+mn-cs"/>
                        </a:rPr>
                        <a:t>Data Review and Preparation</a:t>
                      </a:r>
                      <a:endParaRPr lang="en-US"/>
                    </a:p>
                  </a:txBody>
                  <a:tcPr marL="36000" marR="36000" marT="36000" marB="36000">
                    <a:lnL w="12700">
                      <a:solidFill>
                        <a:sysClr val="window" lastClr="FFFFFF"/>
                      </a:solidFill>
                    </a:lnL>
                    <a:lnR w="12700">
                      <a:solidFill>
                        <a:sysClr val="window" lastClr="FFFFFF"/>
                      </a:solidFill>
                    </a:lnR>
                    <a:lnT w="38100" cap="flat" cmpd="sng" algn="ctr">
                      <a:solidFill>
                        <a:sysClr val="window" lastClr="FFFFFF"/>
                      </a:solidFill>
                      <a:prstDash val="solid"/>
                      <a:round/>
                      <a:headEnd type="none" w="med" len="med"/>
                      <a:tailEnd type="none" w="med" len="med"/>
                    </a:lnT>
                    <a:lnB w="38099">
                      <a:solidFill>
                        <a:sysClr val="window" lastClr="FFFFFF"/>
                      </a:solidFill>
                    </a:lnB>
                    <a:lnTlToBr w="0">
                      <a:noFill/>
                    </a:lnTlToBr>
                    <a:lnBlToTr w="0">
                      <a:noFill/>
                    </a:lnBlToTr>
                    <a:solidFill>
                      <a:schemeClr val="accent4">
                        <a:lumMod val="20000"/>
                        <a:lumOff val="80000"/>
                      </a:schemeClr>
                    </a:solidFill>
                  </a:tcPr>
                </a:tc>
                <a:tc>
                  <a:txBody>
                    <a:bodyPr/>
                    <a:lstStyle/>
                    <a:p>
                      <a:pPr lvl="0" algn="ctr">
                        <a:buNone/>
                      </a:pPr>
                      <a:r>
                        <a:rPr lang="en-US" sz="1200">
                          <a:solidFill>
                            <a:schemeClr val="bg1"/>
                          </a:solidFill>
                        </a:rPr>
                        <a:t>G</a:t>
                      </a:r>
                    </a:p>
                  </a:txBody>
                  <a:tcPr marL="36000" marR="36000" marT="36000" marB="36000">
                    <a:lnL w="12700">
                      <a:solidFill>
                        <a:sysClr val="window" lastClr="FFFFFF"/>
                      </a:solidFill>
                    </a:lnL>
                    <a:lnR w="12700">
                      <a:solidFill>
                        <a:sysClr val="window" lastClr="FFFFFF"/>
                      </a:solidFill>
                    </a:lnR>
                    <a:lnT w="38100" cap="flat" cmpd="sng" algn="ctr">
                      <a:solidFill>
                        <a:sysClr val="window" lastClr="FFFFFF"/>
                      </a:solidFill>
                      <a:prstDash val="solid"/>
                      <a:round/>
                      <a:headEnd type="none" w="med" len="med"/>
                      <a:tailEnd type="none" w="med" len="med"/>
                    </a:lnT>
                    <a:lnB w="38099">
                      <a:solidFill>
                        <a:sysClr val="window" lastClr="FFFFFF"/>
                      </a:solidFill>
                    </a:lnB>
                    <a:lnTlToBr w="0">
                      <a:noFill/>
                    </a:lnTlToBr>
                    <a:lnBlToTr w="0">
                      <a:noFill/>
                    </a:lnBlToTr>
                    <a:solidFill>
                      <a:srgbClr val="00B050"/>
                    </a:solidFill>
                  </a:tcPr>
                </a:tc>
                <a:tc>
                  <a:txBody>
                    <a:bodyPr/>
                    <a:lstStyle/>
                    <a:p>
                      <a:pPr lvl="0" algn="ctr">
                        <a:lnSpc>
                          <a:spcPct val="100000"/>
                        </a:lnSpc>
                        <a:spcBef>
                          <a:spcPts val="0"/>
                        </a:spcBef>
                        <a:spcAft>
                          <a:spcPts val="0"/>
                        </a:spcAft>
                        <a:buNone/>
                      </a:pPr>
                      <a:r>
                        <a:rPr lang="en-US" sz="1200" kern="1200" noProof="0">
                          <a:solidFill>
                            <a:schemeClr val="dk1"/>
                          </a:solidFill>
                          <a:latin typeface="Calibri"/>
                          <a:ea typeface="+mn-ea"/>
                          <a:cs typeface="+mn-cs"/>
                        </a:rPr>
                        <a:t>7/7/025</a:t>
                      </a:r>
                    </a:p>
                  </a:txBody>
                  <a:tcPr marL="36000" marR="36000" marT="36000" marB="36000">
                    <a:lnL w="12700">
                      <a:solidFill>
                        <a:sysClr val="window" lastClr="FFFFFF"/>
                      </a:solidFill>
                    </a:lnL>
                    <a:lnR w="12700">
                      <a:solidFill>
                        <a:sysClr val="window" lastClr="FFFFFF"/>
                      </a:solidFill>
                    </a:lnR>
                    <a:lnT w="38100" cap="flat" cmpd="sng" algn="ctr">
                      <a:solidFill>
                        <a:sysClr val="window" lastClr="FFFFFF"/>
                      </a:solidFill>
                      <a:prstDash val="solid"/>
                      <a:round/>
                      <a:headEnd type="none" w="med" len="med"/>
                      <a:tailEnd type="none" w="med" len="med"/>
                    </a:lnT>
                    <a:lnB w="38099">
                      <a:solidFill>
                        <a:sysClr val="window" lastClr="FFFFFF"/>
                      </a:solidFill>
                    </a:lnB>
                    <a:lnTlToBr w="0">
                      <a:noFill/>
                    </a:lnTlToBr>
                    <a:lnBlToTr w="0">
                      <a:noFill/>
                    </a:lnBlToTr>
                    <a:solidFill>
                      <a:schemeClr val="accent4">
                        <a:lumMod val="20000"/>
                        <a:lumOff val="80000"/>
                      </a:schemeClr>
                    </a:solidFill>
                  </a:tcPr>
                </a:tc>
                <a:tc>
                  <a:txBody>
                    <a:bodyPr/>
                    <a:lstStyle/>
                    <a:p>
                      <a:pPr lvl="0" algn="l">
                        <a:lnSpc>
                          <a:spcPct val="100000"/>
                        </a:lnSpc>
                        <a:spcBef>
                          <a:spcPts val="0"/>
                        </a:spcBef>
                        <a:spcAft>
                          <a:spcPts val="0"/>
                        </a:spcAft>
                        <a:buNone/>
                      </a:pPr>
                      <a:r>
                        <a:rPr lang="en-US" sz="1200" b="0" i="0" u="none" strike="noStrike" noProof="0">
                          <a:solidFill>
                            <a:srgbClr val="2E5684"/>
                          </a:solidFill>
                          <a:latin typeface="Calibri"/>
                        </a:rPr>
                        <a:t>To Do</a:t>
                      </a:r>
                    </a:p>
                  </a:txBody>
                  <a:tcPr marL="36000" marR="36000" marT="36000" marB="36000">
                    <a:lnL w="12700">
                      <a:solidFill>
                        <a:sysClr val="window" lastClr="FFFFFF"/>
                      </a:solidFill>
                    </a:lnL>
                    <a:lnR w="12700">
                      <a:solidFill>
                        <a:sysClr val="window" lastClr="FFFFFF"/>
                      </a:solidFill>
                    </a:lnR>
                    <a:lnT w="38100" cap="flat" cmpd="sng" algn="ctr">
                      <a:solidFill>
                        <a:sysClr val="window" lastClr="FFFFFF"/>
                      </a:solidFill>
                      <a:prstDash val="solid"/>
                      <a:round/>
                      <a:headEnd type="none" w="med" len="med"/>
                      <a:tailEnd type="none" w="med" len="med"/>
                    </a:lnT>
                    <a:lnB w="38099">
                      <a:solidFill>
                        <a:sysClr val="window" lastClr="FFFFFF"/>
                      </a:solidFill>
                    </a:lnB>
                    <a:lnTlToBr w="0">
                      <a:noFill/>
                    </a:lnTlToBr>
                    <a:lnBlToTr w="0">
                      <a:noFill/>
                    </a:lnBlToTr>
                    <a:solidFill>
                      <a:schemeClr val="accent4">
                        <a:lumMod val="20000"/>
                        <a:lumOff val="80000"/>
                      </a:schemeClr>
                    </a:solidFill>
                  </a:tcPr>
                </a:tc>
                <a:extLst>
                  <a:ext uri="{0D108BD9-81ED-4DB2-BD59-A6C34878D82A}">
                    <a16:rowId xmlns:a16="http://schemas.microsoft.com/office/drawing/2014/main" val="2413503000"/>
                  </a:ext>
                </a:extLst>
              </a:tr>
            </a:tbl>
          </a:graphicData>
        </a:graphic>
      </p:graphicFrame>
      <p:graphicFrame>
        <p:nvGraphicFramePr>
          <p:cNvPr id="13" name="Table 12">
            <a:extLst>
              <a:ext uri="{FF2B5EF4-FFF2-40B4-BE49-F238E27FC236}">
                <a16:creationId xmlns:a16="http://schemas.microsoft.com/office/drawing/2014/main" id="{5FC19DF6-E0BC-DBA3-3975-F64600EC06CC}"/>
              </a:ext>
            </a:extLst>
          </p:cNvPr>
          <p:cNvGraphicFramePr>
            <a:graphicFrameLocks noGrp="1"/>
          </p:cNvGraphicFramePr>
          <p:nvPr>
            <p:extLst>
              <p:ext uri="{D42A27DB-BD31-4B8C-83A1-F6EECF244321}">
                <p14:modId xmlns:p14="http://schemas.microsoft.com/office/powerpoint/2010/main" val="4031769636"/>
              </p:ext>
            </p:extLst>
          </p:nvPr>
        </p:nvGraphicFramePr>
        <p:xfrm>
          <a:off x="251442" y="32930"/>
          <a:ext cx="4958664" cy="406005"/>
        </p:xfrm>
        <a:graphic>
          <a:graphicData uri="http://schemas.openxmlformats.org/drawingml/2006/table">
            <a:tbl>
              <a:tblPr firstRow="1" bandRow="1"/>
              <a:tblGrid>
                <a:gridCol w="1254142">
                  <a:extLst>
                    <a:ext uri="{9D8B030D-6E8A-4147-A177-3AD203B41FA5}">
                      <a16:colId xmlns:a16="http://schemas.microsoft.com/office/drawing/2014/main" val="110687116"/>
                    </a:ext>
                  </a:extLst>
                </a:gridCol>
                <a:gridCol w="3704522">
                  <a:extLst>
                    <a:ext uri="{9D8B030D-6E8A-4147-A177-3AD203B41FA5}">
                      <a16:colId xmlns:a16="http://schemas.microsoft.com/office/drawing/2014/main" val="3314271387"/>
                    </a:ext>
                  </a:extLst>
                </a:gridCol>
              </a:tblGrid>
              <a:tr h="40600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Name</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lvl="0" algn="ctr">
                        <a:buNone/>
                      </a:pPr>
                      <a:r>
                        <a:rPr lang="en-US" sz="1100" b="1" i="0" u="none" strike="noStrike" kern="1200" noProof="0">
                          <a:solidFill>
                            <a:schemeClr val="dk1"/>
                          </a:solidFill>
                          <a:effectLst/>
                        </a:rPr>
                        <a:t>Churn Model Upgrade</a:t>
                      </a:r>
                      <a:endParaRPr lang="en-US" b="1"/>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graphicFrame>
        <p:nvGraphicFramePr>
          <p:cNvPr id="14" name="Table 13">
            <a:extLst>
              <a:ext uri="{FF2B5EF4-FFF2-40B4-BE49-F238E27FC236}">
                <a16:creationId xmlns:a16="http://schemas.microsoft.com/office/drawing/2014/main" id="{AEFC1888-1047-5863-1AEA-80B52540CDA3}"/>
              </a:ext>
            </a:extLst>
          </p:cNvPr>
          <p:cNvGraphicFramePr>
            <a:graphicFrameLocks noGrp="1"/>
          </p:cNvGraphicFramePr>
          <p:nvPr>
            <p:extLst>
              <p:ext uri="{D42A27DB-BD31-4B8C-83A1-F6EECF244321}">
                <p14:modId xmlns:p14="http://schemas.microsoft.com/office/powerpoint/2010/main" val="248607539"/>
              </p:ext>
            </p:extLst>
          </p:nvPr>
        </p:nvGraphicFramePr>
        <p:xfrm>
          <a:off x="264919" y="3427191"/>
          <a:ext cx="11666171" cy="929919"/>
        </p:xfrm>
        <a:graphic>
          <a:graphicData uri="http://schemas.openxmlformats.org/drawingml/2006/table">
            <a:tbl>
              <a:tblPr>
                <a:tableStyleId>{5C22544A-7EE6-4342-B048-85BDC9FD1C3A}</a:tableStyleId>
              </a:tblPr>
              <a:tblGrid>
                <a:gridCol w="4148767">
                  <a:extLst>
                    <a:ext uri="{9D8B030D-6E8A-4147-A177-3AD203B41FA5}">
                      <a16:colId xmlns:a16="http://schemas.microsoft.com/office/drawing/2014/main" val="3768886055"/>
                    </a:ext>
                  </a:extLst>
                </a:gridCol>
                <a:gridCol w="7517404">
                  <a:extLst>
                    <a:ext uri="{9D8B030D-6E8A-4147-A177-3AD203B41FA5}">
                      <a16:colId xmlns:a16="http://schemas.microsoft.com/office/drawing/2014/main" val="2712732260"/>
                    </a:ext>
                  </a:extLst>
                </a:gridCol>
              </a:tblGrid>
              <a:tr h="139325">
                <a:tc>
                  <a:txBody>
                    <a:bodyPr/>
                    <a:lstStyle/>
                    <a:p>
                      <a:pPr algn="ctr" fontAlgn="ctr"/>
                      <a:r>
                        <a:rPr lang="en-US" sz="1400" b="1" u="none" strike="noStrike">
                          <a:effectLst/>
                        </a:rPr>
                        <a:t>Activities Performed &amp; Milestones Achieved</a:t>
                      </a:r>
                      <a:endParaRPr lang="en-US" sz="14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tc>
                  <a:txBody>
                    <a:bodyPr/>
                    <a:lstStyle/>
                    <a:p>
                      <a:pPr algn="ctr" fontAlgn="ctr"/>
                      <a:r>
                        <a:rPr lang="en-US" sz="1400" b="1" u="none" strike="noStrike">
                          <a:effectLst/>
                        </a:rPr>
                        <a:t>Major Action Items - Upcoming Activities - Comments</a:t>
                      </a:r>
                      <a:endParaRPr lang="en-US" sz="14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extLst>
                  <a:ext uri="{0D108BD9-81ED-4DB2-BD59-A6C34878D82A}">
                    <a16:rowId xmlns:a16="http://schemas.microsoft.com/office/drawing/2014/main" val="2763828571"/>
                  </a:ext>
                </a:extLst>
              </a:tr>
              <a:tr h="716559">
                <a:tc>
                  <a:txBody>
                    <a:bodyPr/>
                    <a:lstStyle/>
                    <a:p>
                      <a:pPr marL="171450" marR="0" lvl="0" indent="-171450" algn="l">
                        <a:buClr>
                          <a:srgbClr val="2E5684"/>
                        </a:buClr>
                        <a:buSzTx/>
                        <a:buFont typeface="Arial"/>
                        <a:buChar char="•"/>
                      </a:pPr>
                      <a:r>
                        <a:rPr lang="en-US" sz="1200" b="0" i="0" u="none" strike="noStrike" kern="1200" noProof="0">
                          <a:solidFill>
                            <a:schemeClr val="dk1"/>
                          </a:solidFill>
                          <a:latin typeface="Calibri"/>
                        </a:rPr>
                        <a:t>Investment Approval </a:t>
                      </a:r>
                      <a:endParaRPr lang="en-US" sz="1200" b="0" i="0" u="none" strike="noStrike" kern="1200" noProof="0">
                        <a:solidFill>
                          <a:srgbClr val="2E5684"/>
                        </a:solidFill>
                        <a:latin typeface="Calibri"/>
                      </a:endParaRPr>
                    </a:p>
                    <a:p>
                      <a:pPr marL="171450" marR="0" lvl="0" indent="-171450" algn="l">
                        <a:lnSpc>
                          <a:spcPct val="100000"/>
                        </a:lnSpc>
                        <a:spcBef>
                          <a:spcPts val="0"/>
                        </a:spcBef>
                        <a:spcAft>
                          <a:spcPts val="0"/>
                        </a:spcAft>
                        <a:buClrTx/>
                        <a:buSzTx/>
                        <a:buFont typeface="Arial"/>
                        <a:buChar char="•"/>
                      </a:pPr>
                      <a:r>
                        <a:rPr lang="en-US" sz="1200" b="0" i="0" u="none" strike="noStrike" kern="1200" noProof="0">
                          <a:solidFill>
                            <a:schemeClr val="dk1"/>
                          </a:solidFill>
                          <a:latin typeface="Calibri"/>
                        </a:rPr>
                        <a:t>Financial Evaluation concluded</a:t>
                      </a:r>
                    </a:p>
                    <a:p>
                      <a:pPr marL="171450" marR="0" lvl="0" indent="-171450" algn="l">
                        <a:lnSpc>
                          <a:spcPct val="100000"/>
                        </a:lnSpc>
                        <a:spcBef>
                          <a:spcPts val="0"/>
                        </a:spcBef>
                        <a:spcAft>
                          <a:spcPts val="0"/>
                        </a:spcAft>
                        <a:buClrTx/>
                        <a:buSzTx/>
                        <a:buFont typeface="Arial"/>
                        <a:buChar char="•"/>
                      </a:pPr>
                      <a:endParaRPr lang="en-US" sz="1200" b="0" i="0" u="none" strike="noStrike" kern="1200" noProof="0">
                        <a:solidFill>
                          <a:srgbClr val="2E5684"/>
                        </a:solidFill>
                        <a:latin typeface="Calibri"/>
                      </a:endParaRPr>
                    </a:p>
                    <a:p>
                      <a:pPr marL="0" lvl="0" indent="0" algn="ctr">
                        <a:buFont typeface="Arial"/>
                        <a:buNone/>
                      </a:pPr>
                      <a:endParaRPr lang="el-GR" sz="1100" u="none" strike="noStrike">
                        <a:effectLst/>
                      </a:endParaRPr>
                    </a:p>
                  </a:txBody>
                  <a:tcPr marL="0" marR="0" marT="0" marB="0">
                    <a:lnL w="12700" cmpd="sng">
                      <a:solidFill>
                        <a:sysClr val="window" lastClr="FFFFFF"/>
                      </a:solidFill>
                    </a:lnL>
                    <a:lnR w="12700" cap="flat" cmpd="sng" algn="ctr">
                      <a:solidFill>
                        <a:sysClr val="window" lastClr="FFFFFF"/>
                      </a:solidFill>
                      <a:prstDash val="solid"/>
                      <a:round/>
                      <a:headEnd type="none" w="med" len="med"/>
                      <a:tailEnd type="none" w="med" len="med"/>
                    </a:lnR>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71450" lvl="0" indent="-171450" algn="l">
                        <a:buFont typeface="Arial"/>
                        <a:buChar char="•"/>
                      </a:pPr>
                      <a:r>
                        <a:rPr lang="en-US" sz="1100" u="none" strike="noStrike">
                          <a:effectLst/>
                        </a:rPr>
                        <a:t>Project Plan finalization </a:t>
                      </a:r>
                      <a:endParaRPr lang="en-US"/>
                    </a:p>
                    <a:p>
                      <a:pPr marL="171450" lvl="0" indent="-171450" algn="l">
                        <a:buFont typeface="Arial"/>
                        <a:buChar char="•"/>
                      </a:pPr>
                      <a:r>
                        <a:rPr lang="en-US" sz="1100" u="none" strike="noStrike">
                          <a:effectLst/>
                        </a:rPr>
                        <a:t>Issue: Delay from vendor to contract sign-off and initiation of the project</a:t>
                      </a:r>
                    </a:p>
                    <a:p>
                      <a:pPr marL="171450" lvl="0" indent="-171450" algn="l">
                        <a:buFont typeface="Arial"/>
                        <a:buChar char="•"/>
                      </a:pPr>
                      <a:r>
                        <a:rPr lang="en-US" sz="1100" b="0" i="0" u="none" strike="noStrike" noProof="0">
                          <a:solidFill>
                            <a:srgbClr val="2E5684"/>
                          </a:solidFill>
                          <a:latin typeface="+mn-lt"/>
                        </a:rPr>
                        <a:t>Issue: Delay on Procurement negotiations to proceed to contract sign-off</a:t>
                      </a:r>
                    </a:p>
                    <a:p>
                      <a:pPr marL="171450" lvl="0" indent="-171450" algn="l">
                        <a:buFont typeface="Arial"/>
                        <a:buChar char="•"/>
                      </a:pPr>
                      <a:r>
                        <a:rPr lang="en-US" sz="1100" b="0" i="0" u="none" strike="noStrike" noProof="0">
                          <a:solidFill>
                            <a:srgbClr val="2E5684"/>
                          </a:solidFill>
                          <a:latin typeface="+mn-lt"/>
                        </a:rPr>
                        <a:t>Issue: Delay on SAP Purchase Requisition Approval to proceed to procurement review</a:t>
                      </a:r>
                      <a:endParaRPr lang="en-US"/>
                    </a:p>
                  </a:txBody>
                  <a:tcPr marL="0" marR="0" marT="0" marB="0">
                    <a:lnL w="12700" cap="flat" cmpd="sng" algn="ctr">
                      <a:solidFill>
                        <a:sysClr val="window" lastClr="FFFFFF"/>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val="2561788850"/>
                  </a:ext>
                </a:extLst>
              </a:tr>
            </a:tbl>
          </a:graphicData>
        </a:graphic>
      </p:graphicFrame>
      <p:graphicFrame>
        <p:nvGraphicFramePr>
          <p:cNvPr id="16" name="Table 15">
            <a:extLst>
              <a:ext uri="{FF2B5EF4-FFF2-40B4-BE49-F238E27FC236}">
                <a16:creationId xmlns:a16="http://schemas.microsoft.com/office/drawing/2014/main" id="{7281EA5B-7372-7A22-853A-A6FC56D573BA}"/>
              </a:ext>
            </a:extLst>
          </p:cNvPr>
          <p:cNvGraphicFramePr>
            <a:graphicFrameLocks noGrp="1"/>
          </p:cNvGraphicFramePr>
          <p:nvPr>
            <p:extLst>
              <p:ext uri="{D42A27DB-BD31-4B8C-83A1-F6EECF244321}">
                <p14:modId xmlns:p14="http://schemas.microsoft.com/office/powerpoint/2010/main" val="1592272120"/>
              </p:ext>
            </p:extLst>
          </p:nvPr>
        </p:nvGraphicFramePr>
        <p:xfrm>
          <a:off x="251440" y="441143"/>
          <a:ext cx="4958665" cy="1582862"/>
        </p:xfrm>
        <a:graphic>
          <a:graphicData uri="http://schemas.openxmlformats.org/drawingml/2006/table">
            <a:tbl>
              <a:tblPr firstRow="1" bandRow="1"/>
              <a:tblGrid>
                <a:gridCol w="1253919">
                  <a:extLst>
                    <a:ext uri="{9D8B030D-6E8A-4147-A177-3AD203B41FA5}">
                      <a16:colId xmlns:a16="http://schemas.microsoft.com/office/drawing/2014/main" val="110687116"/>
                    </a:ext>
                  </a:extLst>
                </a:gridCol>
                <a:gridCol w="3704746">
                  <a:extLst>
                    <a:ext uri="{9D8B030D-6E8A-4147-A177-3AD203B41FA5}">
                      <a16:colId xmlns:a16="http://schemas.microsoft.com/office/drawing/2014/main" val="3314271387"/>
                    </a:ext>
                  </a:extLst>
                </a:gridCol>
              </a:tblGrid>
              <a:tr h="158286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a:ea typeface="+mn-ea"/>
                          <a:cs typeface="+mn-cs"/>
                        </a:rPr>
                        <a:t>Project </a:t>
                      </a:r>
                      <a:r>
                        <a:rPr lang="en-US" sz="1400" b="1" i="0" u="none" strike="noStrike" kern="1200" cap="none" spc="0" normalizeH="0" baseline="0" noProof="0">
                          <a:ln>
                            <a:noFill/>
                          </a:ln>
                          <a:solidFill>
                            <a:srgbClr val="FFFFFF"/>
                          </a:solidFill>
                          <a:effectLst/>
                          <a:uLnTx/>
                          <a:uFillTx/>
                          <a:latin typeface="Calibri"/>
                          <a:ea typeface="+mn-ea"/>
                          <a:cs typeface="+mn-cs"/>
                        </a:rPr>
                        <a:t>Scope</a:t>
                      </a:r>
                      <a:endParaRPr kumimoji="0" lang="en-US" sz="1400" b="1" i="0" u="none" strike="noStrike" kern="1200" cap="none" spc="0" normalizeH="0" baseline="0" noProof="0">
                        <a:ln>
                          <a:noFill/>
                        </a:ln>
                        <a:solidFill>
                          <a:srgbClr val="FFFFFF"/>
                        </a:solidFill>
                        <a:effectLst/>
                        <a:uLnTx/>
                        <a:uFillTx/>
                        <a:latin typeface="Calibri"/>
                        <a:ea typeface="+mn-ea"/>
                        <a:cs typeface="+mn-cs"/>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lvl="0" indent="0" algn="just">
                        <a:buNone/>
                      </a:pPr>
                      <a:r>
                        <a:rPr lang="en-US" sz="1200" b="0" i="0" u="none" strike="noStrike" kern="1200" noProof="0" err="1">
                          <a:solidFill>
                            <a:schemeClr val="dk1"/>
                          </a:solidFill>
                          <a:effectLst/>
                          <a:latin typeface="Calibri"/>
                        </a:rPr>
                        <a:t>Elpedison</a:t>
                      </a:r>
                      <a:r>
                        <a:rPr lang="en-US" sz="1200" b="0" i="0" u="none" strike="noStrike" kern="1200" noProof="0">
                          <a:solidFill>
                            <a:schemeClr val="dk1"/>
                          </a:solidFill>
                          <a:effectLst/>
                          <a:latin typeface="Calibri"/>
                        </a:rPr>
                        <a:t> will focus on retraining and upgrading the customer churn analytics solution, which was launched in 2024 Q1, to improve churn algorithm’s success rate and decrease churn %</a:t>
                      </a:r>
                      <a:endParaRPr lang="en-US">
                        <a:latin typeface="Calibri"/>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sp>
        <p:nvSpPr>
          <p:cNvPr id="3" name="Oval 2">
            <a:extLst>
              <a:ext uri="{FF2B5EF4-FFF2-40B4-BE49-F238E27FC236}">
                <a16:creationId xmlns:a16="http://schemas.microsoft.com/office/drawing/2014/main" id="{25A44309-6D61-063A-ADB6-A9A5A44A0828}"/>
              </a:ext>
            </a:extLst>
          </p:cNvPr>
          <p:cNvSpPr>
            <a:spLocks noChangeAspect="1"/>
          </p:cNvSpPr>
          <p:nvPr/>
        </p:nvSpPr>
        <p:spPr>
          <a:xfrm>
            <a:off x="7658044" y="1042303"/>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35F9356E-25D2-7098-8D39-09C659EC73CB}"/>
              </a:ext>
            </a:extLst>
          </p:cNvPr>
          <p:cNvSpPr>
            <a:spLocks noChangeAspect="1"/>
          </p:cNvSpPr>
          <p:nvPr/>
        </p:nvSpPr>
        <p:spPr>
          <a:xfrm>
            <a:off x="10964907" y="103611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7E4AA94A-274A-5731-7D18-03E7696E3763}"/>
              </a:ext>
            </a:extLst>
          </p:cNvPr>
          <p:cNvSpPr>
            <a:spLocks noChangeAspect="1"/>
          </p:cNvSpPr>
          <p:nvPr/>
        </p:nvSpPr>
        <p:spPr>
          <a:xfrm>
            <a:off x="9343106" y="104568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4AD96DBF-C2F7-8BC6-C859-8EAC6BD1CEA2}"/>
              </a:ext>
            </a:extLst>
          </p:cNvPr>
          <p:cNvSpPr>
            <a:spLocks noChangeAspect="1"/>
          </p:cNvSpPr>
          <p:nvPr/>
        </p:nvSpPr>
        <p:spPr>
          <a:xfrm>
            <a:off x="6004612" y="1050222"/>
            <a:ext cx="214068" cy="20521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5" name="Table 14">
            <a:extLst>
              <a:ext uri="{FF2B5EF4-FFF2-40B4-BE49-F238E27FC236}">
                <a16:creationId xmlns:a16="http://schemas.microsoft.com/office/drawing/2014/main" id="{0E18CEF3-C719-40F5-E8E8-83443568D341}"/>
              </a:ext>
            </a:extLst>
          </p:cNvPr>
          <p:cNvGraphicFramePr>
            <a:graphicFrameLocks noGrp="1"/>
          </p:cNvGraphicFramePr>
          <p:nvPr>
            <p:extLst>
              <p:ext uri="{D42A27DB-BD31-4B8C-83A1-F6EECF244321}">
                <p14:modId xmlns:p14="http://schemas.microsoft.com/office/powerpoint/2010/main" val="879364868"/>
              </p:ext>
            </p:extLst>
          </p:nvPr>
        </p:nvGraphicFramePr>
        <p:xfrm>
          <a:off x="271235" y="4542530"/>
          <a:ext cx="11683676" cy="849629"/>
        </p:xfrm>
        <a:graphic>
          <a:graphicData uri="http://schemas.openxmlformats.org/drawingml/2006/table">
            <a:tbl>
              <a:tblPr>
                <a:tableStyleId>{5C22544A-7EE6-4342-B048-85BDC9FD1C3A}</a:tableStyleId>
              </a:tblPr>
              <a:tblGrid>
                <a:gridCol w="3633002">
                  <a:extLst>
                    <a:ext uri="{9D8B030D-6E8A-4147-A177-3AD203B41FA5}">
                      <a16:colId xmlns:a16="http://schemas.microsoft.com/office/drawing/2014/main" val="2003250863"/>
                    </a:ext>
                  </a:extLst>
                </a:gridCol>
                <a:gridCol w="889735">
                  <a:extLst>
                    <a:ext uri="{9D8B030D-6E8A-4147-A177-3AD203B41FA5}">
                      <a16:colId xmlns:a16="http://schemas.microsoft.com/office/drawing/2014/main" val="2445968811"/>
                    </a:ext>
                  </a:extLst>
                </a:gridCol>
                <a:gridCol w="7160939">
                  <a:extLst>
                    <a:ext uri="{9D8B030D-6E8A-4147-A177-3AD203B41FA5}">
                      <a16:colId xmlns:a16="http://schemas.microsoft.com/office/drawing/2014/main" val="187998877"/>
                    </a:ext>
                  </a:extLst>
                </a:gridCol>
              </a:tblGrid>
              <a:tr h="43814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Risk</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Risk Assessment</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Control</a:t>
                      </a:r>
                    </a:p>
                  </a:txBody>
                  <a:tcPr marL="0" marR="0" marT="0" marB="0" anchor="ctr">
                    <a:solidFill>
                      <a:schemeClr val="accent1"/>
                    </a:solidFill>
                  </a:tcPr>
                </a:tc>
                <a:extLst>
                  <a:ext uri="{0D108BD9-81ED-4DB2-BD59-A6C34878D82A}">
                    <a16:rowId xmlns:a16="http://schemas.microsoft.com/office/drawing/2014/main" val="2763828571"/>
                  </a:ext>
                </a:extLst>
              </a:tr>
              <a:tr h="391537">
                <a:tc>
                  <a:txBody>
                    <a:bodyPr/>
                    <a:lstStyle/>
                    <a:p>
                      <a:pPr marL="171450" lvl="0" indent="-171450">
                        <a:buFont typeface="Arial"/>
                        <a:buChar char="•"/>
                      </a:pPr>
                      <a:r>
                        <a:rPr lang="en-US" sz="1100">
                          <a:effectLst/>
                        </a:rPr>
                        <a:t>Plan may be delayed </a:t>
                      </a:r>
                    </a:p>
                  </a:txBody>
                  <a:tcPr marL="38100" marR="38100" marT="38100" marB="38100" anchor="ctr">
                    <a:solidFill>
                      <a:schemeClr val="accent4">
                        <a:lumMod val="20000"/>
                        <a:lumOff val="80000"/>
                      </a:schemeClr>
                    </a:solidFill>
                  </a:tcPr>
                </a:tc>
                <a:tc>
                  <a:txBody>
                    <a:bodyPr/>
                    <a:lstStyle/>
                    <a:p>
                      <a:pPr algn="ctr"/>
                      <a:r>
                        <a:rPr lang="en-US" sz="1100" b="1">
                          <a:solidFill>
                            <a:schemeClr val="bg1"/>
                          </a:solidFill>
                          <a:effectLst/>
                        </a:rPr>
                        <a:t>L</a:t>
                      </a:r>
                    </a:p>
                  </a:txBody>
                  <a:tcPr marL="38100" marR="38100" marT="38100" marB="38100" anchor="ctr">
                    <a:solidFill>
                      <a:srgbClr val="00B050"/>
                    </a:solidFill>
                  </a:tcPr>
                </a:tc>
                <a:tc>
                  <a:txBody>
                    <a:bodyPr/>
                    <a:lstStyle/>
                    <a:p>
                      <a:r>
                        <a:rPr lang="en-US" sz="1100">
                          <a:effectLst/>
                        </a:rPr>
                        <a:t>Detailed project planning and alignment with other projects. Perform preparatory activities in parallel, in order to avoid/limit infrastructure operations downtime in IT</a:t>
                      </a:r>
                    </a:p>
                  </a:txBody>
                  <a:tcPr marL="38100" marR="38100" marT="38100" marB="38100" anchor="ctr">
                    <a:solidFill>
                      <a:schemeClr val="accent4">
                        <a:lumMod val="20000"/>
                        <a:lumOff val="80000"/>
                      </a:schemeClr>
                    </a:solidFill>
                  </a:tcPr>
                </a:tc>
                <a:extLst>
                  <a:ext uri="{0D108BD9-81ED-4DB2-BD59-A6C34878D82A}">
                    <a16:rowId xmlns:a16="http://schemas.microsoft.com/office/drawing/2014/main" val="2561788850"/>
                  </a:ext>
                </a:extLst>
              </a:tr>
            </a:tbl>
          </a:graphicData>
        </a:graphic>
      </p:graphicFrame>
    </p:spTree>
    <p:extLst>
      <p:ext uri="{BB962C8B-B14F-4D97-AF65-F5344CB8AC3E}">
        <p14:creationId xmlns:p14="http://schemas.microsoft.com/office/powerpoint/2010/main" val="3959933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501ED-0BB1-3F0B-CBBC-ABB898787BA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8DF0AE-54CF-CDF1-EE50-0FCADBB8C592}"/>
              </a:ext>
            </a:extLst>
          </p:cNvPr>
          <p:cNvSpPr>
            <a:spLocks noGrp="1"/>
          </p:cNvSpPr>
          <p:nvPr>
            <p:ph type="sldNum" idx="12"/>
          </p:nvPr>
        </p:nvSpPr>
        <p:spPr>
          <a:xfrm>
            <a:off x="8610600" y="6302032"/>
            <a:ext cx="2743200" cy="365125"/>
          </a:xfrm>
        </p:spPr>
        <p:txBody>
          <a:bodyPr/>
          <a:lstStyle/>
          <a:p>
            <a:pPr marL="0" lvl="0" indent="0" algn="r" rtl="0">
              <a:spcBef>
                <a:spcPts val="0"/>
              </a:spcBef>
              <a:spcAft>
                <a:spcPts val="0"/>
              </a:spcAft>
              <a:buNone/>
            </a:pPr>
            <a:fld id="{00000000-1234-1234-1234-123412341234}" type="slidenum">
              <a:rPr lang="en-US"/>
              <a:t>10</a:t>
            </a:fld>
            <a:endParaRPr lang="en-US"/>
          </a:p>
        </p:txBody>
      </p:sp>
      <p:sp>
        <p:nvSpPr>
          <p:cNvPr id="4" name="Slide Number Placeholder 1">
            <a:extLst>
              <a:ext uri="{FF2B5EF4-FFF2-40B4-BE49-F238E27FC236}">
                <a16:creationId xmlns:a16="http://schemas.microsoft.com/office/drawing/2014/main" id="{9D7ED1C8-623C-C633-E7EF-91EB7F6FC618}"/>
              </a:ext>
            </a:extLst>
          </p:cNvPr>
          <p:cNvSpPr txBox="1">
            <a:spLocks/>
          </p:cNvSpPr>
          <p:nvPr/>
        </p:nvSpPr>
        <p:spPr>
          <a:xfrm>
            <a:off x="8610600" y="6302032"/>
            <a:ext cx="2743200" cy="365125"/>
          </a:xfrm>
          <a:prstGeom prst="rect">
            <a:avLst/>
          </a:prstGeom>
          <a:noFill/>
          <a:ln>
            <a:noFill/>
          </a:ln>
        </p:spPr>
        <p:txBody>
          <a:bodyPr spcFirstLastPara="1" vert="horz" wrap="square" lIns="91425" tIns="45700" rIns="91425" bIns="45700" rtlCol="0" anchor="ctr" anchorCtr="0">
            <a:noAutofit/>
          </a:bodyPr>
          <a:lstStyle>
            <a:defPPr>
              <a:defRPr lang="en-US"/>
            </a:defPPr>
            <a:lvl1pPr marL="0" lvl="0" indent="0" algn="r" defTabSz="914400" rtl="0" eaLnBrk="1" latinLnBrk="0" hangingPunct="1">
              <a:spcBef>
                <a:spcPts val="0"/>
              </a:spcBef>
              <a:buNone/>
              <a:defRPr sz="1200" kern="1200">
                <a:solidFill>
                  <a:schemeClr val="tx1">
                    <a:tint val="75000"/>
                  </a:schemeClr>
                </a:solidFill>
                <a:latin typeface="+mn-lt"/>
                <a:ea typeface="+mn-ea"/>
                <a:cs typeface="+mn-cs"/>
              </a:defRPr>
            </a:lvl1pPr>
            <a:lvl2pPr marL="0" lvl="1" indent="0" algn="r" defTabSz="914400" rtl="0" eaLnBrk="1" latinLnBrk="0" hangingPunct="1">
              <a:spcBef>
                <a:spcPts val="0"/>
              </a:spcBef>
              <a:buNone/>
              <a:defRPr sz="1800" kern="1200">
                <a:solidFill>
                  <a:schemeClr val="tx1"/>
                </a:solidFill>
                <a:latin typeface="+mn-lt"/>
                <a:ea typeface="+mn-ea"/>
                <a:cs typeface="+mn-cs"/>
              </a:defRPr>
            </a:lvl2pPr>
            <a:lvl3pPr marL="0" lvl="2" indent="0" algn="r" defTabSz="914400" rtl="0" eaLnBrk="1" latinLnBrk="0" hangingPunct="1">
              <a:spcBef>
                <a:spcPts val="0"/>
              </a:spcBef>
              <a:buNone/>
              <a:defRPr sz="1800" kern="1200">
                <a:solidFill>
                  <a:schemeClr val="tx1"/>
                </a:solidFill>
                <a:latin typeface="+mn-lt"/>
                <a:ea typeface="+mn-ea"/>
                <a:cs typeface="+mn-cs"/>
              </a:defRPr>
            </a:lvl3pPr>
            <a:lvl4pPr marL="0" lvl="3" indent="0" algn="r" defTabSz="914400" rtl="0" eaLnBrk="1" latinLnBrk="0" hangingPunct="1">
              <a:spcBef>
                <a:spcPts val="0"/>
              </a:spcBef>
              <a:buNone/>
              <a:defRPr sz="1800" kern="1200">
                <a:solidFill>
                  <a:schemeClr val="tx1"/>
                </a:solidFill>
                <a:latin typeface="+mn-lt"/>
                <a:ea typeface="+mn-ea"/>
                <a:cs typeface="+mn-cs"/>
              </a:defRPr>
            </a:lvl4pPr>
            <a:lvl5pPr marL="0" lvl="4" indent="0" algn="r" defTabSz="914400" rtl="0" eaLnBrk="1" latinLnBrk="0" hangingPunct="1">
              <a:spcBef>
                <a:spcPts val="0"/>
              </a:spcBef>
              <a:buNone/>
              <a:defRPr sz="1800" kern="1200">
                <a:solidFill>
                  <a:schemeClr val="tx1"/>
                </a:solidFill>
                <a:latin typeface="+mn-lt"/>
                <a:ea typeface="+mn-ea"/>
                <a:cs typeface="+mn-cs"/>
              </a:defRPr>
            </a:lvl5pPr>
            <a:lvl6pPr marL="0" lvl="5" indent="0" algn="r" defTabSz="914400" rtl="0" eaLnBrk="1" latinLnBrk="0" hangingPunct="1">
              <a:spcBef>
                <a:spcPts val="0"/>
              </a:spcBef>
              <a:buNone/>
              <a:defRPr sz="1800" kern="1200">
                <a:solidFill>
                  <a:schemeClr val="tx1"/>
                </a:solidFill>
                <a:latin typeface="+mn-lt"/>
                <a:ea typeface="+mn-ea"/>
                <a:cs typeface="+mn-cs"/>
              </a:defRPr>
            </a:lvl6pPr>
            <a:lvl7pPr marL="0" lvl="6" indent="0" algn="r" defTabSz="914400" rtl="0" eaLnBrk="1" latinLnBrk="0" hangingPunct="1">
              <a:spcBef>
                <a:spcPts val="0"/>
              </a:spcBef>
              <a:buNone/>
              <a:defRPr sz="1800" kern="1200">
                <a:solidFill>
                  <a:schemeClr val="tx1"/>
                </a:solidFill>
                <a:latin typeface="+mn-lt"/>
                <a:ea typeface="+mn-ea"/>
                <a:cs typeface="+mn-cs"/>
              </a:defRPr>
            </a:lvl7pPr>
            <a:lvl8pPr marL="0" lvl="7" indent="0" algn="r" defTabSz="914400" rtl="0" eaLnBrk="1" latinLnBrk="0" hangingPunct="1">
              <a:spcBef>
                <a:spcPts val="0"/>
              </a:spcBef>
              <a:buNone/>
              <a:defRPr sz="1800" kern="1200">
                <a:solidFill>
                  <a:schemeClr val="tx1"/>
                </a:solidFill>
                <a:latin typeface="+mn-lt"/>
                <a:ea typeface="+mn-ea"/>
                <a:cs typeface="+mn-cs"/>
              </a:defRPr>
            </a:lvl8pPr>
            <a:lvl9pPr marL="0" lvl="8" indent="0" algn="r" defTabSz="914400" rtl="0" eaLnBrk="1" latinLnBrk="0" hangingPunct="1">
              <a:spcBef>
                <a:spcPts val="0"/>
              </a:spcBef>
              <a:buNone/>
              <a:defRPr sz="1800" kern="1200">
                <a:solidFill>
                  <a:schemeClr val="tx1"/>
                </a:solidFill>
                <a:latin typeface="+mn-lt"/>
                <a:ea typeface="+mn-ea"/>
                <a:cs typeface="+mn-cs"/>
              </a:defRPr>
            </a:lvl9pPr>
          </a:lstStyle>
          <a:p>
            <a:pPr>
              <a:defRPr/>
            </a:pPr>
            <a:fld id="{00000000-1234-1234-1234-123412341234}" type="slidenum">
              <a:rPr lang="en-US" smtClean="0">
                <a:solidFill>
                  <a:srgbClr val="2E5684">
                    <a:tint val="75000"/>
                  </a:srgbClr>
                </a:solidFill>
                <a:latin typeface="Calibri" panose="020F0502020204030204"/>
              </a:rPr>
              <a:pPr>
                <a:defRPr/>
              </a:pPr>
              <a:t>10</a:t>
            </a:fld>
            <a:endParaRPr lang="en-US">
              <a:solidFill>
                <a:srgbClr val="2E5684">
                  <a:tint val="75000"/>
                </a:srgbClr>
              </a:solidFill>
              <a:latin typeface="Calibri" panose="020F0502020204030204"/>
            </a:endParaRPr>
          </a:p>
        </p:txBody>
      </p:sp>
      <p:graphicFrame>
        <p:nvGraphicFramePr>
          <p:cNvPr id="5" name="Content Placeholder 4">
            <a:extLst>
              <a:ext uri="{FF2B5EF4-FFF2-40B4-BE49-F238E27FC236}">
                <a16:creationId xmlns:a16="http://schemas.microsoft.com/office/drawing/2014/main" id="{37B29403-CDEC-4928-7C57-E5EC563FBECE}"/>
              </a:ext>
            </a:extLst>
          </p:cNvPr>
          <p:cNvGraphicFramePr>
            <a:graphicFrameLocks/>
          </p:cNvGraphicFramePr>
          <p:nvPr>
            <p:extLst>
              <p:ext uri="{D42A27DB-BD31-4B8C-83A1-F6EECF244321}">
                <p14:modId xmlns:p14="http://schemas.microsoft.com/office/powerpoint/2010/main" val="2113296078"/>
              </p:ext>
            </p:extLst>
          </p:nvPr>
        </p:nvGraphicFramePr>
        <p:xfrm>
          <a:off x="5304063" y="23586"/>
          <a:ext cx="6613073" cy="695077"/>
        </p:xfrm>
        <a:graphic>
          <a:graphicData uri="http://schemas.openxmlformats.org/drawingml/2006/table">
            <a:tbl>
              <a:tblPr firstRow="1" bandRow="1"/>
              <a:tblGrid>
                <a:gridCol w="724595">
                  <a:extLst>
                    <a:ext uri="{9D8B030D-6E8A-4147-A177-3AD203B41FA5}">
                      <a16:colId xmlns:a16="http://schemas.microsoft.com/office/drawing/2014/main" val="20000"/>
                    </a:ext>
                  </a:extLst>
                </a:gridCol>
                <a:gridCol w="739303">
                  <a:extLst>
                    <a:ext uri="{9D8B030D-6E8A-4147-A177-3AD203B41FA5}">
                      <a16:colId xmlns:a16="http://schemas.microsoft.com/office/drawing/2014/main" val="20001"/>
                    </a:ext>
                  </a:extLst>
                </a:gridCol>
                <a:gridCol w="1712068">
                  <a:extLst>
                    <a:ext uri="{9D8B030D-6E8A-4147-A177-3AD203B41FA5}">
                      <a16:colId xmlns:a16="http://schemas.microsoft.com/office/drawing/2014/main" val="20002"/>
                    </a:ext>
                  </a:extLst>
                </a:gridCol>
                <a:gridCol w="2033080">
                  <a:extLst>
                    <a:ext uri="{9D8B030D-6E8A-4147-A177-3AD203B41FA5}">
                      <a16:colId xmlns:a16="http://schemas.microsoft.com/office/drawing/2014/main" val="3624839458"/>
                    </a:ext>
                  </a:extLst>
                </a:gridCol>
                <a:gridCol w="1404027">
                  <a:extLst>
                    <a:ext uri="{9D8B030D-6E8A-4147-A177-3AD203B41FA5}">
                      <a16:colId xmlns:a16="http://schemas.microsoft.com/office/drawing/2014/main" val="2847559459"/>
                    </a:ext>
                  </a:extLst>
                </a:gridCol>
              </a:tblGrid>
              <a:tr h="20602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SAP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JIRA ID</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cs typeface="Arial"/>
                        </a:rPr>
                        <a:t>PM/BP</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Business Owner</a:t>
                      </a:r>
                    </a:p>
                  </a:txBody>
                  <a:tcPr marL="84406" marR="84406"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100" b="1" kern="1200">
                          <a:solidFill>
                            <a:schemeClr val="lt1"/>
                          </a:solidFill>
                          <a:latin typeface="+mn-lt"/>
                          <a:ea typeface="+mn-ea"/>
                          <a:cs typeface="Arial"/>
                        </a:rPr>
                        <a:t>Involved Divisions</a:t>
                      </a:r>
                    </a:p>
                  </a:txBody>
                  <a:tcPr marL="84406" marR="84406" anchor="ctr">
                    <a:lnL w="12700" cmpd="sng">
                      <a:solidFill>
                        <a:schemeClr val="bg1"/>
                      </a:solidFill>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435997">
                <a:tc>
                  <a:txBody>
                    <a:bodyPr/>
                    <a:lstStyle/>
                    <a:p>
                      <a:pPr lvl="0" algn="ctr">
                        <a:buNone/>
                      </a:pPr>
                      <a:r>
                        <a:rPr lang="en-US" sz="1100" b="1" kern="1200" noProof="0">
                          <a:solidFill>
                            <a:schemeClr val="dk1"/>
                          </a:solidFill>
                          <a:latin typeface="+mn-lt"/>
                          <a:ea typeface="+mn-ea"/>
                          <a:cs typeface="+mn-cs"/>
                        </a:rPr>
                        <a:t>-</a:t>
                      </a:r>
                    </a:p>
                  </a:txBody>
                  <a:tcPr marL="9525" marR="9525" marT="9525" marB="0" anchor="ctr">
                    <a:lnL w="12700" cmpd="sng">
                      <a:solidFill>
                        <a:schemeClr val="bg1"/>
                      </a:solidFill>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100" b="1" kern="1200">
                          <a:solidFill>
                            <a:schemeClr val="dk1"/>
                          </a:solidFill>
                          <a:latin typeface="+mn-lt"/>
                          <a:ea typeface="+mn-ea"/>
                          <a:cs typeface="+mn-cs"/>
                        </a:rPr>
                        <a:t>PMO-188</a:t>
                      </a:r>
                    </a:p>
                  </a:txBody>
                  <a:tcPr marL="9525" marR="9525" marT="9525" marB="0" anchor="ctr">
                    <a:lnL w="12700" cap="flat" cmpd="sng" algn="ctr">
                      <a:solidFill>
                        <a:schemeClr val="bg1"/>
                      </a:solidFill>
                      <a:prstDash val="solid"/>
                      <a:round/>
                      <a:headEnd type="none" w="med" len="med"/>
                      <a:tailEnd type="none" w="med" len="med"/>
                    </a:lnL>
                    <a:lnR w="12700" cmpd="sng">
                      <a:solidFill>
                        <a:schemeClr val="bg1"/>
                      </a:solidFill>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rtl="0" eaLnBrk="1" latinLnBrk="0" hangingPunct="1"/>
                      <a:r>
                        <a:rPr lang="en-US" sz="1100" b="1" kern="1200" err="1">
                          <a:solidFill>
                            <a:schemeClr val="dk1"/>
                          </a:solidFill>
                          <a:latin typeface="+mn-lt"/>
                          <a:ea typeface="+mn-ea"/>
                          <a:cs typeface="+mn-cs"/>
                        </a:rPr>
                        <a:t>Koutsogiannakopoulos</a:t>
                      </a:r>
                      <a:r>
                        <a:rPr lang="en-US" sz="1100" b="1" kern="1200">
                          <a:solidFill>
                            <a:schemeClr val="dk1"/>
                          </a:solidFill>
                          <a:latin typeface="+mn-lt"/>
                          <a:ea typeface="+mn-ea"/>
                          <a:cs typeface="+mn-cs"/>
                        </a:rPr>
                        <a:t>/-</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solidFill>
                        <a:schemeClr val="bg1"/>
                      </a:solid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rtl="0" eaLnBrk="1" latinLnBrk="0" hangingPunct="1"/>
                      <a:r>
                        <a:rPr lang="en-US" sz="1100" b="0" i="0" u="none" strike="noStrike" kern="1200">
                          <a:solidFill>
                            <a:schemeClr val="dk1"/>
                          </a:solidFill>
                          <a:latin typeface="Calibri"/>
                          <a:ea typeface="+mn-ea"/>
                          <a:cs typeface="+mn-cs"/>
                        </a:rPr>
                        <a:t>DDDE/IT/Legal/R&amp;SP</a:t>
                      </a:r>
                    </a:p>
                  </a:txBody>
                  <a:tcPr marL="84406" marR="8440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lvl="0" algn="ctr">
                        <a:buNone/>
                      </a:pPr>
                      <a:r>
                        <a:rPr lang="en-US" sz="1100" b="0" i="0" u="none" strike="noStrike" kern="1200" noProof="0">
                          <a:solidFill>
                            <a:schemeClr val="dk1"/>
                          </a:solidFill>
                          <a:latin typeface="Calibri"/>
                        </a:rPr>
                        <a:t>All Company</a:t>
                      </a:r>
                      <a:endParaRPr lang="en-US"/>
                    </a:p>
                  </a:txBody>
                  <a:tcPr marL="84406" marR="84406" anchor="ctr">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9895E302-DB04-7E78-6F47-105A7012AA08}"/>
              </a:ext>
            </a:extLst>
          </p:cNvPr>
          <p:cNvGraphicFramePr>
            <a:graphicFrameLocks/>
          </p:cNvGraphicFramePr>
          <p:nvPr/>
        </p:nvGraphicFramePr>
        <p:xfrm>
          <a:off x="5313134" y="740228"/>
          <a:ext cx="6604003" cy="566675"/>
        </p:xfrm>
        <a:graphic>
          <a:graphicData uri="http://schemas.openxmlformats.org/drawingml/2006/table">
            <a:tbl>
              <a:tblPr firstRow="1" bandRow="1"/>
              <a:tblGrid>
                <a:gridCol w="1651001">
                  <a:extLst>
                    <a:ext uri="{9D8B030D-6E8A-4147-A177-3AD203B41FA5}">
                      <a16:colId xmlns:a16="http://schemas.microsoft.com/office/drawing/2014/main" val="20000"/>
                    </a:ext>
                  </a:extLst>
                </a:gridCol>
                <a:gridCol w="1686788">
                  <a:extLst>
                    <a:ext uri="{9D8B030D-6E8A-4147-A177-3AD203B41FA5}">
                      <a16:colId xmlns:a16="http://schemas.microsoft.com/office/drawing/2014/main" val="20001"/>
                    </a:ext>
                  </a:extLst>
                </a:gridCol>
                <a:gridCol w="1615213">
                  <a:extLst>
                    <a:ext uri="{9D8B030D-6E8A-4147-A177-3AD203B41FA5}">
                      <a16:colId xmlns:a16="http://schemas.microsoft.com/office/drawing/2014/main" val="20002"/>
                    </a:ext>
                  </a:extLst>
                </a:gridCol>
                <a:gridCol w="1651001">
                  <a:extLst>
                    <a:ext uri="{9D8B030D-6E8A-4147-A177-3AD203B41FA5}">
                      <a16:colId xmlns:a16="http://schemas.microsoft.com/office/drawing/2014/main" val="20003"/>
                    </a:ext>
                  </a:extLst>
                </a:gridCol>
              </a:tblGrid>
              <a:tr h="227035">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Overall</a:t>
                      </a:r>
                    </a:p>
                  </a:txBody>
                  <a:tcPr marL="84406" marR="84406">
                    <a:lnL w="12700" cap="flat" cmpd="sng" algn="ctr">
                      <a:solidFill>
                        <a:schemeClr val="bg1"/>
                      </a:solidFill>
                      <a:prstDash val="solid"/>
                      <a:round/>
                      <a:headEnd type="none" w="med" len="med"/>
                      <a:tailEnd type="none" w="med" len="med"/>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Schedule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Cost</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mn-lt"/>
                        </a:rPr>
                        <a:t>Scope</a:t>
                      </a:r>
                    </a:p>
                  </a:txBody>
                  <a:tcPr marL="84406" marR="84406">
                    <a:lnL w="12700" cmpd="sng">
                      <a:solidFill>
                        <a:schemeClr val="bg1"/>
                      </a:solidFill>
                    </a:lnL>
                    <a:lnR w="12700" cmpd="sng">
                      <a:solidFill>
                        <a:schemeClr val="bg1"/>
                      </a:solidFill>
                    </a:lnR>
                    <a:lnT w="12700" cap="flat" cmpd="sng" algn="ctr">
                      <a:solidFill>
                        <a:schemeClr val="bg1"/>
                      </a:solidFill>
                      <a:prstDash val="solid"/>
                      <a:round/>
                      <a:headEnd type="none" w="med" len="med"/>
                      <a:tailEnd type="none" w="med" len="med"/>
                    </a:lnT>
                    <a:lnB w="12700" cmpd="sng">
                      <a:solidFill>
                        <a:schemeClr val="bg1"/>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07595">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solidFill>
                          <a:schemeClr val="bg2"/>
                        </a:solidFill>
                      </a:endParaRPr>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200"/>
                    </a:p>
                  </a:txBody>
                  <a:tcPr marL="84406" marR="8440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27047014"/>
                  </a:ext>
                </a:extLst>
              </a:tr>
            </a:tbl>
          </a:graphicData>
        </a:graphic>
      </p:graphicFrame>
      <p:graphicFrame>
        <p:nvGraphicFramePr>
          <p:cNvPr id="7" name="Content Placeholder 4">
            <a:extLst>
              <a:ext uri="{FF2B5EF4-FFF2-40B4-BE49-F238E27FC236}">
                <a16:creationId xmlns:a16="http://schemas.microsoft.com/office/drawing/2014/main" id="{EFF5D4A1-87ED-D6A4-15C4-FD3286C9A5C8}"/>
              </a:ext>
            </a:extLst>
          </p:cNvPr>
          <p:cNvGraphicFramePr>
            <a:graphicFrameLocks/>
          </p:cNvGraphicFramePr>
          <p:nvPr>
            <p:extLst>
              <p:ext uri="{D42A27DB-BD31-4B8C-83A1-F6EECF244321}">
                <p14:modId xmlns:p14="http://schemas.microsoft.com/office/powerpoint/2010/main" val="1375517693"/>
              </p:ext>
            </p:extLst>
          </p:nvPr>
        </p:nvGraphicFramePr>
        <p:xfrm>
          <a:off x="5304063" y="1293585"/>
          <a:ext cx="6613074" cy="774259"/>
        </p:xfrm>
        <a:graphic>
          <a:graphicData uri="http://schemas.openxmlformats.org/drawingml/2006/table">
            <a:tbl>
              <a:tblPr firstRow="1" bandRow="1"/>
              <a:tblGrid>
                <a:gridCol w="1322615">
                  <a:extLst>
                    <a:ext uri="{9D8B030D-6E8A-4147-A177-3AD203B41FA5}">
                      <a16:colId xmlns:a16="http://schemas.microsoft.com/office/drawing/2014/main" val="20000"/>
                    </a:ext>
                  </a:extLst>
                </a:gridCol>
                <a:gridCol w="1165775">
                  <a:extLst>
                    <a:ext uri="{9D8B030D-6E8A-4147-A177-3AD203B41FA5}">
                      <a16:colId xmlns:a16="http://schemas.microsoft.com/office/drawing/2014/main" val="20001"/>
                    </a:ext>
                  </a:extLst>
                </a:gridCol>
                <a:gridCol w="1479454">
                  <a:extLst>
                    <a:ext uri="{9D8B030D-6E8A-4147-A177-3AD203B41FA5}">
                      <a16:colId xmlns:a16="http://schemas.microsoft.com/office/drawing/2014/main" val="20002"/>
                    </a:ext>
                  </a:extLst>
                </a:gridCol>
                <a:gridCol w="1322615">
                  <a:extLst>
                    <a:ext uri="{9D8B030D-6E8A-4147-A177-3AD203B41FA5}">
                      <a16:colId xmlns:a16="http://schemas.microsoft.com/office/drawing/2014/main" val="20003"/>
                    </a:ext>
                  </a:extLst>
                </a:gridCol>
                <a:gridCol w="1322615">
                  <a:extLst>
                    <a:ext uri="{9D8B030D-6E8A-4147-A177-3AD203B41FA5}">
                      <a16:colId xmlns:a16="http://schemas.microsoft.com/office/drawing/2014/main" val="1179070743"/>
                    </a:ext>
                  </a:extLst>
                </a:gridCol>
              </a:tblGrid>
              <a:tr h="347539">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baseline="0">
                          <a:latin typeface="Calibri"/>
                        </a:rPr>
                        <a:t>Project  Status</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Work Completed</a:t>
                      </a:r>
                      <a:r>
                        <a:rPr lang="en-US" sz="1100" baseline="0">
                          <a:latin typeface="Calibri"/>
                        </a:rPr>
                        <a:t> (%)</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100">
                          <a:latin typeface="Calibri"/>
                        </a:rPr>
                        <a:t>Baseline</a:t>
                      </a:r>
                      <a:r>
                        <a:rPr lang="en-US" sz="1100" baseline="0">
                          <a:latin typeface="Calibri"/>
                        </a:rPr>
                        <a:t> Budget</a:t>
                      </a:r>
                      <a:endParaRPr lang="en-US" sz="1100">
                        <a:latin typeface="Calibri"/>
                      </a:endParaRPr>
                    </a:p>
                  </a:txBody>
                  <a:tcPr marL="84406" marR="84406">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 Start Date</a:t>
                      </a:r>
                    </a:p>
                  </a:txBody>
                  <a:tcPr marL="84406" marR="84406">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lt1"/>
                          </a:solidFill>
                          <a:latin typeface="Calibri"/>
                          <a:ea typeface="+mn-ea"/>
                          <a:cs typeface="+mn-cs"/>
                        </a:rPr>
                        <a:t>Planned/Estimated Completion Date</a:t>
                      </a:r>
                    </a:p>
                  </a:txBody>
                  <a:tcPr marL="84406" marR="84406">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347539">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a:t>Implementation</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100" kern="1200">
                          <a:solidFill>
                            <a:schemeClr val="dk1"/>
                          </a:solidFill>
                          <a:latin typeface="Arial" panose="020B0604020202020204"/>
                          <a:ea typeface="+mn-ea"/>
                          <a:cs typeface="+mn-cs"/>
                        </a:rPr>
                        <a:t>65%</a:t>
                      </a:r>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lvl="0" algn="ctr" defTabSz="457198">
                        <a:buNone/>
                      </a:pPr>
                      <a:r>
                        <a:rPr lang="en-US" sz="1100" kern="1200">
                          <a:solidFill>
                            <a:schemeClr val="dk1"/>
                          </a:solidFill>
                          <a:latin typeface="Arial" panose="020B0604020202020204"/>
                          <a:ea typeface="+mn-ea"/>
                          <a:cs typeface="+mn-cs"/>
                        </a:rPr>
                        <a:t>-</a:t>
                      </a:r>
                      <a:endParaRPr lang="en-US"/>
                    </a:p>
                  </a:txBody>
                  <a:tcPr marL="84406" marR="84406">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lvl="0" algn="ctr">
                        <a:buNone/>
                      </a:pPr>
                      <a:r>
                        <a:rPr lang="en-US" sz="1100"/>
                        <a:t>26/5/25</a:t>
                      </a:r>
                      <a:endParaRPr lang="en-US"/>
                    </a:p>
                  </a:txBody>
                  <a:tcPr marL="84406" marR="84406">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tc>
                  <a:txBody>
                    <a:bodyPr/>
                    <a:lstStyle/>
                    <a:p>
                      <a:pPr lvl="0" algn="ctr">
                        <a:buNone/>
                      </a:pPr>
                      <a:r>
                        <a:rPr lang="en-US" sz="1100" kern="1200" noProof="0">
                          <a:solidFill>
                            <a:schemeClr val="dk1"/>
                          </a:solidFill>
                          <a:latin typeface="Arial" panose="020B0604020202020204"/>
                          <a:ea typeface="+mn-ea"/>
                          <a:cs typeface="+mn-cs"/>
                        </a:rPr>
                        <a:t>21/7/25</a:t>
                      </a:r>
                    </a:p>
                  </a:txBody>
                  <a:tcPr marL="84406" marR="84406">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12" name="Table 11">
            <a:extLst>
              <a:ext uri="{FF2B5EF4-FFF2-40B4-BE49-F238E27FC236}">
                <a16:creationId xmlns:a16="http://schemas.microsoft.com/office/drawing/2014/main" id="{B29731F2-B324-A3ED-F350-0F2A492D9243}"/>
              </a:ext>
            </a:extLst>
          </p:cNvPr>
          <p:cNvGraphicFramePr>
            <a:graphicFrameLocks noGrp="1"/>
          </p:cNvGraphicFramePr>
          <p:nvPr>
            <p:extLst>
              <p:ext uri="{D42A27DB-BD31-4B8C-83A1-F6EECF244321}">
                <p14:modId xmlns:p14="http://schemas.microsoft.com/office/powerpoint/2010/main" val="588828921"/>
              </p:ext>
            </p:extLst>
          </p:nvPr>
        </p:nvGraphicFramePr>
        <p:xfrm>
          <a:off x="258066" y="2103285"/>
          <a:ext cx="11683580" cy="1232677"/>
        </p:xfrm>
        <a:graphic>
          <a:graphicData uri="http://schemas.openxmlformats.org/drawingml/2006/table">
            <a:tbl>
              <a:tblPr firstRow="1" bandRow="1"/>
              <a:tblGrid>
                <a:gridCol w="3493300">
                  <a:extLst>
                    <a:ext uri="{9D8B030D-6E8A-4147-A177-3AD203B41FA5}">
                      <a16:colId xmlns:a16="http://schemas.microsoft.com/office/drawing/2014/main" val="20000"/>
                    </a:ext>
                  </a:extLst>
                </a:gridCol>
                <a:gridCol w="885137">
                  <a:extLst>
                    <a:ext uri="{9D8B030D-6E8A-4147-A177-3AD203B41FA5}">
                      <a16:colId xmlns:a16="http://schemas.microsoft.com/office/drawing/2014/main" val="20001"/>
                    </a:ext>
                  </a:extLst>
                </a:gridCol>
                <a:gridCol w="2040473">
                  <a:extLst>
                    <a:ext uri="{9D8B030D-6E8A-4147-A177-3AD203B41FA5}">
                      <a16:colId xmlns:a16="http://schemas.microsoft.com/office/drawing/2014/main" val="20002"/>
                    </a:ext>
                  </a:extLst>
                </a:gridCol>
                <a:gridCol w="5264670">
                  <a:extLst>
                    <a:ext uri="{9D8B030D-6E8A-4147-A177-3AD203B41FA5}">
                      <a16:colId xmlns:a16="http://schemas.microsoft.com/office/drawing/2014/main" val="20005"/>
                    </a:ext>
                  </a:extLst>
                </a:gridCol>
              </a:tblGrid>
              <a:tr h="346682">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400" b="0">
                          <a:effectLst/>
                        </a:rPr>
                        <a:t>Phases/Milestones/Deliverables</a:t>
                      </a:r>
                      <a:endParaRPr lang="en-US" sz="1400">
                        <a:effectLst/>
                      </a:endParaRPr>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R/A/G</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Estimated Delivery Date</a:t>
                      </a:r>
                      <a:endParaRPr lang="en-US" sz="1400"/>
                    </a:p>
                  </a:txBody>
                  <a:tcPr marL="36000" marR="36000" marT="36000" marB="36000">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GB" sz="1400"/>
                        <a:t>Remarks on progress</a:t>
                      </a:r>
                      <a:endParaRPr lang="en-US" sz="1400"/>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48235">
                <a:tc>
                  <a:txBody>
                    <a:bodyPr/>
                    <a:lstStyle/>
                    <a:p>
                      <a:pPr lvl="0" algn="l">
                        <a:lnSpc>
                          <a:spcPct val="100000"/>
                        </a:lnSpc>
                        <a:spcBef>
                          <a:spcPts val="0"/>
                        </a:spcBef>
                        <a:spcAft>
                          <a:spcPts val="0"/>
                        </a:spcAft>
                        <a:buNone/>
                      </a:pPr>
                      <a:r>
                        <a:rPr lang="en-US" sz="1200" kern="1200" noProof="0">
                          <a:solidFill>
                            <a:schemeClr val="dk1"/>
                          </a:solidFill>
                          <a:latin typeface="Calibri"/>
                          <a:ea typeface="+mn-ea"/>
                          <a:cs typeface="+mn-cs"/>
                        </a:rPr>
                        <a:t>Phase A | Application </a:t>
                      </a:r>
                      <a:r>
                        <a:rPr lang="en-US" sz="1200" kern="1200" noProof="0" err="1">
                          <a:solidFill>
                            <a:schemeClr val="dk1"/>
                          </a:solidFill>
                          <a:latin typeface="Calibri"/>
                          <a:ea typeface="+mn-ea"/>
                          <a:cs typeface="+mn-cs"/>
                        </a:rPr>
                        <a:t>Documetation</a:t>
                      </a:r>
                      <a:r>
                        <a:rPr lang="en-US" sz="1200" kern="1200" noProof="0">
                          <a:solidFill>
                            <a:schemeClr val="dk1"/>
                          </a:solidFill>
                          <a:latin typeface="Calibri"/>
                          <a:ea typeface="+mn-ea"/>
                          <a:cs typeface="+mn-cs"/>
                        </a:rPr>
                        <a:t> gathering and assessment</a:t>
                      </a:r>
                      <a:endParaRPr lang="en-US" sz="1200" b="0" i="0" u="none" strike="noStrike" kern="1200" noProof="0">
                        <a:solidFill>
                          <a:schemeClr val="dk1"/>
                        </a:solidFill>
                      </a:endParaRPr>
                    </a:p>
                  </a:txBody>
                  <a:tcPr marL="36000" marR="36000" marT="36000" marB="36000">
                    <a:lnL w="12700">
                      <a:solidFill>
                        <a:sysClr val="window" lastClr="FFFFFF"/>
                      </a:solidFill>
                    </a:lnL>
                    <a:lnR w="12700">
                      <a:solidFill>
                        <a:sysClr val="window" lastClr="FFFFFF"/>
                      </a:solidFill>
                    </a:lnR>
                    <a:lnT w="38100" cap="flat" cmpd="sng" algn="ctr">
                      <a:solidFill>
                        <a:sysClr val="window" lastClr="FFFFFF"/>
                      </a:solidFill>
                      <a:prstDash val="solid"/>
                      <a:round/>
                      <a:headEnd type="none" w="med" len="med"/>
                      <a:tailEnd type="none" w="med" len="med"/>
                    </a:lnT>
                    <a:lnB w="38099">
                      <a:solidFill>
                        <a:sysClr val="window" lastClr="FFFFFF"/>
                      </a:solidFill>
                    </a:lnB>
                    <a:lnTlToBr w="0">
                      <a:noFill/>
                    </a:lnTlToBr>
                    <a:lnBlToTr w="0">
                      <a:noFill/>
                    </a:lnBlToTr>
                    <a:solidFill>
                      <a:schemeClr val="accent4">
                        <a:lumMod val="20000"/>
                        <a:lumOff val="80000"/>
                      </a:schemeClr>
                    </a:solidFill>
                  </a:tcPr>
                </a:tc>
                <a:tc>
                  <a:txBody>
                    <a:bodyPr/>
                    <a:lstStyle/>
                    <a:p>
                      <a:pPr lvl="0" algn="ctr">
                        <a:buNone/>
                      </a:pPr>
                      <a:r>
                        <a:rPr lang="en-US" sz="1200">
                          <a:solidFill>
                            <a:schemeClr val="bg1"/>
                          </a:solidFill>
                        </a:rPr>
                        <a:t>G</a:t>
                      </a:r>
                      <a:endParaRPr lang="en-US"/>
                    </a:p>
                  </a:txBody>
                  <a:tcPr marL="36000" marR="36000" marT="36000" marB="36000">
                    <a:lnL w="12700">
                      <a:solidFill>
                        <a:sysClr val="window" lastClr="FFFFFF"/>
                      </a:solidFill>
                    </a:lnL>
                    <a:lnR w="12700">
                      <a:solidFill>
                        <a:sysClr val="window" lastClr="FFFFFF"/>
                      </a:solidFill>
                    </a:lnR>
                    <a:lnT w="38100" cap="flat" cmpd="sng" algn="ctr">
                      <a:solidFill>
                        <a:sysClr val="window" lastClr="FFFFFF"/>
                      </a:solidFill>
                      <a:prstDash val="solid"/>
                      <a:round/>
                      <a:headEnd type="none" w="med" len="med"/>
                      <a:tailEnd type="none" w="med" len="med"/>
                    </a:lnT>
                    <a:lnB w="38099">
                      <a:solidFill>
                        <a:sysClr val="window" lastClr="FFFFFF"/>
                      </a:solidFill>
                    </a:lnB>
                    <a:lnTlToBr w="0">
                      <a:noFill/>
                    </a:lnTlToBr>
                    <a:lnBlToTr w="0">
                      <a:noFill/>
                    </a:lnBlToTr>
                    <a:solidFill>
                      <a:srgbClr val="00B050"/>
                    </a:solidFill>
                  </a:tcPr>
                </a:tc>
                <a:tc>
                  <a:txBody>
                    <a:bodyPr/>
                    <a:lstStyle/>
                    <a:p>
                      <a:pPr lvl="0" algn="ctr">
                        <a:lnSpc>
                          <a:spcPct val="100000"/>
                        </a:lnSpc>
                        <a:spcBef>
                          <a:spcPts val="0"/>
                        </a:spcBef>
                        <a:spcAft>
                          <a:spcPts val="0"/>
                        </a:spcAft>
                        <a:buNone/>
                      </a:pPr>
                      <a:r>
                        <a:rPr lang="en-US" sz="1200" kern="1200" noProof="0">
                          <a:solidFill>
                            <a:schemeClr val="dk1"/>
                          </a:solidFill>
                          <a:latin typeface="Calibri"/>
                          <a:ea typeface="+mn-ea"/>
                          <a:cs typeface="+mn-cs"/>
                        </a:rPr>
                        <a:t>Done</a:t>
                      </a:r>
                      <a:endParaRPr lang="en-US"/>
                    </a:p>
                  </a:txBody>
                  <a:tcPr marL="36000" marR="36000" marT="36000" marB="36000">
                    <a:lnL w="12700">
                      <a:solidFill>
                        <a:sysClr val="window" lastClr="FFFFFF"/>
                      </a:solidFill>
                    </a:lnL>
                    <a:lnR w="12700">
                      <a:solidFill>
                        <a:sysClr val="window" lastClr="FFFFFF"/>
                      </a:solidFill>
                    </a:lnR>
                    <a:lnT w="38100" cap="flat" cmpd="sng" algn="ctr">
                      <a:solidFill>
                        <a:sysClr val="window" lastClr="FFFFFF"/>
                      </a:solidFill>
                      <a:prstDash val="solid"/>
                      <a:round/>
                      <a:headEnd type="none" w="med" len="med"/>
                      <a:tailEnd type="none" w="med" len="med"/>
                    </a:lnT>
                    <a:lnB w="38099">
                      <a:solidFill>
                        <a:sysClr val="window" lastClr="FFFFFF"/>
                      </a:solidFill>
                    </a:lnB>
                    <a:lnTlToBr w="0">
                      <a:noFill/>
                    </a:lnTlToBr>
                    <a:lnBlToTr w="0">
                      <a:noFill/>
                    </a:lnBlToTr>
                    <a:solidFill>
                      <a:schemeClr val="accent4">
                        <a:lumMod val="20000"/>
                        <a:lumOff val="80000"/>
                      </a:schemeClr>
                    </a:solidFill>
                  </a:tcPr>
                </a:tc>
                <a:tc>
                  <a:txBody>
                    <a:bodyPr/>
                    <a:lstStyle/>
                    <a:p>
                      <a:pPr lvl="0" algn="l">
                        <a:lnSpc>
                          <a:spcPct val="100000"/>
                        </a:lnSpc>
                        <a:spcBef>
                          <a:spcPts val="0"/>
                        </a:spcBef>
                        <a:spcAft>
                          <a:spcPts val="0"/>
                        </a:spcAft>
                        <a:buNone/>
                      </a:pPr>
                      <a:r>
                        <a:rPr lang="en-US" sz="1200" b="0" i="0" u="none" strike="noStrike" noProof="0">
                          <a:solidFill>
                            <a:srgbClr val="2E5684"/>
                          </a:solidFill>
                          <a:latin typeface="Calibri"/>
                        </a:rPr>
                        <a:t>In Progress – Workshop with vendors for high risk systems</a:t>
                      </a:r>
                      <a:endParaRPr lang="en-US"/>
                    </a:p>
                  </a:txBody>
                  <a:tcPr marL="36000" marR="36000" marT="36000" marB="36000">
                    <a:lnL w="12700">
                      <a:solidFill>
                        <a:sysClr val="window" lastClr="FFFFFF"/>
                      </a:solidFill>
                    </a:lnL>
                    <a:lnR w="12700">
                      <a:solidFill>
                        <a:sysClr val="window" lastClr="FFFFFF"/>
                      </a:solidFill>
                    </a:lnR>
                    <a:lnT w="38100" cap="flat" cmpd="sng" algn="ctr">
                      <a:solidFill>
                        <a:sysClr val="window" lastClr="FFFFFF"/>
                      </a:solidFill>
                      <a:prstDash val="solid"/>
                      <a:round/>
                      <a:headEnd type="none" w="med" len="med"/>
                      <a:tailEnd type="none" w="med" len="med"/>
                    </a:lnT>
                    <a:lnB w="38099">
                      <a:solidFill>
                        <a:sysClr val="window" lastClr="FFFFFF"/>
                      </a:solidFill>
                    </a:lnB>
                    <a:lnTlToBr w="0">
                      <a:noFill/>
                    </a:lnTlToBr>
                    <a:lnBlToTr w="0">
                      <a:noFill/>
                    </a:lnBlToTr>
                    <a:solidFill>
                      <a:schemeClr val="accent4">
                        <a:lumMod val="20000"/>
                        <a:lumOff val="80000"/>
                      </a:schemeClr>
                    </a:solidFill>
                  </a:tcPr>
                </a:tc>
                <a:extLst>
                  <a:ext uri="{0D108BD9-81ED-4DB2-BD59-A6C34878D82A}">
                    <a16:rowId xmlns:a16="http://schemas.microsoft.com/office/drawing/2014/main" val="4196185310"/>
                  </a:ext>
                </a:extLst>
              </a:tr>
              <a:tr h="295699">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lnSpc>
                          <a:spcPct val="100000"/>
                        </a:lnSpc>
                        <a:spcBef>
                          <a:spcPts val="0"/>
                        </a:spcBef>
                        <a:spcAft>
                          <a:spcPts val="0"/>
                        </a:spcAft>
                        <a:buNone/>
                      </a:pPr>
                      <a:r>
                        <a:rPr lang="en-US" sz="1200" kern="1200" noProof="0">
                          <a:solidFill>
                            <a:schemeClr val="dk1"/>
                          </a:solidFill>
                          <a:latin typeface="Calibri"/>
                          <a:ea typeface="+mn-ea"/>
                          <a:cs typeface="+mn-cs"/>
                        </a:rPr>
                        <a:t>Phase </a:t>
                      </a:r>
                      <a:r>
                        <a:rPr lang="en-US" sz="1200" b="0" kern="1200" noProof="0">
                          <a:solidFill>
                            <a:schemeClr val="dk1"/>
                          </a:solidFill>
                          <a:latin typeface="Calibri"/>
                          <a:ea typeface="+mn-ea"/>
                          <a:cs typeface="+mn-cs"/>
                        </a:rPr>
                        <a:t>B </a:t>
                      </a:r>
                      <a:r>
                        <a:rPr lang="en-US" sz="1200" kern="1200" noProof="0">
                          <a:solidFill>
                            <a:schemeClr val="dk1"/>
                          </a:solidFill>
                          <a:latin typeface="Calibri"/>
                          <a:ea typeface="+mn-ea"/>
                          <a:cs typeface="+mn-cs"/>
                        </a:rPr>
                        <a:t>| Policies and Processes gathering and assessment – Gap Analysis</a:t>
                      </a:r>
                    </a:p>
                  </a:txBody>
                  <a:tcPr marL="36000" marR="36000" marT="36000" marB="36000">
                    <a:lnL w="12700" cmpd="sng">
                      <a:solidFill>
                        <a:sysClr val="window" lastClr="FFFFFF"/>
                      </a:solidFill>
                    </a:lnL>
                    <a:lnR w="12700" cap="flat" cmpd="sng" algn="ctr">
                      <a:solidFill>
                        <a:sysClr val="window" lastClr="FFFFFF"/>
                      </a:solidFill>
                      <a:prstDash val="solid"/>
                      <a:round/>
                      <a:headEnd type="none" w="med" len="med"/>
                      <a:tailEnd type="none" w="med" len="med"/>
                    </a:lnR>
                    <a:lnT w="38099" cap="flat" cmpd="sng" algn="ctr">
                      <a:solidFill>
                        <a:sysClr val="window" lastClr="FFFFFF"/>
                      </a:solidFill>
                      <a:prstDash val="solid"/>
                      <a:round/>
                      <a:headEnd type="none" w="med" len="med"/>
                      <a:tailEnd type="none" w="med" len="med"/>
                    </a:lnT>
                    <a:lnB w="38100" cmpd="sng">
                      <a:solidFill>
                        <a:sysClr val="window" lastClr="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200">
                          <a:solidFill>
                            <a:schemeClr val="bg1"/>
                          </a:solidFill>
                        </a:rPr>
                        <a:t>G</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099" cap="flat" cmpd="sng" algn="ctr">
                      <a:solidFill>
                        <a:sysClr val="window" lastClr="FFFFFF"/>
                      </a:solidFill>
                      <a:prstDash val="solid"/>
                      <a:round/>
                      <a:headEnd type="none" w="med" len="med"/>
                      <a:tailEnd type="none" w="med" len="med"/>
                    </a:lnT>
                    <a:lnB w="38100" cmpd="sng">
                      <a:solidFill>
                        <a:sysClr val="window" lastClr="FFFFFF"/>
                      </a:solidFill>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ctr">
                        <a:lnSpc>
                          <a:spcPct val="100000"/>
                        </a:lnSpc>
                        <a:spcBef>
                          <a:spcPts val="0"/>
                        </a:spcBef>
                        <a:spcAft>
                          <a:spcPts val="0"/>
                        </a:spcAft>
                        <a:buNone/>
                      </a:pPr>
                      <a:r>
                        <a:rPr lang="en-US" sz="1200" kern="1200" noProof="0">
                          <a:solidFill>
                            <a:schemeClr val="dk1"/>
                          </a:solidFill>
                          <a:latin typeface="Calibri"/>
                          <a:ea typeface="+mn-ea"/>
                          <a:cs typeface="+mn-cs"/>
                        </a:rPr>
                        <a:t>11/7/25</a:t>
                      </a:r>
                    </a:p>
                  </a:txBody>
                  <a:tcPr marL="36000" marR="36000" marT="36000" marB="36000">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099" cap="flat" cmpd="sng" algn="ctr">
                      <a:solidFill>
                        <a:sysClr val="window" lastClr="FFFFFF"/>
                      </a:solidFill>
                      <a:prstDash val="solid"/>
                      <a:round/>
                      <a:headEnd type="none" w="med" len="med"/>
                      <a:tailEnd type="none" w="med" len="med"/>
                    </a:lnT>
                    <a:lnB w="38100" cmpd="sng">
                      <a:solidFill>
                        <a:sysClr val="window" lastClr="FFFFFF"/>
                      </a:solidFill>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lvl="0" algn="l">
                        <a:lnSpc>
                          <a:spcPct val="100000"/>
                        </a:lnSpc>
                        <a:spcBef>
                          <a:spcPts val="0"/>
                        </a:spcBef>
                        <a:spcAft>
                          <a:spcPts val="0"/>
                        </a:spcAft>
                        <a:buNone/>
                      </a:pPr>
                      <a:r>
                        <a:rPr lang="en-US" sz="1200" b="0" i="0" u="none" strike="noStrike" noProof="0">
                          <a:solidFill>
                            <a:srgbClr val="2E5684"/>
                          </a:solidFill>
                          <a:latin typeface="Calibri"/>
                        </a:rPr>
                        <a:t>In Progress – Workshop with vendors for clarifications and guidance</a:t>
                      </a:r>
                    </a:p>
                  </a:txBody>
                  <a:tcPr marL="36000" marR="36000" marT="36000" marB="36000">
                    <a:lnL w="12700" cap="flat" cmpd="sng" algn="ctr">
                      <a:solidFill>
                        <a:sysClr val="window" lastClr="FFFFFF"/>
                      </a:solidFill>
                      <a:prstDash val="solid"/>
                      <a:round/>
                      <a:headEnd type="none" w="med" len="med"/>
                      <a:tailEnd type="none" w="med" len="med"/>
                    </a:lnL>
                    <a:lnR w="12700" cmpd="sng">
                      <a:solidFill>
                        <a:sysClr val="window" lastClr="FFFFFF"/>
                      </a:solidFill>
                    </a:lnR>
                    <a:lnT w="38099"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2038214"/>
                  </a:ext>
                </a:extLst>
              </a:tr>
            </a:tbl>
          </a:graphicData>
        </a:graphic>
      </p:graphicFrame>
      <p:graphicFrame>
        <p:nvGraphicFramePr>
          <p:cNvPr id="13" name="Table 12">
            <a:extLst>
              <a:ext uri="{FF2B5EF4-FFF2-40B4-BE49-F238E27FC236}">
                <a16:creationId xmlns:a16="http://schemas.microsoft.com/office/drawing/2014/main" id="{D5767381-ACCD-371E-700B-79501AA8B0E6}"/>
              </a:ext>
            </a:extLst>
          </p:cNvPr>
          <p:cNvGraphicFramePr>
            <a:graphicFrameLocks noGrp="1"/>
          </p:cNvGraphicFramePr>
          <p:nvPr>
            <p:extLst>
              <p:ext uri="{D42A27DB-BD31-4B8C-83A1-F6EECF244321}">
                <p14:modId xmlns:p14="http://schemas.microsoft.com/office/powerpoint/2010/main" val="1850741685"/>
              </p:ext>
            </p:extLst>
          </p:nvPr>
        </p:nvGraphicFramePr>
        <p:xfrm>
          <a:off x="251442" y="32930"/>
          <a:ext cx="4958664" cy="406005"/>
        </p:xfrm>
        <a:graphic>
          <a:graphicData uri="http://schemas.openxmlformats.org/drawingml/2006/table">
            <a:tbl>
              <a:tblPr firstRow="1" bandRow="1"/>
              <a:tblGrid>
                <a:gridCol w="1254142">
                  <a:extLst>
                    <a:ext uri="{9D8B030D-6E8A-4147-A177-3AD203B41FA5}">
                      <a16:colId xmlns:a16="http://schemas.microsoft.com/office/drawing/2014/main" val="110687116"/>
                    </a:ext>
                  </a:extLst>
                </a:gridCol>
                <a:gridCol w="3704522">
                  <a:extLst>
                    <a:ext uri="{9D8B030D-6E8A-4147-A177-3AD203B41FA5}">
                      <a16:colId xmlns:a16="http://schemas.microsoft.com/office/drawing/2014/main" val="3314271387"/>
                    </a:ext>
                  </a:extLst>
                </a:gridCol>
              </a:tblGrid>
              <a:tr h="40600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Name</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lvl="0" algn="ctr">
                        <a:buNone/>
                      </a:pPr>
                      <a:r>
                        <a:rPr lang="en-US" sz="1100" b="1" i="0" u="none" strike="noStrike" kern="1200" noProof="0">
                          <a:solidFill>
                            <a:schemeClr val="dk1"/>
                          </a:solidFill>
                          <a:effectLst/>
                        </a:rPr>
                        <a:t>AI Act</a:t>
                      </a: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graphicFrame>
        <p:nvGraphicFramePr>
          <p:cNvPr id="14" name="Table 13">
            <a:extLst>
              <a:ext uri="{FF2B5EF4-FFF2-40B4-BE49-F238E27FC236}">
                <a16:creationId xmlns:a16="http://schemas.microsoft.com/office/drawing/2014/main" id="{7FDF415C-146D-59A4-EB8B-ABB56485803B}"/>
              </a:ext>
            </a:extLst>
          </p:cNvPr>
          <p:cNvGraphicFramePr>
            <a:graphicFrameLocks noGrp="1"/>
          </p:cNvGraphicFramePr>
          <p:nvPr>
            <p:extLst>
              <p:ext uri="{D42A27DB-BD31-4B8C-83A1-F6EECF244321}">
                <p14:modId xmlns:p14="http://schemas.microsoft.com/office/powerpoint/2010/main" val="973124651"/>
              </p:ext>
            </p:extLst>
          </p:nvPr>
        </p:nvGraphicFramePr>
        <p:xfrm>
          <a:off x="278141" y="3511264"/>
          <a:ext cx="11666171" cy="1554480"/>
        </p:xfrm>
        <a:graphic>
          <a:graphicData uri="http://schemas.openxmlformats.org/drawingml/2006/table">
            <a:tbl>
              <a:tblPr>
                <a:tableStyleId>{5C22544A-7EE6-4342-B048-85BDC9FD1C3A}</a:tableStyleId>
              </a:tblPr>
              <a:tblGrid>
                <a:gridCol w="4148767">
                  <a:extLst>
                    <a:ext uri="{9D8B030D-6E8A-4147-A177-3AD203B41FA5}">
                      <a16:colId xmlns:a16="http://schemas.microsoft.com/office/drawing/2014/main" val="3768886055"/>
                    </a:ext>
                  </a:extLst>
                </a:gridCol>
                <a:gridCol w="7517404">
                  <a:extLst>
                    <a:ext uri="{9D8B030D-6E8A-4147-A177-3AD203B41FA5}">
                      <a16:colId xmlns:a16="http://schemas.microsoft.com/office/drawing/2014/main" val="2712732260"/>
                    </a:ext>
                  </a:extLst>
                </a:gridCol>
              </a:tblGrid>
              <a:tr h="125128">
                <a:tc>
                  <a:txBody>
                    <a:bodyPr/>
                    <a:lstStyle/>
                    <a:p>
                      <a:pPr algn="ctr" fontAlgn="ctr"/>
                      <a:r>
                        <a:rPr lang="en-US" sz="1400" b="1" u="none" strike="noStrike">
                          <a:effectLst/>
                        </a:rPr>
                        <a:t>Activities Performed &amp; Milestones Achieved</a:t>
                      </a:r>
                      <a:endParaRPr lang="en-US" sz="14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tc>
                  <a:txBody>
                    <a:bodyPr/>
                    <a:lstStyle/>
                    <a:p>
                      <a:pPr algn="ctr" fontAlgn="ctr"/>
                      <a:r>
                        <a:rPr lang="en-US" sz="1400" b="1" u="none" strike="noStrike">
                          <a:effectLst/>
                        </a:rPr>
                        <a:t>Major Action Items - Upcoming Activities - Comments</a:t>
                      </a:r>
                      <a:endParaRPr lang="en-US" sz="1400" b="1" i="0" u="none" strike="noStrike">
                        <a:solidFill>
                          <a:srgbClr val="000000"/>
                        </a:solidFill>
                        <a:effectLst/>
                        <a:latin typeface="Calibri" panose="020F0502020204030204" pitchFamily="34" charset="0"/>
                      </a:endParaRPr>
                    </a:p>
                  </a:txBody>
                  <a:tcPr marL="0" marR="0" marT="0" marB="0" anchor="ctr">
                    <a:solidFill>
                      <a:schemeClr val="accent5">
                        <a:lumMod val="90000"/>
                      </a:schemeClr>
                    </a:solidFill>
                  </a:tcPr>
                </a:tc>
                <a:extLst>
                  <a:ext uri="{0D108BD9-81ED-4DB2-BD59-A6C34878D82A}">
                    <a16:rowId xmlns:a16="http://schemas.microsoft.com/office/drawing/2014/main" val="2763828571"/>
                  </a:ext>
                </a:extLst>
              </a:tr>
              <a:tr h="426573">
                <a:tc>
                  <a:txBody>
                    <a:bodyPr/>
                    <a:lstStyle/>
                    <a:p>
                      <a:pPr marL="171450" marR="0" lvl="0" indent="-171450" algn="l">
                        <a:buClr>
                          <a:srgbClr val="2E5684"/>
                        </a:buClr>
                        <a:buSzTx/>
                        <a:buFont typeface="Arial"/>
                        <a:buChar char="•"/>
                      </a:pPr>
                      <a:r>
                        <a:rPr lang="en-US" sz="1200" b="0" i="0" u="none" strike="noStrike" kern="1200" noProof="0">
                          <a:solidFill>
                            <a:schemeClr val="dk1"/>
                          </a:solidFill>
                          <a:latin typeface="Calibri"/>
                        </a:rPr>
                        <a:t>Kick-off with HelleniQ Energy and the vendors</a:t>
                      </a:r>
                      <a:endParaRPr lang="en-US" sz="1200" b="0" i="0" u="none" strike="noStrike" kern="1200" noProof="0">
                        <a:solidFill>
                          <a:srgbClr val="2E5684"/>
                        </a:solidFill>
                        <a:latin typeface="Calibri"/>
                      </a:endParaRPr>
                    </a:p>
                    <a:p>
                      <a:pPr marL="171450" marR="0" lvl="0" indent="-171450" algn="l">
                        <a:buClr>
                          <a:srgbClr val="2E5684"/>
                        </a:buClr>
                        <a:buSzTx/>
                        <a:buFont typeface="Arial,Sans-Serif"/>
                        <a:buChar char="•"/>
                      </a:pPr>
                      <a:r>
                        <a:rPr lang="en-US" sz="1100" b="0" i="0" u="none" strike="noStrike" kern="1200" noProof="0">
                          <a:solidFill>
                            <a:srgbClr val="2E5684"/>
                          </a:solidFill>
                          <a:latin typeface="Calibri"/>
                        </a:rPr>
                        <a:t>AI System Registry Finalization and Classification</a:t>
                      </a:r>
                    </a:p>
                    <a:p>
                      <a:pPr marL="171450" marR="0" lvl="0" indent="-171450" algn="l">
                        <a:buClr>
                          <a:srgbClr val="2E5684"/>
                        </a:buClr>
                        <a:buSzTx/>
                        <a:buFont typeface="Arial"/>
                        <a:buChar char="•"/>
                      </a:pPr>
                      <a:endParaRPr lang="en-US" sz="1200" b="0" i="0" u="none" strike="noStrike" kern="1200" noProof="0">
                        <a:solidFill>
                          <a:schemeClr val="dk1"/>
                        </a:solidFill>
                        <a:latin typeface="Calibri"/>
                      </a:endParaRPr>
                    </a:p>
                    <a:p>
                      <a:pPr marL="171450" marR="0" lvl="0" indent="-171450" algn="l">
                        <a:lnSpc>
                          <a:spcPct val="100000"/>
                        </a:lnSpc>
                        <a:spcBef>
                          <a:spcPts val="0"/>
                        </a:spcBef>
                        <a:spcAft>
                          <a:spcPts val="0"/>
                        </a:spcAft>
                        <a:buClrTx/>
                        <a:buSzTx/>
                        <a:buFont typeface="Arial"/>
                        <a:buChar char="•"/>
                      </a:pPr>
                      <a:endParaRPr lang="en-US" sz="1200" b="0" i="0" u="none" strike="noStrike" kern="1200" noProof="0">
                        <a:solidFill>
                          <a:schemeClr val="dk1"/>
                        </a:solidFill>
                        <a:latin typeface="Calibri"/>
                      </a:endParaRPr>
                    </a:p>
                    <a:p>
                      <a:pPr marL="171450" marR="0" lvl="0" indent="-171450" algn="l">
                        <a:lnSpc>
                          <a:spcPct val="100000"/>
                        </a:lnSpc>
                        <a:spcBef>
                          <a:spcPts val="0"/>
                        </a:spcBef>
                        <a:spcAft>
                          <a:spcPts val="0"/>
                        </a:spcAft>
                        <a:buClrTx/>
                        <a:buSzTx/>
                        <a:buFont typeface="Arial"/>
                        <a:buChar char="•"/>
                      </a:pPr>
                      <a:endParaRPr lang="en-US" sz="1200" b="0" i="0" u="none" strike="noStrike" kern="1200" noProof="0">
                        <a:solidFill>
                          <a:srgbClr val="2E5684"/>
                        </a:solidFill>
                        <a:latin typeface="Calibri"/>
                      </a:endParaRPr>
                    </a:p>
                    <a:p>
                      <a:pPr marL="0" lvl="0" indent="0" algn="ctr">
                        <a:buFont typeface="Arial"/>
                        <a:buNone/>
                      </a:pPr>
                      <a:endParaRPr lang="el-GR" sz="1100" u="none" strike="noStrike">
                        <a:effectLst/>
                      </a:endParaRPr>
                    </a:p>
                  </a:txBody>
                  <a:tcPr marL="0" marR="0" marT="0" marB="0">
                    <a:lnL w="12700" cmpd="sng">
                      <a:solidFill>
                        <a:sysClr val="window" lastClr="FFFFFF"/>
                      </a:solidFill>
                    </a:lnL>
                    <a:lnR w="12700" cap="flat" cmpd="sng" algn="ctr">
                      <a:solidFill>
                        <a:sysClr val="window" lastClr="FFFFFF"/>
                      </a:solidFill>
                      <a:prstDash val="solid"/>
                      <a:round/>
                      <a:headEnd type="none" w="med" len="med"/>
                      <a:tailEnd type="none" w="med" len="med"/>
                    </a:lnR>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71450" lvl="0" indent="-171450" algn="l">
                        <a:buFont typeface="Arial"/>
                        <a:buChar char="•"/>
                      </a:pPr>
                      <a:r>
                        <a:rPr lang="en-US" sz="1100" u="none" strike="noStrike">
                          <a:effectLst/>
                        </a:rPr>
                        <a:t>Bias &amp; Fairness Monitoring Plan</a:t>
                      </a:r>
                    </a:p>
                    <a:p>
                      <a:pPr marL="171450" lvl="0" indent="-171450" algn="l">
                        <a:buFont typeface="Arial"/>
                        <a:buChar char="•"/>
                      </a:pPr>
                      <a:r>
                        <a:rPr lang="en-US" sz="1100" u="none" strike="noStrike">
                          <a:effectLst/>
                        </a:rPr>
                        <a:t>AI Procurement &amp; Contractual Compliance Assessment</a:t>
                      </a:r>
                    </a:p>
                    <a:p>
                      <a:pPr marL="171450" lvl="0" indent="-171450" algn="l">
                        <a:buFont typeface="Arial"/>
                        <a:buChar char="•"/>
                      </a:pPr>
                      <a:r>
                        <a:rPr lang="en-US" sz="1100" u="none" strike="noStrike">
                          <a:effectLst/>
                        </a:rPr>
                        <a:t>Create Vendor Assessment Questionnaire</a:t>
                      </a:r>
                    </a:p>
                    <a:p>
                      <a:pPr marL="171450" lvl="0" indent="-171450" algn="l">
                        <a:buFont typeface="Arial"/>
                        <a:buChar char="•"/>
                      </a:pPr>
                      <a:r>
                        <a:rPr lang="en-US" sz="1100" u="none" strike="noStrike">
                          <a:effectLst/>
                        </a:rPr>
                        <a:t>Align with Regulatory Obligations</a:t>
                      </a:r>
                    </a:p>
                    <a:p>
                      <a:pPr marL="171450" lvl="0" indent="-171450" algn="l">
                        <a:buFont typeface="Arial"/>
                        <a:buChar char="•"/>
                      </a:pPr>
                      <a:r>
                        <a:rPr lang="en-US" sz="1100" u="none" strike="noStrike">
                          <a:effectLst/>
                        </a:rPr>
                        <a:t>AI Transparency &amp; User Disclosure Protocol</a:t>
                      </a:r>
                    </a:p>
                    <a:p>
                      <a:pPr marL="171450" lvl="0" indent="-171450" algn="l">
                        <a:buFont typeface="Arial"/>
                        <a:buChar char="•"/>
                      </a:pPr>
                      <a:r>
                        <a:rPr lang="en-US" sz="1100" u="none" strike="noStrike">
                          <a:effectLst/>
                        </a:rPr>
                        <a:t>Ai Training &amp; Awareness Programme</a:t>
                      </a:r>
                    </a:p>
                    <a:p>
                      <a:pPr marL="0" lvl="0" indent="0" algn="l">
                        <a:buNone/>
                      </a:pPr>
                      <a:endParaRPr lang="en-US" sz="1100" u="none" strike="noStrike">
                        <a:effectLst/>
                      </a:endParaRPr>
                    </a:p>
                    <a:p>
                      <a:pPr marL="171450" lvl="0" indent="-171450" algn="l">
                        <a:buFont typeface="Arial"/>
                        <a:buChar char="•"/>
                      </a:pPr>
                      <a:r>
                        <a:rPr lang="en-US" sz="1100" i="1" u="none" strike="noStrike">
                          <a:effectLst/>
                        </a:rPr>
                        <a:t>This project executed jointly with HelleniQ Energy</a:t>
                      </a:r>
                      <a:endParaRPr lang="en-US" i="1"/>
                    </a:p>
                  </a:txBody>
                  <a:tcPr marL="0" marR="0" marT="0" marB="0">
                    <a:lnL w="12700" cap="flat" cmpd="sng" algn="ctr">
                      <a:solidFill>
                        <a:sysClr val="window" lastClr="FFFFFF"/>
                      </a:solidFill>
                      <a:prstDash val="solid"/>
                      <a:round/>
                      <a:headEnd type="none" w="med" len="med"/>
                      <a:tailEnd type="none" w="med" len="med"/>
                    </a:lnL>
                    <a:solidFill>
                      <a:schemeClr val="accent4">
                        <a:lumMod val="20000"/>
                        <a:lumOff val="80000"/>
                      </a:schemeClr>
                    </a:solidFill>
                  </a:tcPr>
                </a:tc>
                <a:extLst>
                  <a:ext uri="{0D108BD9-81ED-4DB2-BD59-A6C34878D82A}">
                    <a16:rowId xmlns:a16="http://schemas.microsoft.com/office/drawing/2014/main" val="2561788850"/>
                  </a:ext>
                </a:extLst>
              </a:tr>
            </a:tbl>
          </a:graphicData>
        </a:graphic>
      </p:graphicFrame>
      <p:graphicFrame>
        <p:nvGraphicFramePr>
          <p:cNvPr id="16" name="Table 15">
            <a:extLst>
              <a:ext uri="{FF2B5EF4-FFF2-40B4-BE49-F238E27FC236}">
                <a16:creationId xmlns:a16="http://schemas.microsoft.com/office/drawing/2014/main" id="{A5A39959-1DFE-F28F-4C18-87C3C489E523}"/>
              </a:ext>
            </a:extLst>
          </p:cNvPr>
          <p:cNvGraphicFramePr>
            <a:graphicFrameLocks noGrp="1"/>
          </p:cNvGraphicFramePr>
          <p:nvPr>
            <p:extLst>
              <p:ext uri="{D42A27DB-BD31-4B8C-83A1-F6EECF244321}">
                <p14:modId xmlns:p14="http://schemas.microsoft.com/office/powerpoint/2010/main" val="3352665747"/>
              </p:ext>
            </p:extLst>
          </p:nvPr>
        </p:nvGraphicFramePr>
        <p:xfrm>
          <a:off x="251440" y="441143"/>
          <a:ext cx="4958665" cy="1582862"/>
        </p:xfrm>
        <a:graphic>
          <a:graphicData uri="http://schemas.openxmlformats.org/drawingml/2006/table">
            <a:tbl>
              <a:tblPr firstRow="1" bandRow="1"/>
              <a:tblGrid>
                <a:gridCol w="1253919">
                  <a:extLst>
                    <a:ext uri="{9D8B030D-6E8A-4147-A177-3AD203B41FA5}">
                      <a16:colId xmlns:a16="http://schemas.microsoft.com/office/drawing/2014/main" val="110687116"/>
                    </a:ext>
                  </a:extLst>
                </a:gridCol>
                <a:gridCol w="3704746">
                  <a:extLst>
                    <a:ext uri="{9D8B030D-6E8A-4147-A177-3AD203B41FA5}">
                      <a16:colId xmlns:a16="http://schemas.microsoft.com/office/drawing/2014/main" val="3314271387"/>
                    </a:ext>
                  </a:extLst>
                </a:gridCol>
              </a:tblGrid>
              <a:tr h="158286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n-lt"/>
                          <a:ea typeface="+mn-ea"/>
                          <a:cs typeface="+mn-cs"/>
                        </a:rPr>
                        <a:t>Project </a:t>
                      </a:r>
                      <a:r>
                        <a:rPr lang="en-US" sz="1400" b="1" i="0" u="none" strike="noStrike" kern="1200" cap="none" spc="0" normalizeH="0" baseline="0" noProof="0">
                          <a:ln>
                            <a:noFill/>
                          </a:ln>
                          <a:solidFill>
                            <a:srgbClr val="FFFFFF"/>
                          </a:solidFill>
                          <a:effectLst/>
                          <a:uLnTx/>
                          <a:uFillTx/>
                          <a:latin typeface="+mn-lt"/>
                          <a:ea typeface="+mn-ea"/>
                          <a:cs typeface="+mn-cs"/>
                        </a:rPr>
                        <a:t>Scope</a:t>
                      </a:r>
                      <a:endParaRPr kumimoji="0" lang="en-US" sz="1400" b="1" i="0" u="none" strike="noStrike" kern="1200" cap="none" spc="0" normalizeH="0" baseline="0" noProof="0">
                        <a:ln>
                          <a:noFill/>
                        </a:ln>
                        <a:solidFill>
                          <a:srgbClr val="FFFFFF"/>
                        </a:solidFill>
                        <a:effectLst/>
                        <a:uLnTx/>
                        <a:uFillTx/>
                        <a:latin typeface="+mn-lt"/>
                        <a:ea typeface="+mn-ea"/>
                        <a:cs typeface="+mn-cs"/>
                      </a:endParaRPr>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lvl="0" indent="0" algn="just">
                        <a:buNone/>
                      </a:pPr>
                      <a:r>
                        <a:rPr lang="en-US" sz="1050" b="0" i="0" u="none" strike="noStrike" kern="1200" noProof="0">
                          <a:solidFill>
                            <a:schemeClr val="dk1"/>
                          </a:solidFill>
                          <a:effectLst/>
                          <a:latin typeface="Arial"/>
                        </a:rPr>
                        <a:t>The project aims to evaluate the effectiveness of the AI compliance framework, focusing on the identification and classification of AI systems, risk assessment processes, and the implementation of control mechanisms. It will assess the governance structure, ensuring roles and responsibilities are clearly defined, while also reviewing communication, transparency, and compliance monitoring systems to ensure ongoing adherence to regulatory requirements. </a:t>
                      </a:r>
                      <a:endParaRPr lang="en-US" sz="1050"/>
                    </a:p>
                  </a:txBody>
                  <a:tcPr marL="84406" marR="84406"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995497024"/>
                  </a:ext>
                </a:extLst>
              </a:tr>
            </a:tbl>
          </a:graphicData>
        </a:graphic>
      </p:graphicFrame>
      <p:sp>
        <p:nvSpPr>
          <p:cNvPr id="3" name="Oval 2">
            <a:extLst>
              <a:ext uri="{FF2B5EF4-FFF2-40B4-BE49-F238E27FC236}">
                <a16:creationId xmlns:a16="http://schemas.microsoft.com/office/drawing/2014/main" id="{1B92B533-87B0-523F-ED02-D77602513447}"/>
              </a:ext>
            </a:extLst>
          </p:cNvPr>
          <p:cNvSpPr>
            <a:spLocks noChangeAspect="1"/>
          </p:cNvSpPr>
          <p:nvPr/>
        </p:nvSpPr>
        <p:spPr>
          <a:xfrm>
            <a:off x="7658044" y="1042303"/>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2E376FEE-99FA-1E34-277B-B3589730D262}"/>
              </a:ext>
            </a:extLst>
          </p:cNvPr>
          <p:cNvSpPr>
            <a:spLocks noChangeAspect="1"/>
          </p:cNvSpPr>
          <p:nvPr/>
        </p:nvSpPr>
        <p:spPr>
          <a:xfrm>
            <a:off x="10964907" y="103611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0AF191AE-F351-77C2-AA40-09A8BD2DCF78}"/>
              </a:ext>
            </a:extLst>
          </p:cNvPr>
          <p:cNvSpPr>
            <a:spLocks noChangeAspect="1"/>
          </p:cNvSpPr>
          <p:nvPr/>
        </p:nvSpPr>
        <p:spPr>
          <a:xfrm>
            <a:off x="9343106" y="1045688"/>
            <a:ext cx="214067" cy="205211"/>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48F46465-28E1-559D-B926-B4222A8561F4}"/>
              </a:ext>
            </a:extLst>
          </p:cNvPr>
          <p:cNvSpPr>
            <a:spLocks noChangeAspect="1"/>
          </p:cNvSpPr>
          <p:nvPr/>
        </p:nvSpPr>
        <p:spPr>
          <a:xfrm>
            <a:off x="6004612" y="1050222"/>
            <a:ext cx="214068" cy="20521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25" name="Table 24">
            <a:extLst>
              <a:ext uri="{FF2B5EF4-FFF2-40B4-BE49-F238E27FC236}">
                <a16:creationId xmlns:a16="http://schemas.microsoft.com/office/drawing/2014/main" id="{3B279946-44CC-84B7-06D1-945507E84841}"/>
              </a:ext>
            </a:extLst>
          </p:cNvPr>
          <p:cNvGraphicFramePr>
            <a:graphicFrameLocks noGrp="1"/>
          </p:cNvGraphicFramePr>
          <p:nvPr/>
        </p:nvGraphicFramePr>
        <p:xfrm>
          <a:off x="12191739" y="2354262"/>
          <a:ext cx="1405252" cy="343614"/>
        </p:xfrm>
        <a:graphic>
          <a:graphicData uri="http://schemas.openxmlformats.org/drawingml/2006/table">
            <a:tbl>
              <a:tblPr bandRow="1">
                <a:tableStyleId>{5C22544A-7EE6-4342-B048-85BDC9FD1C3A}</a:tableStyleId>
              </a:tblPr>
              <a:tblGrid>
                <a:gridCol w="1405252">
                  <a:extLst>
                    <a:ext uri="{9D8B030D-6E8A-4147-A177-3AD203B41FA5}">
                      <a16:colId xmlns:a16="http://schemas.microsoft.com/office/drawing/2014/main" val="1287634300"/>
                    </a:ext>
                  </a:extLst>
                </a:gridCol>
              </a:tblGrid>
              <a:tr h="343614">
                <a:tc>
                  <a:txBody>
                    <a:bodyPr/>
                    <a:lstStyle/>
                    <a:p>
                      <a:pPr algn="ctr" fontAlgn="base">
                        <a:lnSpc>
                          <a:spcPts val="1050"/>
                        </a:lnSpc>
                        <a:buNone/>
                      </a:pPr>
                      <a:r>
                        <a:rPr lang="en-US" sz="1000" strike="sngStrike">
                          <a:solidFill>
                            <a:srgbClr val="FFFFFF"/>
                          </a:solidFill>
                          <a:effectLst/>
                          <a:latin typeface="EYInterstate Light"/>
                        </a:rPr>
                        <a:t>14/3/25</a:t>
                      </a:r>
                      <a:r>
                        <a:rPr lang="en-US" sz="1000">
                          <a:solidFill>
                            <a:srgbClr val="FFFFFF"/>
                          </a:solidFill>
                          <a:effectLst/>
                          <a:latin typeface="EYInterstate Light"/>
                        </a:rPr>
                        <a:t> 2/4/25</a:t>
                      </a:r>
                      <a:endParaRPr lang="en-US">
                        <a:effectLst/>
                      </a:endParaRPr>
                    </a:p>
                  </a:txBody>
                  <a:tcPr marL="90011" marR="90011" marT="47511" marB="47511" anchor="ctr">
                    <a:lnL w="13373" cap="flat" cmpd="sng" algn="ctr">
                      <a:solidFill>
                        <a:srgbClr val="FFFFFF"/>
                      </a:solidFill>
                      <a:prstDash val="solid"/>
                      <a:round/>
                      <a:headEnd type="none" w="med" len="med"/>
                      <a:tailEnd type="none" w="med" len="med"/>
                    </a:lnL>
                    <a:lnR w="13373" cap="flat" cmpd="sng" algn="ctr">
                      <a:solidFill>
                        <a:srgbClr val="FFFFFF"/>
                      </a:solidFill>
                      <a:prstDash val="solid"/>
                      <a:round/>
                      <a:headEnd type="none" w="med" len="med"/>
                      <a:tailEnd type="none" w="med" len="med"/>
                    </a:lnR>
                    <a:lnT w="13373" cap="flat" cmpd="sng" algn="ctr">
                      <a:solidFill>
                        <a:srgbClr val="FFFFFF"/>
                      </a:solidFill>
                      <a:prstDash val="solid"/>
                      <a:round/>
                      <a:headEnd type="none" w="med" len="med"/>
                      <a:tailEnd type="none" w="med" len="med"/>
                    </a:lnT>
                    <a:lnB w="13373"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960957059"/>
                  </a:ext>
                </a:extLst>
              </a:tr>
            </a:tbl>
          </a:graphicData>
        </a:graphic>
      </p:graphicFrame>
      <p:graphicFrame>
        <p:nvGraphicFramePr>
          <p:cNvPr id="15" name="Table 14">
            <a:extLst>
              <a:ext uri="{FF2B5EF4-FFF2-40B4-BE49-F238E27FC236}">
                <a16:creationId xmlns:a16="http://schemas.microsoft.com/office/drawing/2014/main" id="{0245EEEB-0891-54E5-5A77-F293772FB8AA}"/>
              </a:ext>
            </a:extLst>
          </p:cNvPr>
          <p:cNvGraphicFramePr>
            <a:graphicFrameLocks noGrp="1"/>
          </p:cNvGraphicFramePr>
          <p:nvPr>
            <p:extLst>
              <p:ext uri="{D42A27DB-BD31-4B8C-83A1-F6EECF244321}">
                <p14:modId xmlns:p14="http://schemas.microsoft.com/office/powerpoint/2010/main" val="4035012427"/>
              </p:ext>
            </p:extLst>
          </p:nvPr>
        </p:nvGraphicFramePr>
        <p:xfrm>
          <a:off x="214085" y="5196954"/>
          <a:ext cx="11683676" cy="829686"/>
        </p:xfrm>
        <a:graphic>
          <a:graphicData uri="http://schemas.openxmlformats.org/drawingml/2006/table">
            <a:tbl>
              <a:tblPr>
                <a:tableStyleId>{5C22544A-7EE6-4342-B048-85BDC9FD1C3A}</a:tableStyleId>
              </a:tblPr>
              <a:tblGrid>
                <a:gridCol w="3633002">
                  <a:extLst>
                    <a:ext uri="{9D8B030D-6E8A-4147-A177-3AD203B41FA5}">
                      <a16:colId xmlns:a16="http://schemas.microsoft.com/office/drawing/2014/main" val="2003250863"/>
                    </a:ext>
                  </a:extLst>
                </a:gridCol>
                <a:gridCol w="889735">
                  <a:extLst>
                    <a:ext uri="{9D8B030D-6E8A-4147-A177-3AD203B41FA5}">
                      <a16:colId xmlns:a16="http://schemas.microsoft.com/office/drawing/2014/main" val="2445968811"/>
                    </a:ext>
                  </a:extLst>
                </a:gridCol>
                <a:gridCol w="7160939">
                  <a:extLst>
                    <a:ext uri="{9D8B030D-6E8A-4147-A177-3AD203B41FA5}">
                      <a16:colId xmlns:a16="http://schemas.microsoft.com/office/drawing/2014/main" val="187998877"/>
                    </a:ext>
                  </a:extLst>
                </a:gridCol>
              </a:tblGrid>
              <a:tr h="43814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Risk</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Risk Assessment</a:t>
                      </a:r>
                    </a:p>
                  </a:txBody>
                  <a:tcPr marL="0" marR="0" marT="0" marB="0" anchor="c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kern="1200">
                          <a:solidFill>
                            <a:schemeClr val="bg1"/>
                          </a:solidFill>
                          <a:effectLst/>
                          <a:latin typeface="+mn-lt"/>
                          <a:ea typeface="+mn-ea"/>
                          <a:cs typeface="+mn-cs"/>
                        </a:rPr>
                        <a:t>Control</a:t>
                      </a:r>
                    </a:p>
                  </a:txBody>
                  <a:tcPr marL="0" marR="0" marT="0" marB="0" anchor="ctr">
                    <a:solidFill>
                      <a:schemeClr val="accent1"/>
                    </a:solidFill>
                  </a:tcPr>
                </a:tc>
                <a:extLst>
                  <a:ext uri="{0D108BD9-81ED-4DB2-BD59-A6C34878D82A}">
                    <a16:rowId xmlns:a16="http://schemas.microsoft.com/office/drawing/2014/main" val="2763828571"/>
                  </a:ext>
                </a:extLst>
              </a:tr>
              <a:tr h="391537">
                <a:tc>
                  <a:txBody>
                    <a:bodyPr/>
                    <a:lstStyle/>
                    <a:p>
                      <a:pPr marL="0" lvl="0" indent="0">
                        <a:buNone/>
                      </a:pPr>
                      <a:r>
                        <a:rPr lang="en-US" sz="1100">
                          <a:effectLst/>
                        </a:rPr>
                        <a:t>Multiple stakeholder entities can lead to delays </a:t>
                      </a:r>
                    </a:p>
                  </a:txBody>
                  <a:tcPr marL="38100" marR="38100" marT="38100" marB="38100" anchor="ctr">
                    <a:solidFill>
                      <a:schemeClr val="accent4">
                        <a:lumMod val="20000"/>
                        <a:lumOff val="80000"/>
                      </a:schemeClr>
                    </a:solidFill>
                  </a:tcPr>
                </a:tc>
                <a:tc>
                  <a:txBody>
                    <a:bodyPr/>
                    <a:lstStyle/>
                    <a:p>
                      <a:pPr algn="ctr"/>
                      <a:r>
                        <a:rPr lang="en-US" sz="1100" b="1">
                          <a:solidFill>
                            <a:schemeClr val="bg1"/>
                          </a:solidFill>
                          <a:effectLst/>
                        </a:rPr>
                        <a:t>L</a:t>
                      </a:r>
                    </a:p>
                  </a:txBody>
                  <a:tcPr marL="38100" marR="38100" marT="38100" marB="38100" anchor="ctr">
                    <a:solidFill>
                      <a:srgbClr val="00B050"/>
                    </a:solidFill>
                  </a:tcPr>
                </a:tc>
                <a:tc>
                  <a:txBody>
                    <a:bodyPr/>
                    <a:lstStyle/>
                    <a:p>
                      <a:pPr lvl="0">
                        <a:buNone/>
                      </a:pPr>
                      <a:r>
                        <a:rPr lang="en-US" sz="1100">
                          <a:effectLst/>
                        </a:rPr>
                        <a:t>Clear communication management plan and responsibilities distribution in place to mitigate this risk</a:t>
                      </a:r>
                    </a:p>
                  </a:txBody>
                  <a:tcPr marL="38100" marR="38100" marT="38100" marB="38100" anchor="ctr">
                    <a:solidFill>
                      <a:schemeClr val="accent4">
                        <a:lumMod val="20000"/>
                        <a:lumOff val="80000"/>
                      </a:schemeClr>
                    </a:solidFill>
                  </a:tcPr>
                </a:tc>
                <a:extLst>
                  <a:ext uri="{0D108BD9-81ED-4DB2-BD59-A6C34878D82A}">
                    <a16:rowId xmlns:a16="http://schemas.microsoft.com/office/drawing/2014/main" val="2561788850"/>
                  </a:ext>
                </a:extLst>
              </a:tr>
            </a:tbl>
          </a:graphicData>
        </a:graphic>
      </p:graphicFrame>
    </p:spTree>
    <p:extLst>
      <p:ext uri="{BB962C8B-B14F-4D97-AF65-F5344CB8AC3E}">
        <p14:creationId xmlns:p14="http://schemas.microsoft.com/office/powerpoint/2010/main" val="63524298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1">
      <a:dk1>
        <a:srgbClr val="2E5684"/>
      </a:dk1>
      <a:lt1>
        <a:sysClr val="window" lastClr="FFFFFF"/>
      </a:lt1>
      <a:dk2>
        <a:srgbClr val="2E5684"/>
      </a:dk2>
      <a:lt2>
        <a:srgbClr val="E4E4E4"/>
      </a:lt2>
      <a:accent1>
        <a:srgbClr val="005596"/>
      </a:accent1>
      <a:accent2>
        <a:srgbClr val="96C03A"/>
      </a:accent2>
      <a:accent3>
        <a:srgbClr val="00B1EB"/>
      </a:accent3>
      <a:accent4>
        <a:srgbClr val="BCBDBE"/>
      </a:accent4>
      <a:accent5>
        <a:srgbClr val="BBD77B"/>
      </a:accent5>
      <a:accent6>
        <a:srgbClr val="B7E0FF"/>
      </a:accent6>
      <a:hlink>
        <a:srgbClr val="00B1EB"/>
      </a:hlink>
      <a:folHlink>
        <a:srgbClr val="00B1E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3999761-211B-4C43-8542-84AED4C72F01}">
  <we:reference id="WA200005566" version="3.0.0.3" store="Omex"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E5F5F31609E6B449EDD60BE0E3D5F8F" ma:contentTypeVersion="14" ma:contentTypeDescription="Create a new document." ma:contentTypeScope="" ma:versionID="4e096761e05edc2a7af17aa094f904a6">
  <xsd:schema xmlns:xsd="http://www.w3.org/2001/XMLSchema" xmlns:xs="http://www.w3.org/2001/XMLSchema" xmlns:p="http://schemas.microsoft.com/office/2006/metadata/properties" xmlns:ns2="9efee4ba-67a2-4c6c-ae04-2ef15e45b2ed" xmlns:ns3="8ec201ce-bc8b-408f-9fa0-9bf457e8d9d5" targetNamespace="http://schemas.microsoft.com/office/2006/metadata/properties" ma:root="true" ma:fieldsID="d1c0cb86aaa5691197c350c71cadac46" ns2:_="" ns3:_="">
    <xsd:import namespace="9efee4ba-67a2-4c6c-ae04-2ef15e45b2ed"/>
    <xsd:import namespace="8ec201ce-bc8b-408f-9fa0-9bf457e8d9d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DateTime" minOccurs="0"/>
                <xsd:element ref="ns2:Labe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fee4ba-67a2-4c6c-ae04-2ef15e45b2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a309be6c-d22e-4390-8715-21e824c6048a"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DateTime" ma:index="20" nillable="true" ma:displayName="Date &amp; Time" ma:format="DateTime" ma:internalName="DateTime">
      <xsd:simpleType>
        <xsd:restriction base="dms:DateTime"/>
      </xsd:simpleType>
    </xsd:element>
    <xsd:element name="Labels" ma:index="21" nillable="true" ma:displayName="Labels" ma:format="Dropdown" ma:internalName="Labels">
      <xsd:simpleType>
        <xsd:union memberTypes="dms:Text">
          <xsd:simpleType>
            <xsd:restriction base="dms:Choice">
              <xsd:enumeration value="Workshop"/>
              <xsd:enumeration value="Project Status"/>
              <xsd:enumeration value="Quarterly Report"/>
              <xsd:enumeration value="Kick off"/>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8ec201ce-bc8b-408f-9fa0-9bf457e8d9d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83a5a42-ad1d-4545-a86e-d0902bfde98b}" ma:internalName="TaxCatchAll" ma:showField="CatchAllData" ma:web="8ec201ce-bc8b-408f-9fa0-9bf457e8d9d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efee4ba-67a2-4c6c-ae04-2ef15e45b2ed">
      <Terms xmlns="http://schemas.microsoft.com/office/infopath/2007/PartnerControls"/>
    </lcf76f155ced4ddcb4097134ff3c332f>
    <TaxCatchAll xmlns="8ec201ce-bc8b-408f-9fa0-9bf457e8d9d5" xsi:nil="true"/>
    <DateTime xmlns="9efee4ba-67a2-4c6c-ae04-2ef15e45b2ed" xsi:nil="true"/>
    <Labels xmlns="9efee4ba-67a2-4c6c-ae04-2ef15e45b2e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62D44D7-885C-4F8B-B2FD-07F08CB67CDD}">
  <ds:schemaRefs>
    <ds:schemaRef ds:uri="8ec201ce-bc8b-408f-9fa0-9bf457e8d9d5"/>
    <ds:schemaRef ds:uri="9efee4ba-67a2-4c6c-ae04-2ef15e45b2e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C324F07-0B79-4D27-962A-D8FB999EB162}">
  <ds:schemaRefs>
    <ds:schemaRef ds:uri="8ec201ce-bc8b-408f-9fa0-9bf457e8d9d5"/>
    <ds:schemaRef ds:uri="9efee4ba-67a2-4c6c-ae04-2ef15e45b2e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0464C03-530E-4307-A68F-87769552D30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3626</Words>
  <Application>Microsoft Office PowerPoint</Application>
  <PresentationFormat>Widescreen</PresentationFormat>
  <Paragraphs>732</Paragraphs>
  <Slides>10</Slides>
  <Notes>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vt:i4>
      </vt:variant>
    </vt:vector>
  </HeadingPairs>
  <TitlesOfParts>
    <vt:vector size="20" baseType="lpstr">
      <vt:lpstr>Aptos</vt:lpstr>
      <vt:lpstr>Arial</vt:lpstr>
      <vt:lpstr>Arial,Sans-Serif</vt:lpstr>
      <vt:lpstr>Calibri</vt:lpstr>
      <vt:lpstr>Calibri Light</vt:lpstr>
      <vt:lpstr>Calibri Light (Body)</vt:lpstr>
      <vt:lpstr>EYInterstate Light</vt:lpstr>
      <vt:lpstr>Wingdings</vt:lpstr>
      <vt:lpstr>Custom Design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Spandonidis Antonis</cp:lastModifiedBy>
  <cp:revision>8</cp:revision>
  <dcterms:created xsi:type="dcterms:W3CDTF">2016-09-04T11:54:55Z</dcterms:created>
  <dcterms:modified xsi:type="dcterms:W3CDTF">2025-11-16T18:34:13Z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0x0101007E5F5F31609E6B449EDD60BE0E3D5F8F</vt:lpwstr>
  </property>
  <property fmtid="{D5CDD505-2E9C-101B-9397-08002B2CF9AE}" pid="3" name="MediaServiceImageTags">
    <vt:lpwstr/>
  </property>
</Properties>
</file>